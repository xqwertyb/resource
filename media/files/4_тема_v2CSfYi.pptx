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440" r:id="rId3"/>
    <p:sldId id="507" r:id="rId4"/>
    <p:sldId id="508" r:id="rId5"/>
    <p:sldId id="527" r:id="rId6"/>
    <p:sldId id="545" r:id="rId7"/>
    <p:sldId id="546" r:id="rId8"/>
    <p:sldId id="547" r:id="rId9"/>
    <p:sldId id="548" r:id="rId10"/>
    <p:sldId id="528" r:id="rId11"/>
    <p:sldId id="529" r:id="rId12"/>
    <p:sldId id="549" r:id="rId13"/>
    <p:sldId id="550" r:id="rId14"/>
    <p:sldId id="551" r:id="rId15"/>
    <p:sldId id="552" r:id="rId16"/>
    <p:sldId id="553" r:id="rId17"/>
    <p:sldId id="554" r:id="rId18"/>
    <p:sldId id="531" r:id="rId19"/>
    <p:sldId id="532" r:id="rId21"/>
    <p:sldId id="533" r:id="rId22"/>
    <p:sldId id="555" r:id="rId23"/>
    <p:sldId id="535" r:id="rId24"/>
    <p:sldId id="557" r:id="rId25"/>
    <p:sldId id="536" r:id="rId26"/>
    <p:sldId id="558" r:id="rId27"/>
    <p:sldId id="556" r:id="rId28"/>
    <p:sldId id="559" r:id="rId29"/>
    <p:sldId id="538" r:id="rId30"/>
    <p:sldId id="539" r:id="rId31"/>
    <p:sldId id="561" r:id="rId32"/>
    <p:sldId id="540" r:id="rId33"/>
    <p:sldId id="568" r:id="rId34"/>
    <p:sldId id="569" r:id="rId35"/>
    <p:sldId id="567" r:id="rId36"/>
    <p:sldId id="544" r:id="rId37"/>
    <p:sldId id="566" r:id="rId38"/>
    <p:sldId id="570" r:id="rId39"/>
    <p:sldId id="459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14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7" y="154"/>
      </p:cViewPr>
      <p:guideLst>
        <p:guide orient="horz" pos="2103"/>
        <p:guide pos="3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7C3BE6-4917-4319-A095-A0CD60BBD0A1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 phldr="1"/>
      <dgm:spPr/>
    </dgm:pt>
    <dgm:pt modelId="{0BD1CE4A-0F05-4532-B4E3-F29FC5BB05A1}">
      <dgm:prSet phldrT="[Текст]" custT="1"/>
      <dgm:spPr>
        <a:solidFill>
          <a:srgbClr val="0070C0"/>
        </a:solidFill>
      </dgm:spPr>
      <dgm:t>
        <a:bodyPr/>
        <a:lstStyle/>
        <a:p>
          <a:r>
            <a:rPr lang="ru-RU" sz="2400" b="1" dirty="0">
              <a:latin typeface="Arial" panose="020B0604020202020204" pitchFamily="34" charset="0"/>
              <a:cs typeface="Arial" panose="020B0604020202020204" pitchFamily="34" charset="0"/>
            </a:rPr>
            <a:t>общественное разделение труда</a:t>
          </a:r>
          <a:endParaRPr lang="ru-RU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DA3F1A-C222-4F1E-9086-E2F7191E3722}" cxnId="{CD9CC866-5A8F-4A5D-A186-13BE62B740E4}" type="par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E941DC-431F-45D2-9EC7-662CB9A159DA}" cxnId="{CD9CC866-5A8F-4A5D-A186-13BE62B740E4}" type="sib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546EFE8-5187-4B75-8C7B-D53E90BDD551}">
      <dgm:prSet phldrT="[Текст]" custT="1"/>
      <dgm:spPr>
        <a:solidFill>
          <a:srgbClr val="FF0066"/>
        </a:solidFill>
      </dgm:spPr>
      <dgm:t>
        <a:bodyPr/>
        <a:lstStyle/>
        <a:p>
          <a:r>
            <a:rPr lang="ru-RU" sz="2200" b="1" dirty="0">
              <a:latin typeface="Arial" panose="020B0604020202020204" pitchFamily="34" charset="0"/>
              <a:cs typeface="Arial" panose="020B0604020202020204" pitchFamily="34" charset="0"/>
            </a:rPr>
            <a:t>хозяйственное обособление людей для изготовления какого-то продукта</a:t>
          </a:r>
          <a:r>
            <a:rPr lang="ru-RU" sz="2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8BAFF567-80CD-4987-B67A-10BEE1B0BECB}" cxnId="{E69FECCA-582E-48DE-8B82-A1F37417E9B9}" type="par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A4F9A4-981A-468D-9AA3-61CEB06DDACD}" cxnId="{E69FECCA-582E-48DE-8B82-A1F37417E9B9}" type="sib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8F3F0CD-9A72-475F-AB04-417DF98E282D}">
      <dgm:prSet phldrT="[Текст]" custT="1"/>
      <dgm:spPr>
        <a:solidFill>
          <a:srgbClr val="00A249"/>
        </a:solidFill>
      </dgm:spPr>
      <dgm:t>
        <a:bodyPr/>
        <a:lstStyle/>
        <a:p>
          <a:r>
            <a:rPr lang="ru-RU" sz="2200" b="1" dirty="0">
              <a:latin typeface="Arial" panose="020B0604020202020204" pitchFamily="34" charset="0"/>
              <a:cs typeface="Arial" panose="020B0604020202020204" pitchFamily="34" charset="0"/>
            </a:rPr>
            <a:t>экономия времени выступает движущей силой развития товарного хозяйства</a:t>
          </a:r>
          <a:endParaRPr lang="ru-RU" sz="2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8A64EF-6792-46B2-B9E6-804A3E23AE88}" cxnId="{029ED6B5-6DDA-430E-B449-817359DF3961}" type="par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074A5D-3FB6-43C3-B04B-39693A7B7A3B}" cxnId="{029ED6B5-6DDA-430E-B449-817359DF3961}" type="sibTrans">
      <dgm:prSet/>
      <dgm:spPr/>
      <dgm:t>
        <a:bodyPr/>
        <a:lstStyle/>
        <a:p>
          <a:endParaRPr lang="ru-RU" sz="2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C4EA08-4026-49CE-BA73-2397A7A6D478}" type="pres">
      <dgm:prSet presAssocID="{3A7C3BE6-4917-4319-A095-A0CD60BBD0A1}" presName="linearFlow" presStyleCnt="0">
        <dgm:presLayoutVars>
          <dgm:dir/>
          <dgm:resizeHandles val="exact"/>
        </dgm:presLayoutVars>
      </dgm:prSet>
      <dgm:spPr/>
    </dgm:pt>
    <dgm:pt modelId="{9A7CBDA9-F79C-4F4E-94B9-4C52A058BDAF}" type="pres">
      <dgm:prSet presAssocID="{0BD1CE4A-0F05-4532-B4E3-F29FC5BB05A1}" presName="composite" presStyleCnt="0"/>
      <dgm:spPr/>
    </dgm:pt>
    <dgm:pt modelId="{6F46BD60-A187-4531-9A53-D73FD3EECF1E}" type="pres">
      <dgm:prSet presAssocID="{0BD1CE4A-0F05-4532-B4E3-F29FC5BB05A1}" presName="imgShp" presStyleLbl="fgImgPlace1" presStyleIdx="0" presStyleCnt="3" custLinFactNeighborX="-3543" custLinFactNeighborY="-1348"/>
      <dgm:spPr>
        <a:solidFill>
          <a:schemeClr val="accent1">
            <a:lumMod val="40000"/>
            <a:lumOff val="60000"/>
          </a:schemeClr>
        </a:solidFill>
      </dgm:spPr>
    </dgm:pt>
    <dgm:pt modelId="{DBB283A8-E809-459F-A265-F9D8E00F23A6}" type="pres">
      <dgm:prSet presAssocID="{0BD1CE4A-0F05-4532-B4E3-F29FC5BB05A1}" presName="txShp" presStyleLbl="node1" presStyleIdx="0" presStyleCnt="3" custScaleX="106599">
        <dgm:presLayoutVars>
          <dgm:bulletEnabled val="1"/>
        </dgm:presLayoutVars>
      </dgm:prSet>
      <dgm:spPr/>
    </dgm:pt>
    <dgm:pt modelId="{1FA66102-6C19-4099-AC51-26733BF0D181}" type="pres">
      <dgm:prSet presAssocID="{B5E941DC-431F-45D2-9EC7-662CB9A159DA}" presName="spacing" presStyleCnt="0"/>
      <dgm:spPr/>
    </dgm:pt>
    <dgm:pt modelId="{E5034F24-12E1-425E-B1AF-2E28C0022FAA}" type="pres">
      <dgm:prSet presAssocID="{4546EFE8-5187-4B75-8C7B-D53E90BDD551}" presName="composite" presStyleCnt="0"/>
      <dgm:spPr/>
    </dgm:pt>
    <dgm:pt modelId="{56EEA42B-222A-4C0E-B0D2-E24209A31078}" type="pres">
      <dgm:prSet presAssocID="{4546EFE8-5187-4B75-8C7B-D53E90BDD551}" presName="imgShp" presStyleLbl="fgImgPlace1" presStyleIdx="1" presStyleCnt="3" custLinFactNeighborX="-3150" custLinFactNeighborY="1946"/>
      <dgm:spPr>
        <a:solidFill>
          <a:schemeClr val="accent1">
            <a:lumMod val="40000"/>
            <a:lumOff val="60000"/>
          </a:schemeClr>
        </a:solidFill>
      </dgm:spPr>
    </dgm:pt>
    <dgm:pt modelId="{DE601A6E-EBC3-43A6-9C24-9698C589FCB5}" type="pres">
      <dgm:prSet presAssocID="{4546EFE8-5187-4B75-8C7B-D53E90BDD551}" presName="txShp" presStyleLbl="node1" presStyleIdx="1" presStyleCnt="3" custScaleX="103160">
        <dgm:presLayoutVars>
          <dgm:bulletEnabled val="1"/>
        </dgm:presLayoutVars>
      </dgm:prSet>
      <dgm:spPr/>
    </dgm:pt>
    <dgm:pt modelId="{83B4A81E-CDF0-4CC4-8701-C3EBE43B19AA}" type="pres">
      <dgm:prSet presAssocID="{4FA4F9A4-981A-468D-9AA3-61CEB06DDACD}" presName="spacing" presStyleCnt="0"/>
      <dgm:spPr/>
    </dgm:pt>
    <dgm:pt modelId="{789816CC-AF39-4BA9-90CC-727D01019A64}" type="pres">
      <dgm:prSet presAssocID="{F8F3F0CD-9A72-475F-AB04-417DF98E282D}" presName="composite" presStyleCnt="0"/>
      <dgm:spPr/>
    </dgm:pt>
    <dgm:pt modelId="{74C5937A-7FEC-473B-91C7-0911AC21EEC9}" type="pres">
      <dgm:prSet presAssocID="{F8F3F0CD-9A72-475F-AB04-417DF98E282D}" presName="imgShp" presStyleLbl="fgImgPlace1" presStyleIdx="2" presStyleCnt="3"/>
      <dgm:spPr>
        <a:solidFill>
          <a:schemeClr val="accent1">
            <a:lumMod val="40000"/>
            <a:lumOff val="60000"/>
          </a:schemeClr>
        </a:solidFill>
      </dgm:spPr>
    </dgm:pt>
    <dgm:pt modelId="{A1ABC25F-8459-47C6-8E7A-25F7E5EB90B9}" type="pres">
      <dgm:prSet presAssocID="{F8F3F0CD-9A72-475F-AB04-417DF98E282D}" presName="txShp" presStyleLbl="node1" presStyleIdx="2" presStyleCnt="3" custScaleX="101948">
        <dgm:presLayoutVars>
          <dgm:bulletEnabled val="1"/>
        </dgm:presLayoutVars>
      </dgm:prSet>
      <dgm:spPr/>
    </dgm:pt>
  </dgm:ptLst>
  <dgm:cxnLst>
    <dgm:cxn modelId="{B5C6470B-4BE6-4E12-9A3E-0A8EAF1F61CD}" type="presOf" srcId="{F8F3F0CD-9A72-475F-AB04-417DF98E282D}" destId="{A1ABC25F-8459-47C6-8E7A-25F7E5EB90B9}" srcOrd="0" destOrd="0" presId="urn:microsoft.com/office/officeart/2005/8/layout/vList3#1"/>
    <dgm:cxn modelId="{37218C34-7CDB-4687-A159-E9356792AE42}" type="presOf" srcId="{0BD1CE4A-0F05-4532-B4E3-F29FC5BB05A1}" destId="{DBB283A8-E809-459F-A265-F9D8E00F23A6}" srcOrd="0" destOrd="0" presId="urn:microsoft.com/office/officeart/2005/8/layout/vList3#1"/>
    <dgm:cxn modelId="{05F6775E-6748-4EA1-9A23-C21263397596}" type="presOf" srcId="{3A7C3BE6-4917-4319-A095-A0CD60BBD0A1}" destId="{E8C4EA08-4026-49CE-BA73-2397A7A6D478}" srcOrd="0" destOrd="0" presId="urn:microsoft.com/office/officeart/2005/8/layout/vList3#1"/>
    <dgm:cxn modelId="{CD9CC866-5A8F-4A5D-A186-13BE62B740E4}" srcId="{3A7C3BE6-4917-4319-A095-A0CD60BBD0A1}" destId="{0BD1CE4A-0F05-4532-B4E3-F29FC5BB05A1}" srcOrd="0" destOrd="0" parTransId="{01DA3F1A-C222-4F1E-9086-E2F7191E3722}" sibTransId="{B5E941DC-431F-45D2-9EC7-662CB9A159DA}"/>
    <dgm:cxn modelId="{029ED6B5-6DDA-430E-B449-817359DF3961}" srcId="{3A7C3BE6-4917-4319-A095-A0CD60BBD0A1}" destId="{F8F3F0CD-9A72-475F-AB04-417DF98E282D}" srcOrd="2" destOrd="0" parTransId="{6E8A64EF-6792-46B2-B9E6-804A3E23AE88}" sibTransId="{DD074A5D-3FB6-43C3-B04B-39693A7B7A3B}"/>
    <dgm:cxn modelId="{E69FECCA-582E-48DE-8B82-A1F37417E9B9}" srcId="{3A7C3BE6-4917-4319-A095-A0CD60BBD0A1}" destId="{4546EFE8-5187-4B75-8C7B-D53E90BDD551}" srcOrd="1" destOrd="0" parTransId="{8BAFF567-80CD-4987-B67A-10BEE1B0BECB}" sibTransId="{4FA4F9A4-981A-468D-9AA3-61CEB06DDACD}"/>
    <dgm:cxn modelId="{433297D7-851D-4555-8D3D-3FF576F47DD2}" type="presOf" srcId="{4546EFE8-5187-4B75-8C7B-D53E90BDD551}" destId="{DE601A6E-EBC3-43A6-9C24-9698C589FCB5}" srcOrd="0" destOrd="0" presId="urn:microsoft.com/office/officeart/2005/8/layout/vList3#1"/>
    <dgm:cxn modelId="{93DB206B-D115-4748-A1F8-15AB18FF587B}" type="presParOf" srcId="{E8C4EA08-4026-49CE-BA73-2397A7A6D478}" destId="{9A7CBDA9-F79C-4F4E-94B9-4C52A058BDAF}" srcOrd="0" destOrd="0" presId="urn:microsoft.com/office/officeart/2005/8/layout/vList3#1"/>
    <dgm:cxn modelId="{0D8DBAA3-C524-438C-8DAF-EAB145D5C5F7}" type="presParOf" srcId="{9A7CBDA9-F79C-4F4E-94B9-4C52A058BDAF}" destId="{6F46BD60-A187-4531-9A53-D73FD3EECF1E}" srcOrd="0" destOrd="0" presId="urn:microsoft.com/office/officeart/2005/8/layout/vList3#1"/>
    <dgm:cxn modelId="{7C4F7068-CC44-4CEC-9BEF-8E1FC6860F3E}" type="presParOf" srcId="{9A7CBDA9-F79C-4F4E-94B9-4C52A058BDAF}" destId="{DBB283A8-E809-459F-A265-F9D8E00F23A6}" srcOrd="1" destOrd="0" presId="urn:microsoft.com/office/officeart/2005/8/layout/vList3#1"/>
    <dgm:cxn modelId="{10F21F49-ADAF-41BD-A7BC-CC26247205F7}" type="presParOf" srcId="{E8C4EA08-4026-49CE-BA73-2397A7A6D478}" destId="{1FA66102-6C19-4099-AC51-26733BF0D181}" srcOrd="1" destOrd="0" presId="urn:microsoft.com/office/officeart/2005/8/layout/vList3#1"/>
    <dgm:cxn modelId="{C81C5271-9B36-4F2F-8AD2-7EA553D616C5}" type="presParOf" srcId="{E8C4EA08-4026-49CE-BA73-2397A7A6D478}" destId="{E5034F24-12E1-425E-B1AF-2E28C0022FAA}" srcOrd="2" destOrd="0" presId="urn:microsoft.com/office/officeart/2005/8/layout/vList3#1"/>
    <dgm:cxn modelId="{52E8857C-4FF7-4680-94F7-9CF10EAB50FA}" type="presParOf" srcId="{E5034F24-12E1-425E-B1AF-2E28C0022FAA}" destId="{56EEA42B-222A-4C0E-B0D2-E24209A31078}" srcOrd="0" destOrd="0" presId="urn:microsoft.com/office/officeart/2005/8/layout/vList3#1"/>
    <dgm:cxn modelId="{A07F299F-094F-40F2-B624-A2F4C19ED392}" type="presParOf" srcId="{E5034F24-12E1-425E-B1AF-2E28C0022FAA}" destId="{DE601A6E-EBC3-43A6-9C24-9698C589FCB5}" srcOrd="1" destOrd="0" presId="urn:microsoft.com/office/officeart/2005/8/layout/vList3#1"/>
    <dgm:cxn modelId="{D92BE025-7A2F-423F-8DCC-16CC590B1BAB}" type="presParOf" srcId="{E8C4EA08-4026-49CE-BA73-2397A7A6D478}" destId="{83B4A81E-CDF0-4CC4-8701-C3EBE43B19AA}" srcOrd="3" destOrd="0" presId="urn:microsoft.com/office/officeart/2005/8/layout/vList3#1"/>
    <dgm:cxn modelId="{EF88E19F-0EE8-407F-AD32-6BA21995FFD1}" type="presParOf" srcId="{E8C4EA08-4026-49CE-BA73-2397A7A6D478}" destId="{789816CC-AF39-4BA9-90CC-727D01019A64}" srcOrd="4" destOrd="0" presId="urn:microsoft.com/office/officeart/2005/8/layout/vList3#1"/>
    <dgm:cxn modelId="{BAB326F1-D186-447D-AE8A-279D4FD9868B}" type="presParOf" srcId="{789816CC-AF39-4BA9-90CC-727D01019A64}" destId="{74C5937A-7FEC-473B-91C7-0911AC21EEC9}" srcOrd="0" destOrd="0" presId="urn:microsoft.com/office/officeart/2005/8/layout/vList3#1"/>
    <dgm:cxn modelId="{AD064926-5B90-4023-9A70-E0B009F3B706}" type="presParOf" srcId="{789816CC-AF39-4BA9-90CC-727D01019A64}" destId="{A1ABC25F-8459-47C6-8E7A-25F7E5EB90B9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6260E0-A1A1-45A5-AE7B-DBB65CF00B78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ru-RU"/>
        </a:p>
      </dgm:t>
    </dgm:pt>
    <dgm:pt modelId="{4A419A0F-111F-45FD-B2F5-50E51A1C8007}">
      <dgm:prSet phldrT="[Текст]"/>
      <dgm:spPr/>
      <dgm:t>
        <a:bodyPr/>
        <a:lstStyle/>
        <a:p>
          <a:r>
            <a: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Потребительная стоимость</a:t>
          </a:r>
        </a:p>
      </dgm:t>
    </dgm:pt>
    <dgm:pt modelId="{244BF3D9-F0B9-4A8B-B598-808EC74CDF10}" cxnId="{D9ECC0A6-0D21-431A-9977-0826149436D9}" type="parTrans">
      <dgm:prSet/>
      <dgm:spPr/>
      <dgm:t>
        <a:bodyPr/>
        <a:lstStyle/>
        <a:p>
          <a:endParaRPr lang="ru-RU"/>
        </a:p>
      </dgm:t>
    </dgm:pt>
    <dgm:pt modelId="{E550A2F6-0F98-4158-A21C-BC735DF293C1}" cxnId="{D9ECC0A6-0D21-431A-9977-0826149436D9}" type="sibTrans">
      <dgm:prSet/>
      <dgm:spPr/>
      <dgm:t>
        <a:bodyPr/>
        <a:lstStyle/>
        <a:p>
          <a:endParaRPr lang="ru-RU"/>
        </a:p>
      </dgm:t>
    </dgm:pt>
    <dgm:pt modelId="{B340F8BE-0BC4-48C9-BB11-BA3F948FE093}">
      <dgm:prSet phldrT="[Текст]" custT="1"/>
      <dgm:spPr/>
      <dgm:t>
        <a:bodyPr/>
        <a:lstStyle/>
        <a:p>
          <a:r>
            <a:rPr lang="ru-RU" sz="2400" dirty="0"/>
            <a:t>Способность удовлетворять потребности </a:t>
          </a:r>
          <a:br>
            <a:rPr lang="ru-RU" sz="2400" dirty="0"/>
          </a:br>
          <a:r>
            <a:rPr lang="ru-RU" sz="2000" dirty="0"/>
            <a:t>зависит от </a:t>
          </a:r>
          <a:br>
            <a:rPr lang="ru-RU" sz="2000" dirty="0"/>
          </a:br>
          <a:r>
            <a:rPr lang="ru-RU" sz="2200" i="1" dirty="0"/>
            <a:t>формы потребительной стоимости</a:t>
          </a:r>
          <a:r>
            <a:rPr lang="ru-RU" sz="2400" dirty="0"/>
            <a:t>  </a:t>
          </a:r>
          <a:endParaRPr lang="ru-RU" sz="2000" dirty="0"/>
        </a:p>
      </dgm:t>
    </dgm:pt>
    <dgm:pt modelId="{816334BE-E522-4190-BD0D-C153095EA35D}" cxnId="{829EA712-32E8-413D-AFA5-55F3A4412D36}" type="parTrans">
      <dgm:prSet/>
      <dgm:spPr/>
      <dgm:t>
        <a:bodyPr/>
        <a:lstStyle/>
        <a:p>
          <a:endParaRPr lang="ru-RU"/>
        </a:p>
      </dgm:t>
    </dgm:pt>
    <dgm:pt modelId="{88633781-D411-4A92-92AD-B4C0C3E61E73}" cxnId="{829EA712-32E8-413D-AFA5-55F3A4412D36}" type="sibTrans">
      <dgm:prSet/>
      <dgm:spPr/>
      <dgm:t>
        <a:bodyPr/>
        <a:lstStyle/>
        <a:p>
          <a:endParaRPr lang="ru-RU"/>
        </a:p>
      </dgm:t>
    </dgm:pt>
    <dgm:pt modelId="{80222532-44AF-4E50-9F4A-1DAAC15A01D2}">
      <dgm:prSet phldrT="[Текст]"/>
      <dgm:spPr/>
      <dgm:t>
        <a:bodyPr/>
        <a:lstStyle/>
        <a:p>
          <a:r>
            <a: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Меновая стоимость</a:t>
          </a:r>
        </a:p>
      </dgm:t>
    </dgm:pt>
    <dgm:pt modelId="{5F62AA69-4E88-4FA2-B384-8F485A94720B}" cxnId="{88402181-5841-4EF8-AFC6-6E3B820B4DDF}" type="parTrans">
      <dgm:prSet/>
      <dgm:spPr/>
      <dgm:t>
        <a:bodyPr/>
        <a:lstStyle/>
        <a:p>
          <a:endParaRPr lang="ru-RU"/>
        </a:p>
      </dgm:t>
    </dgm:pt>
    <dgm:pt modelId="{2A1122C5-7782-44AD-9D81-20CE71D6324A}" cxnId="{88402181-5841-4EF8-AFC6-6E3B820B4DDF}" type="sibTrans">
      <dgm:prSet/>
      <dgm:spPr/>
      <dgm:t>
        <a:bodyPr/>
        <a:lstStyle/>
        <a:p>
          <a:endParaRPr lang="ru-RU"/>
        </a:p>
      </dgm:t>
    </dgm:pt>
    <dgm:pt modelId="{ED560DA6-9B2A-4D31-82F5-20A97D4422AE}">
      <dgm:prSet phldrT="[Текст]" custT="1"/>
      <dgm:spPr/>
      <dgm:t>
        <a:bodyPr/>
        <a:lstStyle/>
        <a:p>
          <a:pPr marL="0" indent="0"/>
          <a:r>
            <a:rPr lang="ru-RU" sz="2400" dirty="0"/>
            <a:t>Способность обмениваться на другие товары </a:t>
          </a:r>
          <a:r>
            <a:rPr lang="ru-RU" sz="2000" dirty="0"/>
            <a:t>(или их денежные эквиваленты) </a:t>
          </a:r>
          <a:br>
            <a:rPr lang="ru-RU" sz="2000" dirty="0"/>
          </a:br>
          <a:r>
            <a:rPr lang="ru-RU" sz="2400" dirty="0"/>
            <a:t>в </a:t>
          </a:r>
          <a:r>
            <a:rPr lang="ru-RU" sz="2400" i="1" u="sng" dirty="0"/>
            <a:t>определенных количественных пропорциях </a:t>
          </a:r>
          <a:r>
            <a:rPr lang="ru-RU" sz="2200" b="0" i="0" dirty="0"/>
            <a:t>и при этом каждая из сторон считает такой обмен справедливым</a:t>
          </a:r>
          <a:endParaRPr lang="ru-RU" sz="2200" i="1" u="sng" dirty="0"/>
        </a:p>
      </dgm:t>
    </dgm:pt>
    <dgm:pt modelId="{4B3E91E9-4C6F-42D2-A846-F6DA9755635D}" cxnId="{96346A5A-0845-4F64-A6FA-23F326EA0D03}" type="parTrans">
      <dgm:prSet/>
      <dgm:spPr/>
      <dgm:t>
        <a:bodyPr/>
        <a:lstStyle/>
        <a:p>
          <a:endParaRPr lang="ru-RU"/>
        </a:p>
      </dgm:t>
    </dgm:pt>
    <dgm:pt modelId="{DAC47BD8-CA33-4269-9B6C-59F2BF88A07C}" cxnId="{96346A5A-0845-4F64-A6FA-23F326EA0D03}" type="sibTrans">
      <dgm:prSet/>
      <dgm:spPr/>
      <dgm:t>
        <a:bodyPr/>
        <a:lstStyle/>
        <a:p>
          <a:endParaRPr lang="ru-RU"/>
        </a:p>
      </dgm:t>
    </dgm:pt>
    <dgm:pt modelId="{D544A713-4A44-4801-B4BC-F22B5FCA011F}" type="pres">
      <dgm:prSet presAssocID="{806260E0-A1A1-45A5-AE7B-DBB65CF00B7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4867BFE-5AA7-4DC3-AD26-C826EF305D17}" type="pres">
      <dgm:prSet presAssocID="{4A419A0F-111F-45FD-B2F5-50E51A1C8007}" presName="hierRoot1" presStyleCnt="0"/>
      <dgm:spPr/>
    </dgm:pt>
    <dgm:pt modelId="{EFA8B47F-EBD3-44EF-89E7-DD0B759624D9}" type="pres">
      <dgm:prSet presAssocID="{4A419A0F-111F-45FD-B2F5-50E51A1C8007}" presName="composite" presStyleCnt="0"/>
      <dgm:spPr/>
    </dgm:pt>
    <dgm:pt modelId="{848D884E-1F39-42F1-9800-8EF2F23C4FEF}" type="pres">
      <dgm:prSet presAssocID="{4A419A0F-111F-45FD-B2F5-50E51A1C8007}" presName="background" presStyleLbl="node0" presStyleIdx="0" presStyleCnt="2"/>
      <dgm:spPr/>
    </dgm:pt>
    <dgm:pt modelId="{18310AA9-629D-41CE-A9DC-8E64634BF051}" type="pres">
      <dgm:prSet presAssocID="{4A419A0F-111F-45FD-B2F5-50E51A1C8007}" presName="text" presStyleLbl="fgAcc0" presStyleIdx="0" presStyleCnt="2" custScaleX="498507">
        <dgm:presLayoutVars>
          <dgm:chPref val="3"/>
        </dgm:presLayoutVars>
      </dgm:prSet>
      <dgm:spPr/>
    </dgm:pt>
    <dgm:pt modelId="{0A1553FE-66DD-4346-AAAA-7D6A17ECF3B1}" type="pres">
      <dgm:prSet presAssocID="{4A419A0F-111F-45FD-B2F5-50E51A1C8007}" presName="hierChild2" presStyleCnt="0"/>
      <dgm:spPr/>
    </dgm:pt>
    <dgm:pt modelId="{1DFDC91F-A656-4A6E-9D2C-771D02DDAD01}" type="pres">
      <dgm:prSet presAssocID="{816334BE-E522-4190-BD0D-C153095EA35D}" presName="Name10" presStyleLbl="parChTrans1D2" presStyleIdx="0" presStyleCnt="2"/>
      <dgm:spPr/>
    </dgm:pt>
    <dgm:pt modelId="{7DC95566-FDDF-47BD-9997-98405A86E8FC}" type="pres">
      <dgm:prSet presAssocID="{B340F8BE-0BC4-48C9-BB11-BA3F948FE093}" presName="hierRoot2" presStyleCnt="0"/>
      <dgm:spPr/>
    </dgm:pt>
    <dgm:pt modelId="{3D46796E-86C1-43EE-AF07-63D9C741C27C}" type="pres">
      <dgm:prSet presAssocID="{B340F8BE-0BC4-48C9-BB11-BA3F948FE093}" presName="composite2" presStyleCnt="0"/>
      <dgm:spPr/>
    </dgm:pt>
    <dgm:pt modelId="{FA5F7171-822B-4DBB-A757-418C86402CBF}" type="pres">
      <dgm:prSet presAssocID="{B340F8BE-0BC4-48C9-BB11-BA3F948FE093}" presName="background2" presStyleLbl="node2" presStyleIdx="0" presStyleCnt="2"/>
      <dgm:spPr/>
    </dgm:pt>
    <dgm:pt modelId="{7344F48A-FA1E-4DF4-9E40-C6400F48BC6F}" type="pres">
      <dgm:prSet presAssocID="{B340F8BE-0BC4-48C9-BB11-BA3F948FE093}" presName="text2" presStyleLbl="fgAcc2" presStyleIdx="0" presStyleCnt="2" custScaleX="747205" custScaleY="527273">
        <dgm:presLayoutVars>
          <dgm:chPref val="3"/>
        </dgm:presLayoutVars>
      </dgm:prSet>
      <dgm:spPr/>
    </dgm:pt>
    <dgm:pt modelId="{D1EB50B9-E9AB-461F-8AF4-EFA693B96349}" type="pres">
      <dgm:prSet presAssocID="{B340F8BE-0BC4-48C9-BB11-BA3F948FE093}" presName="hierChild3" presStyleCnt="0"/>
      <dgm:spPr/>
    </dgm:pt>
    <dgm:pt modelId="{1A45E490-3986-457F-9EF8-1F12808D327A}" type="pres">
      <dgm:prSet presAssocID="{80222532-44AF-4E50-9F4A-1DAAC15A01D2}" presName="hierRoot1" presStyleCnt="0"/>
      <dgm:spPr/>
    </dgm:pt>
    <dgm:pt modelId="{D292CA2B-A123-4D59-A130-FF81DFC1461D}" type="pres">
      <dgm:prSet presAssocID="{80222532-44AF-4E50-9F4A-1DAAC15A01D2}" presName="composite" presStyleCnt="0"/>
      <dgm:spPr/>
    </dgm:pt>
    <dgm:pt modelId="{639D5072-0148-4C62-8915-45B74DB8C9FB}" type="pres">
      <dgm:prSet presAssocID="{80222532-44AF-4E50-9F4A-1DAAC15A01D2}" presName="background" presStyleLbl="node0" presStyleIdx="1" presStyleCnt="2"/>
      <dgm:spPr/>
    </dgm:pt>
    <dgm:pt modelId="{4F97E9E0-D209-40C5-AEAC-B25610A0FDCC}" type="pres">
      <dgm:prSet presAssocID="{80222532-44AF-4E50-9F4A-1DAAC15A01D2}" presName="text" presStyleLbl="fgAcc0" presStyleIdx="1" presStyleCnt="2" custScaleX="506052">
        <dgm:presLayoutVars>
          <dgm:chPref val="3"/>
        </dgm:presLayoutVars>
      </dgm:prSet>
      <dgm:spPr/>
    </dgm:pt>
    <dgm:pt modelId="{93A72340-4FF9-445C-9502-4B05B223D3AF}" type="pres">
      <dgm:prSet presAssocID="{80222532-44AF-4E50-9F4A-1DAAC15A01D2}" presName="hierChild2" presStyleCnt="0"/>
      <dgm:spPr/>
    </dgm:pt>
    <dgm:pt modelId="{138771BC-4B4B-4CA6-A350-24A9E0ADE293}" type="pres">
      <dgm:prSet presAssocID="{4B3E91E9-4C6F-42D2-A846-F6DA9755635D}" presName="Name10" presStyleLbl="parChTrans1D2" presStyleIdx="1" presStyleCnt="2"/>
      <dgm:spPr/>
    </dgm:pt>
    <dgm:pt modelId="{FC35D9FA-037F-4B3D-8E1D-4056CA313C82}" type="pres">
      <dgm:prSet presAssocID="{ED560DA6-9B2A-4D31-82F5-20A97D4422AE}" presName="hierRoot2" presStyleCnt="0"/>
      <dgm:spPr/>
    </dgm:pt>
    <dgm:pt modelId="{F41A6013-BF34-4F2B-9962-21FE6637E5DC}" type="pres">
      <dgm:prSet presAssocID="{ED560DA6-9B2A-4D31-82F5-20A97D4422AE}" presName="composite2" presStyleCnt="0"/>
      <dgm:spPr/>
    </dgm:pt>
    <dgm:pt modelId="{F75C90CB-7285-4FEF-9CC8-F8812E493C0A}" type="pres">
      <dgm:prSet presAssocID="{ED560DA6-9B2A-4D31-82F5-20A97D4422AE}" presName="background2" presStyleLbl="node2" presStyleIdx="1" presStyleCnt="2"/>
      <dgm:spPr/>
    </dgm:pt>
    <dgm:pt modelId="{002732EA-39D1-4F46-AEB6-DDCA1FF0E54A}" type="pres">
      <dgm:prSet presAssocID="{ED560DA6-9B2A-4D31-82F5-20A97D4422AE}" presName="text2" presStyleLbl="fgAcc2" presStyleIdx="1" presStyleCnt="2" custScaleX="608343" custScaleY="1041557">
        <dgm:presLayoutVars>
          <dgm:chPref val="3"/>
        </dgm:presLayoutVars>
      </dgm:prSet>
      <dgm:spPr/>
    </dgm:pt>
    <dgm:pt modelId="{35C80FE5-628D-4C15-A263-F85E217123F5}" type="pres">
      <dgm:prSet presAssocID="{ED560DA6-9B2A-4D31-82F5-20A97D4422AE}" presName="hierChild3" presStyleCnt="0"/>
      <dgm:spPr/>
    </dgm:pt>
  </dgm:ptLst>
  <dgm:cxnLst>
    <dgm:cxn modelId="{829EA712-32E8-413D-AFA5-55F3A4412D36}" srcId="{4A419A0F-111F-45FD-B2F5-50E51A1C8007}" destId="{B340F8BE-0BC4-48C9-BB11-BA3F948FE093}" srcOrd="0" destOrd="0" parTransId="{816334BE-E522-4190-BD0D-C153095EA35D}" sibTransId="{88633781-D411-4A92-92AD-B4C0C3E61E73}"/>
    <dgm:cxn modelId="{78F91C39-606E-4CD6-8160-B4CEC628C39F}" type="presOf" srcId="{806260E0-A1A1-45A5-AE7B-DBB65CF00B78}" destId="{D544A713-4A44-4801-B4BC-F22B5FCA011F}" srcOrd="0" destOrd="0" presId="urn:microsoft.com/office/officeart/2005/8/layout/hierarchy1"/>
    <dgm:cxn modelId="{11ED1A42-F808-4300-B924-A600E7EA7865}" type="presOf" srcId="{B340F8BE-0BC4-48C9-BB11-BA3F948FE093}" destId="{7344F48A-FA1E-4DF4-9E40-C6400F48BC6F}" srcOrd="0" destOrd="0" presId="urn:microsoft.com/office/officeart/2005/8/layout/hierarchy1"/>
    <dgm:cxn modelId="{ECA3204E-DCD1-4CF9-8668-6688E80907E5}" type="presOf" srcId="{4B3E91E9-4C6F-42D2-A846-F6DA9755635D}" destId="{138771BC-4B4B-4CA6-A350-24A9E0ADE293}" srcOrd="0" destOrd="0" presId="urn:microsoft.com/office/officeart/2005/8/layout/hierarchy1"/>
    <dgm:cxn modelId="{F7475154-63A3-4B3A-A739-8C7F967CDEE1}" type="presOf" srcId="{80222532-44AF-4E50-9F4A-1DAAC15A01D2}" destId="{4F97E9E0-D209-40C5-AEAC-B25610A0FDCC}" srcOrd="0" destOrd="0" presId="urn:microsoft.com/office/officeart/2005/8/layout/hierarchy1"/>
    <dgm:cxn modelId="{96346A5A-0845-4F64-A6FA-23F326EA0D03}" srcId="{80222532-44AF-4E50-9F4A-1DAAC15A01D2}" destId="{ED560DA6-9B2A-4D31-82F5-20A97D4422AE}" srcOrd="0" destOrd="0" parTransId="{4B3E91E9-4C6F-42D2-A846-F6DA9755635D}" sibTransId="{DAC47BD8-CA33-4269-9B6C-59F2BF88A07C}"/>
    <dgm:cxn modelId="{88402181-5841-4EF8-AFC6-6E3B820B4DDF}" srcId="{806260E0-A1A1-45A5-AE7B-DBB65CF00B78}" destId="{80222532-44AF-4E50-9F4A-1DAAC15A01D2}" srcOrd="1" destOrd="0" parTransId="{5F62AA69-4E88-4FA2-B384-8F485A94720B}" sibTransId="{2A1122C5-7782-44AD-9D81-20CE71D6324A}"/>
    <dgm:cxn modelId="{31829BA0-3DD9-4882-BC19-F6834AF096CF}" type="presOf" srcId="{ED560DA6-9B2A-4D31-82F5-20A97D4422AE}" destId="{002732EA-39D1-4F46-AEB6-DDCA1FF0E54A}" srcOrd="0" destOrd="0" presId="urn:microsoft.com/office/officeart/2005/8/layout/hierarchy1"/>
    <dgm:cxn modelId="{D9ECC0A6-0D21-431A-9977-0826149436D9}" srcId="{806260E0-A1A1-45A5-AE7B-DBB65CF00B78}" destId="{4A419A0F-111F-45FD-B2F5-50E51A1C8007}" srcOrd="0" destOrd="0" parTransId="{244BF3D9-F0B9-4A8B-B598-808EC74CDF10}" sibTransId="{E550A2F6-0F98-4158-A21C-BC735DF293C1}"/>
    <dgm:cxn modelId="{8E8AF7AA-0E41-42F4-A97F-59BB5D65D01B}" type="presOf" srcId="{816334BE-E522-4190-BD0D-C153095EA35D}" destId="{1DFDC91F-A656-4A6E-9D2C-771D02DDAD01}" srcOrd="0" destOrd="0" presId="urn:microsoft.com/office/officeart/2005/8/layout/hierarchy1"/>
    <dgm:cxn modelId="{223BB0E7-8B27-4D8B-A9D7-A5F0BAC4EBCE}" type="presOf" srcId="{4A419A0F-111F-45FD-B2F5-50E51A1C8007}" destId="{18310AA9-629D-41CE-A9DC-8E64634BF051}" srcOrd="0" destOrd="0" presId="urn:microsoft.com/office/officeart/2005/8/layout/hierarchy1"/>
    <dgm:cxn modelId="{FBCD7E95-F027-406C-BDC7-9E50054C584E}" type="presParOf" srcId="{D544A713-4A44-4801-B4BC-F22B5FCA011F}" destId="{D4867BFE-5AA7-4DC3-AD26-C826EF305D17}" srcOrd="0" destOrd="0" presId="urn:microsoft.com/office/officeart/2005/8/layout/hierarchy1"/>
    <dgm:cxn modelId="{4C81B7D0-E514-4BA1-BFCD-B85AEABF06A7}" type="presParOf" srcId="{D4867BFE-5AA7-4DC3-AD26-C826EF305D17}" destId="{EFA8B47F-EBD3-44EF-89E7-DD0B759624D9}" srcOrd="0" destOrd="0" presId="urn:microsoft.com/office/officeart/2005/8/layout/hierarchy1"/>
    <dgm:cxn modelId="{56A9AEAA-8595-40BC-99DF-3FF55BB2D8DB}" type="presParOf" srcId="{EFA8B47F-EBD3-44EF-89E7-DD0B759624D9}" destId="{848D884E-1F39-42F1-9800-8EF2F23C4FEF}" srcOrd="0" destOrd="0" presId="urn:microsoft.com/office/officeart/2005/8/layout/hierarchy1"/>
    <dgm:cxn modelId="{C9BF38A2-3762-46C6-8ABA-D3103A270283}" type="presParOf" srcId="{EFA8B47F-EBD3-44EF-89E7-DD0B759624D9}" destId="{18310AA9-629D-41CE-A9DC-8E64634BF051}" srcOrd="1" destOrd="0" presId="urn:microsoft.com/office/officeart/2005/8/layout/hierarchy1"/>
    <dgm:cxn modelId="{1AD70802-CC48-4FDF-89BE-ABC5BD2C01E6}" type="presParOf" srcId="{D4867BFE-5AA7-4DC3-AD26-C826EF305D17}" destId="{0A1553FE-66DD-4346-AAAA-7D6A17ECF3B1}" srcOrd="1" destOrd="0" presId="urn:microsoft.com/office/officeart/2005/8/layout/hierarchy1"/>
    <dgm:cxn modelId="{65E4516F-0508-4893-AA33-1059A88DC784}" type="presParOf" srcId="{0A1553FE-66DD-4346-AAAA-7D6A17ECF3B1}" destId="{1DFDC91F-A656-4A6E-9D2C-771D02DDAD01}" srcOrd="0" destOrd="0" presId="urn:microsoft.com/office/officeart/2005/8/layout/hierarchy1"/>
    <dgm:cxn modelId="{EBD4DD2D-10A3-4C91-94F6-00E560551232}" type="presParOf" srcId="{0A1553FE-66DD-4346-AAAA-7D6A17ECF3B1}" destId="{7DC95566-FDDF-47BD-9997-98405A86E8FC}" srcOrd="1" destOrd="0" presId="urn:microsoft.com/office/officeart/2005/8/layout/hierarchy1"/>
    <dgm:cxn modelId="{61A751E5-3EEA-4D4B-8C5F-4A4B5C8B3B5C}" type="presParOf" srcId="{7DC95566-FDDF-47BD-9997-98405A86E8FC}" destId="{3D46796E-86C1-43EE-AF07-63D9C741C27C}" srcOrd="0" destOrd="0" presId="urn:microsoft.com/office/officeart/2005/8/layout/hierarchy1"/>
    <dgm:cxn modelId="{77F21125-7868-400C-AA3B-B8298D56E109}" type="presParOf" srcId="{3D46796E-86C1-43EE-AF07-63D9C741C27C}" destId="{FA5F7171-822B-4DBB-A757-418C86402CBF}" srcOrd="0" destOrd="0" presId="urn:microsoft.com/office/officeart/2005/8/layout/hierarchy1"/>
    <dgm:cxn modelId="{71EEA79C-5608-4552-9095-69CE2D6F5B13}" type="presParOf" srcId="{3D46796E-86C1-43EE-AF07-63D9C741C27C}" destId="{7344F48A-FA1E-4DF4-9E40-C6400F48BC6F}" srcOrd="1" destOrd="0" presId="urn:microsoft.com/office/officeart/2005/8/layout/hierarchy1"/>
    <dgm:cxn modelId="{D33E6CB7-4A15-4840-B308-8F98A88CB11E}" type="presParOf" srcId="{7DC95566-FDDF-47BD-9997-98405A86E8FC}" destId="{D1EB50B9-E9AB-461F-8AF4-EFA693B96349}" srcOrd="1" destOrd="0" presId="urn:microsoft.com/office/officeart/2005/8/layout/hierarchy1"/>
    <dgm:cxn modelId="{09357430-47AB-4C20-B33D-3FD711C6B851}" type="presParOf" srcId="{D544A713-4A44-4801-B4BC-F22B5FCA011F}" destId="{1A45E490-3986-457F-9EF8-1F12808D327A}" srcOrd="1" destOrd="0" presId="urn:microsoft.com/office/officeart/2005/8/layout/hierarchy1"/>
    <dgm:cxn modelId="{220598D9-B807-4926-9A24-1BD0848D0138}" type="presParOf" srcId="{1A45E490-3986-457F-9EF8-1F12808D327A}" destId="{D292CA2B-A123-4D59-A130-FF81DFC1461D}" srcOrd="0" destOrd="0" presId="urn:microsoft.com/office/officeart/2005/8/layout/hierarchy1"/>
    <dgm:cxn modelId="{2028295D-1328-4AD1-88DB-33CE1B1AA0FC}" type="presParOf" srcId="{D292CA2B-A123-4D59-A130-FF81DFC1461D}" destId="{639D5072-0148-4C62-8915-45B74DB8C9FB}" srcOrd="0" destOrd="0" presId="urn:microsoft.com/office/officeart/2005/8/layout/hierarchy1"/>
    <dgm:cxn modelId="{84A0846B-5FC1-4CF9-9C1A-9A005412FDAC}" type="presParOf" srcId="{D292CA2B-A123-4D59-A130-FF81DFC1461D}" destId="{4F97E9E0-D209-40C5-AEAC-B25610A0FDCC}" srcOrd="1" destOrd="0" presId="urn:microsoft.com/office/officeart/2005/8/layout/hierarchy1"/>
    <dgm:cxn modelId="{FC935E9D-51EE-4560-9BAB-834382D54520}" type="presParOf" srcId="{1A45E490-3986-457F-9EF8-1F12808D327A}" destId="{93A72340-4FF9-445C-9502-4B05B223D3AF}" srcOrd="1" destOrd="0" presId="urn:microsoft.com/office/officeart/2005/8/layout/hierarchy1"/>
    <dgm:cxn modelId="{1A8A192F-EA1F-46F0-97CB-67A8C573ED7E}" type="presParOf" srcId="{93A72340-4FF9-445C-9502-4B05B223D3AF}" destId="{138771BC-4B4B-4CA6-A350-24A9E0ADE293}" srcOrd="0" destOrd="0" presId="urn:microsoft.com/office/officeart/2005/8/layout/hierarchy1"/>
    <dgm:cxn modelId="{5EEE1BBD-F8E1-4F93-A20F-526F96309EE3}" type="presParOf" srcId="{93A72340-4FF9-445C-9502-4B05B223D3AF}" destId="{FC35D9FA-037F-4B3D-8E1D-4056CA313C82}" srcOrd="1" destOrd="0" presId="urn:microsoft.com/office/officeart/2005/8/layout/hierarchy1"/>
    <dgm:cxn modelId="{805BD7A2-9F5A-4521-86C4-34041AC71C50}" type="presParOf" srcId="{FC35D9FA-037F-4B3D-8E1D-4056CA313C82}" destId="{F41A6013-BF34-4F2B-9962-21FE6637E5DC}" srcOrd="0" destOrd="0" presId="urn:microsoft.com/office/officeart/2005/8/layout/hierarchy1"/>
    <dgm:cxn modelId="{2DD6CDE2-4F4C-4A6B-A6C9-62EC0158785A}" type="presParOf" srcId="{F41A6013-BF34-4F2B-9962-21FE6637E5DC}" destId="{F75C90CB-7285-4FEF-9CC8-F8812E493C0A}" srcOrd="0" destOrd="0" presId="urn:microsoft.com/office/officeart/2005/8/layout/hierarchy1"/>
    <dgm:cxn modelId="{D31B2263-D3FA-49D2-92DF-B8670E82A818}" type="presParOf" srcId="{F41A6013-BF34-4F2B-9962-21FE6637E5DC}" destId="{002732EA-39D1-4F46-AEB6-DDCA1FF0E54A}" srcOrd="1" destOrd="0" presId="urn:microsoft.com/office/officeart/2005/8/layout/hierarchy1"/>
    <dgm:cxn modelId="{A157EFFB-6902-4FD0-AFF5-35AB225D8F35}" type="presParOf" srcId="{FC35D9FA-037F-4B3D-8E1D-4056CA313C82}" destId="{35C80FE5-628D-4C15-A263-F85E217123F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D7E96B8-F77B-4BFD-AFE1-D4005371D7A8}" type="doc">
      <dgm:prSet loTypeId="urn:microsoft.com/office/officeart/2005/8/layout/chevron2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8474973E-E0FA-42A6-9490-A0850500C3D2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gm:t>
    </dgm:pt>
    <dgm:pt modelId="{AFF601AC-56DD-444C-B2E1-FA612B6B93DC}" cxnId="{F18B59C1-2151-4E31-ABC2-59E0C6D4EF1C}" type="parTrans">
      <dgm:prSet/>
      <dgm:spPr/>
      <dgm:t>
        <a:bodyPr/>
        <a:lstStyle/>
        <a:p>
          <a:endParaRPr lang="ru-RU" b="1"/>
        </a:p>
      </dgm:t>
    </dgm:pt>
    <dgm:pt modelId="{07B4974B-3481-466E-BC18-00CCFBB38D9A}" cxnId="{F18B59C1-2151-4E31-ABC2-59E0C6D4EF1C}" type="sibTrans">
      <dgm:prSet/>
      <dgm:spPr/>
      <dgm:t>
        <a:bodyPr/>
        <a:lstStyle/>
        <a:p>
          <a:endParaRPr lang="ru-RU" b="1"/>
        </a:p>
      </dgm:t>
    </dgm:pt>
    <dgm:pt modelId="{AB620A65-40FB-4C84-A87F-BD0266357883}">
      <dgm:prSet phldrT="[Текст]" custT="1"/>
      <dgm:spPr/>
      <dgm:t>
        <a:bodyPr/>
        <a:lstStyle/>
        <a:p>
          <a:r>
            <a:rPr lang="ru-RU" sz="2000" b="1" dirty="0"/>
            <a:t>Натуральная </a:t>
          </a:r>
        </a:p>
      </dgm:t>
    </dgm:pt>
    <dgm:pt modelId="{ADFCF9C9-7118-4147-91F1-D9CC9F46BA55}" cxnId="{504581DD-ED7F-4515-86A1-0143C3E3CE6C}" type="parTrans">
      <dgm:prSet/>
      <dgm:spPr/>
      <dgm:t>
        <a:bodyPr/>
        <a:lstStyle/>
        <a:p>
          <a:endParaRPr lang="ru-RU" b="1"/>
        </a:p>
      </dgm:t>
    </dgm:pt>
    <dgm:pt modelId="{F5272A12-A6AE-4CE6-98ED-983731B11C2C}" cxnId="{504581DD-ED7F-4515-86A1-0143C3E3CE6C}" type="sibTrans">
      <dgm:prSet/>
      <dgm:spPr/>
      <dgm:t>
        <a:bodyPr/>
        <a:lstStyle/>
        <a:p>
          <a:endParaRPr lang="ru-RU" b="1"/>
        </a:p>
      </dgm:t>
    </dgm:pt>
    <dgm:pt modelId="{4453D312-2ACC-4289-87A1-FD82F3C09C7F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gm:t>
    </dgm:pt>
    <dgm:pt modelId="{6A42B7D4-36C1-4250-8BAC-DD32B0F9262C}" cxnId="{2368DFE4-7697-4D2A-80CF-949B1634F442}" type="parTrans">
      <dgm:prSet/>
      <dgm:spPr/>
      <dgm:t>
        <a:bodyPr/>
        <a:lstStyle/>
        <a:p>
          <a:endParaRPr lang="ru-RU" b="1"/>
        </a:p>
      </dgm:t>
    </dgm:pt>
    <dgm:pt modelId="{B3835343-BAB7-41D8-8D3B-AC58B57A016D}" cxnId="{2368DFE4-7697-4D2A-80CF-949B1634F442}" type="sibTrans">
      <dgm:prSet/>
      <dgm:spPr/>
      <dgm:t>
        <a:bodyPr/>
        <a:lstStyle/>
        <a:p>
          <a:endParaRPr lang="ru-RU" b="1"/>
        </a:p>
      </dgm:t>
    </dgm:pt>
    <dgm:pt modelId="{08F8CB18-E348-456A-AFC2-B3CCED49A6E1}">
      <dgm:prSet phldrT="[Текст]" custT="1"/>
      <dgm:spPr/>
      <dgm:t>
        <a:bodyPr/>
        <a:lstStyle/>
        <a:p>
          <a:r>
            <a:rPr lang="ru-RU" sz="2000" b="1" dirty="0"/>
            <a:t>Количественная </a:t>
          </a:r>
        </a:p>
      </dgm:t>
    </dgm:pt>
    <dgm:pt modelId="{EE9C3AAA-E04D-4324-A6C4-BD17A3E07B9D}" cxnId="{33140018-BBB9-41A7-801E-690583C120F4}" type="parTrans">
      <dgm:prSet/>
      <dgm:spPr/>
      <dgm:t>
        <a:bodyPr/>
        <a:lstStyle/>
        <a:p>
          <a:endParaRPr lang="ru-RU" b="1"/>
        </a:p>
      </dgm:t>
    </dgm:pt>
    <dgm:pt modelId="{8047A06A-CF20-42C5-8717-991FDBD49351}" cxnId="{33140018-BBB9-41A7-801E-690583C120F4}" type="sibTrans">
      <dgm:prSet/>
      <dgm:spPr/>
      <dgm:t>
        <a:bodyPr/>
        <a:lstStyle/>
        <a:p>
          <a:endParaRPr lang="ru-RU" b="1"/>
        </a:p>
      </dgm:t>
    </dgm:pt>
    <dgm:pt modelId="{72FE1AEA-8CBE-4A3B-98FD-56E48D0B0CCA}">
      <dgm:prSet phldrT="[Текст]"/>
      <dgm:spPr/>
      <dgm:t>
        <a:bodyPr/>
        <a:lstStyle/>
        <a:p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gm:t>
    </dgm:pt>
    <dgm:pt modelId="{92613D01-D06A-4DF1-B299-2E44CAF1AACC}" cxnId="{88EE469F-1FCF-477C-8844-7A30C7B91E7E}" type="parTrans">
      <dgm:prSet/>
      <dgm:spPr/>
      <dgm:t>
        <a:bodyPr/>
        <a:lstStyle/>
        <a:p>
          <a:endParaRPr lang="ru-RU" b="1"/>
        </a:p>
      </dgm:t>
    </dgm:pt>
    <dgm:pt modelId="{03928B0E-6068-4D7E-93BE-C6984F05642B}" cxnId="{88EE469F-1FCF-477C-8844-7A30C7B91E7E}" type="sibTrans">
      <dgm:prSet/>
      <dgm:spPr/>
      <dgm:t>
        <a:bodyPr/>
        <a:lstStyle/>
        <a:p>
          <a:endParaRPr lang="ru-RU" b="1"/>
        </a:p>
      </dgm:t>
    </dgm:pt>
    <dgm:pt modelId="{98624438-E49E-4CDE-BF5E-B1545AD410C6}">
      <dgm:prSet phldrT="[Текст]" custT="1"/>
      <dgm:spPr/>
      <dgm:t>
        <a:bodyPr/>
        <a:lstStyle/>
        <a:p>
          <a:r>
            <a:rPr lang="ru-RU" sz="2000" b="1" dirty="0"/>
            <a:t>Качественная </a:t>
          </a:r>
        </a:p>
      </dgm:t>
    </dgm:pt>
    <dgm:pt modelId="{565F487F-3B01-479F-B28E-18CF0E000480}" cxnId="{D1A445F9-EF1F-452E-B8F0-60B5212381AC}" type="parTrans">
      <dgm:prSet/>
      <dgm:spPr/>
      <dgm:t>
        <a:bodyPr/>
        <a:lstStyle/>
        <a:p>
          <a:endParaRPr lang="ru-RU" b="1"/>
        </a:p>
      </dgm:t>
    </dgm:pt>
    <dgm:pt modelId="{C6A58FA7-B691-4EC2-A73D-456B5BE8C4F2}" cxnId="{D1A445F9-EF1F-452E-B8F0-60B5212381AC}" type="sibTrans">
      <dgm:prSet/>
      <dgm:spPr/>
      <dgm:t>
        <a:bodyPr/>
        <a:lstStyle/>
        <a:p>
          <a:endParaRPr lang="ru-RU" b="1"/>
        </a:p>
      </dgm:t>
    </dgm:pt>
    <dgm:pt modelId="{16622A92-0EDD-4C38-AEC6-B73C3CD3703C}" type="pres">
      <dgm:prSet presAssocID="{4D7E96B8-F77B-4BFD-AFE1-D4005371D7A8}" presName="linearFlow" presStyleCnt="0">
        <dgm:presLayoutVars>
          <dgm:dir/>
          <dgm:animLvl val="lvl"/>
          <dgm:resizeHandles val="exact"/>
        </dgm:presLayoutVars>
      </dgm:prSet>
      <dgm:spPr/>
    </dgm:pt>
    <dgm:pt modelId="{0730537B-A3D7-4555-A02E-E4D260127FBA}" type="pres">
      <dgm:prSet presAssocID="{8474973E-E0FA-42A6-9490-A0850500C3D2}" presName="composite" presStyleCnt="0"/>
      <dgm:spPr/>
    </dgm:pt>
    <dgm:pt modelId="{77779DD6-D845-45E2-90A4-B34DB642ABC3}" type="pres">
      <dgm:prSet presAssocID="{8474973E-E0FA-42A6-9490-A0850500C3D2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ABCB1EDA-29DA-4E84-922B-3EFBDD29DA7E}" type="pres">
      <dgm:prSet presAssocID="{8474973E-E0FA-42A6-9490-A0850500C3D2}" presName="descendantText" presStyleLbl="alignAcc1" presStyleIdx="0" presStyleCnt="3" custLinFactNeighborY="7684">
        <dgm:presLayoutVars>
          <dgm:bulletEnabled val="1"/>
        </dgm:presLayoutVars>
      </dgm:prSet>
      <dgm:spPr/>
    </dgm:pt>
    <dgm:pt modelId="{CDBE63FB-17EC-41F9-B0A0-9BE0DD4A5FFC}" type="pres">
      <dgm:prSet presAssocID="{07B4974B-3481-466E-BC18-00CCFBB38D9A}" presName="sp" presStyleCnt="0"/>
      <dgm:spPr/>
    </dgm:pt>
    <dgm:pt modelId="{36DFE64A-40A7-43C4-BCDA-BDD69759B6E8}" type="pres">
      <dgm:prSet presAssocID="{4453D312-2ACC-4289-87A1-FD82F3C09C7F}" presName="composite" presStyleCnt="0"/>
      <dgm:spPr/>
    </dgm:pt>
    <dgm:pt modelId="{84FDEC37-F5E2-4F7C-A262-3C00389E8500}" type="pres">
      <dgm:prSet presAssocID="{4453D312-2ACC-4289-87A1-FD82F3C09C7F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2C19B4A-F432-46C3-A1D2-6CB56EF7AB01}" type="pres">
      <dgm:prSet presAssocID="{4453D312-2ACC-4289-87A1-FD82F3C09C7F}" presName="descendantText" presStyleLbl="alignAcc1" presStyleIdx="1" presStyleCnt="3">
        <dgm:presLayoutVars>
          <dgm:bulletEnabled val="1"/>
        </dgm:presLayoutVars>
      </dgm:prSet>
      <dgm:spPr/>
    </dgm:pt>
    <dgm:pt modelId="{F2D4A67B-BFCD-4CC6-9253-E210D66CEA6E}" type="pres">
      <dgm:prSet presAssocID="{B3835343-BAB7-41D8-8D3B-AC58B57A016D}" presName="sp" presStyleCnt="0"/>
      <dgm:spPr/>
    </dgm:pt>
    <dgm:pt modelId="{28733040-2C3F-4F93-8F55-6A0E2CA533F4}" type="pres">
      <dgm:prSet presAssocID="{72FE1AEA-8CBE-4A3B-98FD-56E48D0B0CCA}" presName="composite" presStyleCnt="0"/>
      <dgm:spPr/>
    </dgm:pt>
    <dgm:pt modelId="{2611E99A-0103-4997-8CBB-C17DA48246B9}" type="pres">
      <dgm:prSet presAssocID="{72FE1AEA-8CBE-4A3B-98FD-56E48D0B0CCA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43EE4E3-A080-42D6-B197-7B30EB2E2C93}" type="pres">
      <dgm:prSet presAssocID="{72FE1AEA-8CBE-4A3B-98FD-56E48D0B0CCA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1D32110C-3C71-432B-9936-7E78E429AB34}" type="presOf" srcId="{4D7E96B8-F77B-4BFD-AFE1-D4005371D7A8}" destId="{16622A92-0EDD-4C38-AEC6-B73C3CD3703C}" srcOrd="0" destOrd="0" presId="urn:microsoft.com/office/officeart/2005/8/layout/chevron2"/>
    <dgm:cxn modelId="{33140018-BBB9-41A7-801E-690583C120F4}" srcId="{4453D312-2ACC-4289-87A1-FD82F3C09C7F}" destId="{08F8CB18-E348-456A-AFC2-B3CCED49A6E1}" srcOrd="0" destOrd="0" parTransId="{EE9C3AAA-E04D-4324-A6C4-BD17A3E07B9D}" sibTransId="{8047A06A-CF20-42C5-8717-991FDBD49351}"/>
    <dgm:cxn modelId="{8FB0991D-7DBC-4C3A-889B-893C91AE3F78}" type="presOf" srcId="{98624438-E49E-4CDE-BF5E-B1545AD410C6}" destId="{B43EE4E3-A080-42D6-B197-7B30EB2E2C93}" srcOrd="0" destOrd="0" presId="urn:microsoft.com/office/officeart/2005/8/layout/chevron2"/>
    <dgm:cxn modelId="{A6353573-ECCD-46B8-A8DC-9F59B60A6912}" type="presOf" srcId="{4453D312-2ACC-4289-87A1-FD82F3C09C7F}" destId="{84FDEC37-F5E2-4F7C-A262-3C00389E8500}" srcOrd="0" destOrd="0" presId="urn:microsoft.com/office/officeart/2005/8/layout/chevron2"/>
    <dgm:cxn modelId="{774AE489-47D1-447A-B70A-D1D0B01D101F}" type="presOf" srcId="{08F8CB18-E348-456A-AFC2-B3CCED49A6E1}" destId="{D2C19B4A-F432-46C3-A1D2-6CB56EF7AB01}" srcOrd="0" destOrd="0" presId="urn:microsoft.com/office/officeart/2005/8/layout/chevron2"/>
    <dgm:cxn modelId="{FE299096-69BC-409A-986F-C3654F6109BF}" type="presOf" srcId="{8474973E-E0FA-42A6-9490-A0850500C3D2}" destId="{77779DD6-D845-45E2-90A4-B34DB642ABC3}" srcOrd="0" destOrd="0" presId="urn:microsoft.com/office/officeart/2005/8/layout/chevron2"/>
    <dgm:cxn modelId="{88EE469F-1FCF-477C-8844-7A30C7B91E7E}" srcId="{4D7E96B8-F77B-4BFD-AFE1-D4005371D7A8}" destId="{72FE1AEA-8CBE-4A3B-98FD-56E48D0B0CCA}" srcOrd="2" destOrd="0" parTransId="{92613D01-D06A-4DF1-B299-2E44CAF1AACC}" sibTransId="{03928B0E-6068-4D7E-93BE-C6984F05642B}"/>
    <dgm:cxn modelId="{C1B635BB-D3B5-4D54-8566-DC90E53EC3C8}" type="presOf" srcId="{72FE1AEA-8CBE-4A3B-98FD-56E48D0B0CCA}" destId="{2611E99A-0103-4997-8CBB-C17DA48246B9}" srcOrd="0" destOrd="0" presId="urn:microsoft.com/office/officeart/2005/8/layout/chevron2"/>
    <dgm:cxn modelId="{F18B59C1-2151-4E31-ABC2-59E0C6D4EF1C}" srcId="{4D7E96B8-F77B-4BFD-AFE1-D4005371D7A8}" destId="{8474973E-E0FA-42A6-9490-A0850500C3D2}" srcOrd="0" destOrd="0" parTransId="{AFF601AC-56DD-444C-B2E1-FA612B6B93DC}" sibTransId="{07B4974B-3481-466E-BC18-00CCFBB38D9A}"/>
    <dgm:cxn modelId="{9FF892C8-81E7-4E75-B7BA-C98FB02F044C}" type="presOf" srcId="{AB620A65-40FB-4C84-A87F-BD0266357883}" destId="{ABCB1EDA-29DA-4E84-922B-3EFBDD29DA7E}" srcOrd="0" destOrd="0" presId="urn:microsoft.com/office/officeart/2005/8/layout/chevron2"/>
    <dgm:cxn modelId="{504581DD-ED7F-4515-86A1-0143C3E3CE6C}" srcId="{8474973E-E0FA-42A6-9490-A0850500C3D2}" destId="{AB620A65-40FB-4C84-A87F-BD0266357883}" srcOrd="0" destOrd="0" parTransId="{ADFCF9C9-7118-4147-91F1-D9CC9F46BA55}" sibTransId="{F5272A12-A6AE-4CE6-98ED-983731B11C2C}"/>
    <dgm:cxn modelId="{2368DFE4-7697-4D2A-80CF-949B1634F442}" srcId="{4D7E96B8-F77B-4BFD-AFE1-D4005371D7A8}" destId="{4453D312-2ACC-4289-87A1-FD82F3C09C7F}" srcOrd="1" destOrd="0" parTransId="{6A42B7D4-36C1-4250-8BAC-DD32B0F9262C}" sibTransId="{B3835343-BAB7-41D8-8D3B-AC58B57A016D}"/>
    <dgm:cxn modelId="{D1A445F9-EF1F-452E-B8F0-60B5212381AC}" srcId="{72FE1AEA-8CBE-4A3B-98FD-56E48D0B0CCA}" destId="{98624438-E49E-4CDE-BF5E-B1545AD410C6}" srcOrd="0" destOrd="0" parTransId="{565F487F-3B01-479F-B28E-18CF0E000480}" sibTransId="{C6A58FA7-B691-4EC2-A73D-456B5BE8C4F2}"/>
    <dgm:cxn modelId="{FD27E0E0-41DA-46E0-83D7-E806B1005D54}" type="presParOf" srcId="{16622A92-0EDD-4C38-AEC6-B73C3CD3703C}" destId="{0730537B-A3D7-4555-A02E-E4D260127FBA}" srcOrd="0" destOrd="0" presId="urn:microsoft.com/office/officeart/2005/8/layout/chevron2"/>
    <dgm:cxn modelId="{1CF20190-E6E2-4F3E-A69D-ED295A263017}" type="presParOf" srcId="{0730537B-A3D7-4555-A02E-E4D260127FBA}" destId="{77779DD6-D845-45E2-90A4-B34DB642ABC3}" srcOrd="0" destOrd="0" presId="urn:microsoft.com/office/officeart/2005/8/layout/chevron2"/>
    <dgm:cxn modelId="{D9E4B85B-5843-4BC7-B497-00529DD876E3}" type="presParOf" srcId="{0730537B-A3D7-4555-A02E-E4D260127FBA}" destId="{ABCB1EDA-29DA-4E84-922B-3EFBDD29DA7E}" srcOrd="1" destOrd="0" presId="urn:microsoft.com/office/officeart/2005/8/layout/chevron2"/>
    <dgm:cxn modelId="{19C6214E-5BF1-41C5-82AA-83E80BB8E3AB}" type="presParOf" srcId="{16622A92-0EDD-4C38-AEC6-B73C3CD3703C}" destId="{CDBE63FB-17EC-41F9-B0A0-9BE0DD4A5FFC}" srcOrd="1" destOrd="0" presId="urn:microsoft.com/office/officeart/2005/8/layout/chevron2"/>
    <dgm:cxn modelId="{6EE5BF71-E7EF-4C8D-B0BF-4E5571D02DE0}" type="presParOf" srcId="{16622A92-0EDD-4C38-AEC6-B73C3CD3703C}" destId="{36DFE64A-40A7-43C4-BCDA-BDD69759B6E8}" srcOrd="2" destOrd="0" presId="urn:microsoft.com/office/officeart/2005/8/layout/chevron2"/>
    <dgm:cxn modelId="{5935475A-ED1B-4688-9156-72A53FAE5AFD}" type="presParOf" srcId="{36DFE64A-40A7-43C4-BCDA-BDD69759B6E8}" destId="{84FDEC37-F5E2-4F7C-A262-3C00389E8500}" srcOrd="0" destOrd="0" presId="urn:microsoft.com/office/officeart/2005/8/layout/chevron2"/>
    <dgm:cxn modelId="{61AA4590-E498-495F-B9CF-DD20A8C4E278}" type="presParOf" srcId="{36DFE64A-40A7-43C4-BCDA-BDD69759B6E8}" destId="{D2C19B4A-F432-46C3-A1D2-6CB56EF7AB01}" srcOrd="1" destOrd="0" presId="urn:microsoft.com/office/officeart/2005/8/layout/chevron2"/>
    <dgm:cxn modelId="{A2E8F4DD-12A5-4B77-B831-F85F84FB35EA}" type="presParOf" srcId="{16622A92-0EDD-4C38-AEC6-B73C3CD3703C}" destId="{F2D4A67B-BFCD-4CC6-9253-E210D66CEA6E}" srcOrd="3" destOrd="0" presId="urn:microsoft.com/office/officeart/2005/8/layout/chevron2"/>
    <dgm:cxn modelId="{3498C950-45DD-4080-A35A-A9997FC88871}" type="presParOf" srcId="{16622A92-0EDD-4C38-AEC6-B73C3CD3703C}" destId="{28733040-2C3F-4F93-8F55-6A0E2CA533F4}" srcOrd="4" destOrd="0" presId="urn:microsoft.com/office/officeart/2005/8/layout/chevron2"/>
    <dgm:cxn modelId="{AF35E96C-9FCF-485A-8C0D-14FBFEC99DAA}" type="presParOf" srcId="{28733040-2C3F-4F93-8F55-6A0E2CA533F4}" destId="{2611E99A-0103-4997-8CBB-C17DA48246B9}" srcOrd="0" destOrd="0" presId="urn:microsoft.com/office/officeart/2005/8/layout/chevron2"/>
    <dgm:cxn modelId="{3A42EF28-A1DC-4732-99E3-829E09ED724B}" type="presParOf" srcId="{28733040-2C3F-4F93-8F55-6A0E2CA533F4}" destId="{B43EE4E3-A080-42D6-B197-7B30EB2E2C9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3CB46E-0F5D-4661-9A9F-C1F4F6EE126E}" type="doc">
      <dgm:prSet loTypeId="urn:microsoft.com/office/officeart/2005/8/layout/process4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9BFDB34-5EBC-4108-8860-F626046AEEF4}">
      <dgm:prSet phldrT="[Текст]" custT="1"/>
      <dgm:spPr>
        <a:solidFill>
          <a:srgbClr val="0070C0"/>
        </a:solidFill>
      </dgm:spPr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Классическая политическая экономия – </a:t>
          </a:r>
        </a:p>
        <a:p>
          <a:pPr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трудовая теория стоимости</a:t>
          </a:r>
        </a:p>
      </dgm:t>
    </dgm:pt>
    <dgm:pt modelId="{F78F05AD-2C35-4860-B68E-D339E3C2AAC0}" cxnId="{70779417-E584-4F98-8045-AA34636C8D37}" type="par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8AD5FF-17CF-48D9-B82E-115A989386C8}" cxnId="{70779417-E584-4F98-8045-AA34636C8D37}" type="sib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0B7B99-1425-4302-B0A9-C49AC57DBECD}">
      <dgm:prSet phldrT="[Текст]" custT="1"/>
      <dgm:spPr>
        <a:solidFill>
          <a:srgbClr val="0070C0"/>
        </a:solidFill>
      </dgm:spPr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Австрийская школа («Маржинализм») – </a:t>
          </a:r>
        </a:p>
        <a:p>
          <a:pPr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теория предельной полезности</a:t>
          </a:r>
        </a:p>
      </dgm:t>
    </dgm:pt>
    <dgm:pt modelId="{09057A4B-3172-4E7D-BF50-8C5DBF200F4E}" cxnId="{0A63FC65-305C-4D6D-B684-0619245E60F2}" type="par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FBCD6E-5411-4EE4-B571-AD3A384779A4}" cxnId="{0A63FC65-305C-4D6D-B684-0619245E60F2}" type="sib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EA9B8A-7D01-4DE5-9225-8C282EFAB536}">
      <dgm:prSet phldrT="[Текст]" custT="1"/>
      <dgm:spPr>
        <a:solidFill>
          <a:srgbClr val="0070C0"/>
        </a:solidFill>
      </dgm:spPr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Неоклассическая школа («Экономикс») </a:t>
          </a:r>
        </a:p>
      </dgm:t>
    </dgm:pt>
    <dgm:pt modelId="{46442FDB-A12A-4551-B5ED-2C58278A5F7C}" cxnId="{77E1B25C-352C-4423-A038-D7840473ABA2}" type="par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B5CCD0-22DD-4DB8-8340-BD8E4C183A8E}" cxnId="{77E1B25C-352C-4423-A038-D7840473ABA2}" type="sibTrans">
      <dgm:prSet/>
      <dgm:spPr/>
      <dgm:t>
        <a:bodyPr/>
        <a:lstStyle/>
        <a:p>
          <a:pPr>
            <a:spcBef>
              <a:spcPts val="0"/>
            </a:spcBef>
            <a:spcAft>
              <a:spcPts val="0"/>
            </a:spcAft>
          </a:pPr>
          <a:endParaRPr lang="ru-RU" sz="19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AC85DD-91C0-4E4E-AC4B-F71508C98BC1}" type="pres">
      <dgm:prSet presAssocID="{F03CB46E-0F5D-4661-9A9F-C1F4F6EE126E}" presName="Name0" presStyleCnt="0">
        <dgm:presLayoutVars>
          <dgm:dir/>
          <dgm:animLvl val="lvl"/>
          <dgm:resizeHandles val="exact"/>
        </dgm:presLayoutVars>
      </dgm:prSet>
      <dgm:spPr/>
    </dgm:pt>
    <dgm:pt modelId="{9F541AB9-B2CE-4953-A7B6-55859ED2731F}" type="pres">
      <dgm:prSet presAssocID="{EBEA9B8A-7D01-4DE5-9225-8C282EFAB536}" presName="boxAndChildren" presStyleCnt="0"/>
      <dgm:spPr/>
    </dgm:pt>
    <dgm:pt modelId="{982A5F90-4FA4-4FE0-B6DD-B262770D43B8}" type="pres">
      <dgm:prSet presAssocID="{EBEA9B8A-7D01-4DE5-9225-8C282EFAB536}" presName="parentTextBox" presStyleLbl="node1" presStyleIdx="0" presStyleCnt="3" custLinFactNeighborX="10339" custLinFactNeighborY="11271"/>
      <dgm:spPr/>
    </dgm:pt>
    <dgm:pt modelId="{D992BF46-EC7F-4A11-8BD8-98B57AFC10E0}" type="pres">
      <dgm:prSet presAssocID="{A3FBCD6E-5411-4EE4-B571-AD3A384779A4}" presName="sp" presStyleCnt="0"/>
      <dgm:spPr/>
    </dgm:pt>
    <dgm:pt modelId="{1B724581-1225-4A5E-89FF-8552E30604EF}" type="pres">
      <dgm:prSet presAssocID="{620B7B99-1425-4302-B0A9-C49AC57DBECD}" presName="arrowAndChildren" presStyleCnt="0"/>
      <dgm:spPr/>
    </dgm:pt>
    <dgm:pt modelId="{4AB06AE3-5A17-45DF-BF01-545AE7BF50B1}" type="pres">
      <dgm:prSet presAssocID="{620B7B99-1425-4302-B0A9-C49AC57DBECD}" presName="parentTextArrow" presStyleLbl="node1" presStyleIdx="1" presStyleCnt="3"/>
      <dgm:spPr/>
    </dgm:pt>
    <dgm:pt modelId="{639F5ED9-5BB4-4870-9A9C-BB8BF692B8F4}" type="pres">
      <dgm:prSet presAssocID="{7E8AD5FF-17CF-48D9-B82E-115A989386C8}" presName="sp" presStyleCnt="0"/>
      <dgm:spPr/>
    </dgm:pt>
    <dgm:pt modelId="{E9424E1A-72C3-4F03-B6C0-A02C58892A03}" type="pres">
      <dgm:prSet presAssocID="{29BFDB34-5EBC-4108-8860-F626046AEEF4}" presName="arrowAndChildren" presStyleCnt="0"/>
      <dgm:spPr/>
    </dgm:pt>
    <dgm:pt modelId="{CDFD3AAE-7B99-4FCF-A00C-A2CC8FE1E6C8}" type="pres">
      <dgm:prSet presAssocID="{29BFDB34-5EBC-4108-8860-F626046AEEF4}" presName="parentTextArrow" presStyleLbl="node1" presStyleIdx="2" presStyleCnt="3" custAng="0"/>
      <dgm:spPr/>
    </dgm:pt>
  </dgm:ptLst>
  <dgm:cxnLst>
    <dgm:cxn modelId="{70779417-E584-4F98-8045-AA34636C8D37}" srcId="{F03CB46E-0F5D-4661-9A9F-C1F4F6EE126E}" destId="{29BFDB34-5EBC-4108-8860-F626046AEEF4}" srcOrd="0" destOrd="0" parTransId="{F78F05AD-2C35-4860-B68E-D339E3C2AAC0}" sibTransId="{7E8AD5FF-17CF-48D9-B82E-115A989386C8}"/>
    <dgm:cxn modelId="{104D891B-2EBA-4CA7-8825-BE15F5D4B2B9}" type="presOf" srcId="{F03CB46E-0F5D-4661-9A9F-C1F4F6EE126E}" destId="{2CAC85DD-91C0-4E4E-AC4B-F71508C98BC1}" srcOrd="0" destOrd="0" presId="urn:microsoft.com/office/officeart/2005/8/layout/process4"/>
    <dgm:cxn modelId="{77E1B25C-352C-4423-A038-D7840473ABA2}" srcId="{F03CB46E-0F5D-4661-9A9F-C1F4F6EE126E}" destId="{EBEA9B8A-7D01-4DE5-9225-8C282EFAB536}" srcOrd="2" destOrd="0" parTransId="{46442FDB-A12A-4551-B5ED-2C58278A5F7C}" sibTransId="{53B5CCD0-22DD-4DB8-8340-BD8E4C183A8E}"/>
    <dgm:cxn modelId="{0A63FC65-305C-4D6D-B684-0619245E60F2}" srcId="{F03CB46E-0F5D-4661-9A9F-C1F4F6EE126E}" destId="{620B7B99-1425-4302-B0A9-C49AC57DBECD}" srcOrd="1" destOrd="0" parTransId="{09057A4B-3172-4E7D-BF50-8C5DBF200F4E}" sibTransId="{A3FBCD6E-5411-4EE4-B571-AD3A384779A4}"/>
    <dgm:cxn modelId="{7F701A66-EE68-4B68-B9A2-91681271EEF7}" type="presOf" srcId="{29BFDB34-5EBC-4108-8860-F626046AEEF4}" destId="{CDFD3AAE-7B99-4FCF-A00C-A2CC8FE1E6C8}" srcOrd="0" destOrd="0" presId="urn:microsoft.com/office/officeart/2005/8/layout/process4"/>
    <dgm:cxn modelId="{E8A8EC6B-66BD-4CDB-981D-162C1038C6B2}" type="presOf" srcId="{620B7B99-1425-4302-B0A9-C49AC57DBECD}" destId="{4AB06AE3-5A17-45DF-BF01-545AE7BF50B1}" srcOrd="0" destOrd="0" presId="urn:microsoft.com/office/officeart/2005/8/layout/process4"/>
    <dgm:cxn modelId="{450138E5-F6A5-4EB1-A419-5E4D1DB1921B}" type="presOf" srcId="{EBEA9B8A-7D01-4DE5-9225-8C282EFAB536}" destId="{982A5F90-4FA4-4FE0-B6DD-B262770D43B8}" srcOrd="0" destOrd="0" presId="urn:microsoft.com/office/officeart/2005/8/layout/process4"/>
    <dgm:cxn modelId="{5F4BB04D-45C6-4443-90A3-224ADD83CFA5}" type="presParOf" srcId="{2CAC85DD-91C0-4E4E-AC4B-F71508C98BC1}" destId="{9F541AB9-B2CE-4953-A7B6-55859ED2731F}" srcOrd="0" destOrd="0" presId="urn:microsoft.com/office/officeart/2005/8/layout/process4"/>
    <dgm:cxn modelId="{CE76B15B-92F0-47D0-8529-5A442229D7E1}" type="presParOf" srcId="{9F541AB9-B2CE-4953-A7B6-55859ED2731F}" destId="{982A5F90-4FA4-4FE0-B6DD-B262770D43B8}" srcOrd="0" destOrd="0" presId="urn:microsoft.com/office/officeart/2005/8/layout/process4"/>
    <dgm:cxn modelId="{FC8C20C3-F4F2-4F71-805A-B1E89784C371}" type="presParOf" srcId="{2CAC85DD-91C0-4E4E-AC4B-F71508C98BC1}" destId="{D992BF46-EC7F-4A11-8BD8-98B57AFC10E0}" srcOrd="1" destOrd="0" presId="urn:microsoft.com/office/officeart/2005/8/layout/process4"/>
    <dgm:cxn modelId="{E7B628BA-64D8-4FDA-BC4A-24E992082F4E}" type="presParOf" srcId="{2CAC85DD-91C0-4E4E-AC4B-F71508C98BC1}" destId="{1B724581-1225-4A5E-89FF-8552E30604EF}" srcOrd="2" destOrd="0" presId="urn:microsoft.com/office/officeart/2005/8/layout/process4"/>
    <dgm:cxn modelId="{03955899-B192-4514-A6DE-E40FF59CF4E5}" type="presParOf" srcId="{1B724581-1225-4A5E-89FF-8552E30604EF}" destId="{4AB06AE3-5A17-45DF-BF01-545AE7BF50B1}" srcOrd="0" destOrd="0" presId="urn:microsoft.com/office/officeart/2005/8/layout/process4"/>
    <dgm:cxn modelId="{1F930C8A-8498-491C-9321-F496674DC612}" type="presParOf" srcId="{2CAC85DD-91C0-4E4E-AC4B-F71508C98BC1}" destId="{639F5ED9-5BB4-4870-9A9C-BB8BF692B8F4}" srcOrd="3" destOrd="0" presId="urn:microsoft.com/office/officeart/2005/8/layout/process4"/>
    <dgm:cxn modelId="{A3738133-91D5-41B3-A323-A635E7CCAB2E}" type="presParOf" srcId="{2CAC85DD-91C0-4E4E-AC4B-F71508C98BC1}" destId="{E9424E1A-72C3-4F03-B6C0-A02C58892A03}" srcOrd="4" destOrd="0" presId="urn:microsoft.com/office/officeart/2005/8/layout/process4"/>
    <dgm:cxn modelId="{2651987A-F912-4D3B-9E1B-4D3E0869160D}" type="presParOf" srcId="{E9424E1A-72C3-4F03-B6C0-A02C58892A03}" destId="{CDFD3AAE-7B99-4FCF-A00C-A2CC8FE1E6C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9B9108-EE13-4034-92CD-7A16D4583CD4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1B15806A-C6CE-4B83-B8F3-32F771F45EBB}">
      <dgm:prSet phldrT="[Текст]" custT="1"/>
      <dgm:spPr/>
      <dgm:t>
        <a:bodyPr/>
        <a:lstStyle/>
        <a:p>
          <a:r>
            <a:rPr lang="ru-RU" sz="2000" b="1" dirty="0">
              <a:latin typeface="+mn-lt"/>
              <a:cs typeface="Arial" panose="020B0604020202020204" pitchFamily="34" charset="0"/>
            </a:rPr>
            <a:t>Рассматривает формирование </a:t>
          </a:r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меновой стоимости как пропорции обмена с позиций производителя</a:t>
          </a:r>
        </a:p>
      </dgm:t>
    </dgm:pt>
    <dgm:pt modelId="{C8670BF1-BDEF-49DF-A586-D20189B12DED}" cxnId="{E987D6FA-1F1C-47B2-BC93-148E7A23C3AE}" type="par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C2B4392C-FEA4-4E4C-9484-455980D7F317}" cxnId="{E987D6FA-1F1C-47B2-BC93-148E7A23C3AE}" type="sib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E338191E-9827-46E0-9E7A-FCFB39B0E49A}">
      <dgm:prSet phldrT="[Текст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dirty="0">
              <a:latin typeface="+mn-lt"/>
              <a:cs typeface="Arial" panose="020B0604020202020204" pitchFamily="34" charset="0"/>
            </a:rPr>
            <a:t>В качестве оснований для пропорций обмена выступает </a:t>
          </a:r>
          <a:r>
            <a:rPr lang="ru-RU" sz="2000" b="1" u="sng" dirty="0">
              <a:latin typeface="+mn-lt"/>
              <a:cs typeface="Arial" panose="020B0604020202020204" pitchFamily="34" charset="0"/>
            </a:rPr>
            <a:t>количество труда</a:t>
          </a:r>
          <a:r>
            <a:rPr lang="ru-RU" sz="2000" b="1" dirty="0">
              <a:latin typeface="+mn-lt"/>
              <a:cs typeface="Arial" panose="020B0604020202020204" pitchFamily="34" charset="0"/>
            </a:rPr>
            <a:t>, затраченного на производство разных товаров</a:t>
          </a:r>
          <a:r>
            <a:rPr sz="6500"/>
            <a:t/>
          </a:r>
          <a:endParaRPr sz="6500"/>
        </a:p>
      </dgm:t>
    </dgm:pt>
    <dgm:pt modelId="{FD86D9F9-5355-4E2C-83FD-918360864FF1}" cxnId="{E3CB0C29-4DF6-4A27-BCBA-C64D39D0FA46}" type="par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C4454433-AF65-4D82-B4E7-B5CEA7B98CC5}" cxnId="{E3CB0C29-4DF6-4A27-BCBA-C64D39D0FA46}" type="sib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2054025D-7F68-4CFD-A152-1C75D09BA53B}">
      <dgm:prSet phldrT="[Текст]" custT="1"/>
      <dgm:spPr/>
      <dgm:t>
        <a:bodyPr/>
        <a:lstStyle/>
        <a:p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Единица измерения труда - время</a:t>
          </a:r>
        </a:p>
      </dgm:t>
    </dgm:pt>
    <dgm:pt modelId="{22F0A005-6A56-4592-AD9B-9A59D8D4603B}" cxnId="{CBCA76A8-412F-430C-9754-4B70AA78EEEE}" type="par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EAF9D84A-C6D2-40A6-BE2F-E22F88BFAD06}" cxnId="{CBCA76A8-412F-430C-9754-4B70AA78EEEE}" type="sib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39306CD0-104E-4119-B759-5CB7DC66AE41}">
      <dgm:prSet phldrT="[Текст]" custT="1"/>
      <dgm:spPr/>
      <dgm:t>
        <a:bodyPr/>
        <a:lstStyle/>
        <a:p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Выделяется живой труд </a:t>
          </a:r>
          <a:r>
            <a:rPr lang="ru-RU" sz="2000" b="1" dirty="0">
              <a:latin typeface="+mn-lt"/>
              <a:cs typeface="Arial" panose="020B0604020202020204" pitchFamily="34" charset="0"/>
            </a:rPr>
            <a:t>(отличается у разных работников) и общественно-необходимый труд (количество труда среднего работника при средней </a:t>
          </a:r>
          <a:r>
            <a:rPr lang="ru-RU" sz="2000" b="1" dirty="0" err="1">
              <a:latin typeface="+mn-lt"/>
              <a:cs typeface="Arial" panose="020B0604020202020204" pitchFamily="34" charset="0"/>
            </a:rPr>
            <a:t>капиталовооруженности</a:t>
          </a:r>
          <a:r>
            <a:rPr lang="ru-RU" sz="2000" b="1" dirty="0">
              <a:latin typeface="+mn-lt"/>
              <a:cs typeface="Arial" panose="020B0604020202020204" pitchFamily="34" charset="0"/>
            </a:rPr>
            <a:t> и средней производительности)</a:t>
          </a:r>
        </a:p>
      </dgm:t>
    </dgm:pt>
    <dgm:pt modelId="{A4223C30-6F22-4A18-AF30-5188CE1501DB}" cxnId="{35459C9D-72B1-4EEF-BD1A-33A845AAFAB4}" type="par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41666D0F-92C2-44EF-B9A0-D17C46832676}" cxnId="{35459C9D-72B1-4EEF-BD1A-33A845AAFAB4}" type="sibTrans">
      <dgm:prSet/>
      <dgm:spPr/>
      <dgm:t>
        <a:bodyPr/>
        <a:lstStyle/>
        <a:p>
          <a:endParaRPr lang="ru-RU" sz="2000" b="1">
            <a:latin typeface="+mn-lt"/>
            <a:cs typeface="Arial" panose="020B0604020202020204" pitchFamily="34" charset="0"/>
          </a:endParaRPr>
        </a:p>
      </dgm:t>
    </dgm:pt>
    <dgm:pt modelId="{CF09C8F4-522A-4E57-BF4C-0041A626BCCB}" type="pres">
      <dgm:prSet presAssocID="{049B9108-EE13-4034-92CD-7A16D4583CD4}" presName="vert0" presStyleCnt="0">
        <dgm:presLayoutVars>
          <dgm:dir/>
          <dgm:animOne val="branch"/>
          <dgm:animLvl val="lvl"/>
        </dgm:presLayoutVars>
      </dgm:prSet>
      <dgm:spPr/>
    </dgm:pt>
    <dgm:pt modelId="{B58B87FB-16D3-4230-AE59-0E6F979BDAD5}" type="pres">
      <dgm:prSet presAssocID="{1B15806A-C6CE-4B83-B8F3-32F771F45EBB}" presName="thickLine" presStyleLbl="alignNode1" presStyleIdx="0" presStyleCnt="4"/>
      <dgm:spPr/>
    </dgm:pt>
    <dgm:pt modelId="{8303286A-F3E0-4ED3-B1BE-9FE12F2A1B02}" type="pres">
      <dgm:prSet presAssocID="{1B15806A-C6CE-4B83-B8F3-32F771F45EBB}" presName="horz1" presStyleCnt="0"/>
      <dgm:spPr/>
    </dgm:pt>
    <dgm:pt modelId="{82F819DF-D388-4EC0-B490-57A1B589F233}" type="pres">
      <dgm:prSet presAssocID="{1B15806A-C6CE-4B83-B8F3-32F771F45EBB}" presName="tx1" presStyleLbl="revTx" presStyleIdx="0" presStyleCnt="4" custScaleY="86946"/>
      <dgm:spPr/>
    </dgm:pt>
    <dgm:pt modelId="{9BF3DD3F-436E-47EE-B316-1405EFCA1A11}" type="pres">
      <dgm:prSet presAssocID="{1B15806A-C6CE-4B83-B8F3-32F771F45EBB}" presName="vert1" presStyleCnt="0"/>
      <dgm:spPr/>
    </dgm:pt>
    <dgm:pt modelId="{8800CD9C-EA28-4114-A5DE-EEC361DE7528}" type="pres">
      <dgm:prSet presAssocID="{E338191E-9827-46E0-9E7A-FCFB39B0E49A}" presName="thickLine" presStyleLbl="alignNode1" presStyleIdx="1" presStyleCnt="4"/>
      <dgm:spPr/>
    </dgm:pt>
    <dgm:pt modelId="{0C46DAF1-4423-47CF-BD24-D6D2395CB91B}" type="pres">
      <dgm:prSet presAssocID="{E338191E-9827-46E0-9E7A-FCFB39B0E49A}" presName="horz1" presStyleCnt="0"/>
      <dgm:spPr/>
    </dgm:pt>
    <dgm:pt modelId="{AC66C11B-68F0-4341-9FE2-E302291055CD}" type="pres">
      <dgm:prSet presAssocID="{E338191E-9827-46E0-9E7A-FCFB39B0E49A}" presName="tx1" presStyleLbl="revTx" presStyleIdx="1" presStyleCnt="4"/>
      <dgm:spPr/>
    </dgm:pt>
    <dgm:pt modelId="{06468750-1368-4DE9-9BB7-E8D8FFCFB97E}" type="pres">
      <dgm:prSet presAssocID="{E338191E-9827-46E0-9E7A-FCFB39B0E49A}" presName="vert1" presStyleCnt="0"/>
      <dgm:spPr/>
    </dgm:pt>
    <dgm:pt modelId="{CAD9482B-C63A-4901-859F-E0795E48D932}" type="pres">
      <dgm:prSet presAssocID="{2054025D-7F68-4CFD-A152-1C75D09BA53B}" presName="thickLine" presStyleLbl="alignNode1" presStyleIdx="2" presStyleCnt="4" custLinFactNeighborX="378" custLinFactNeighborY="-12412"/>
      <dgm:spPr/>
    </dgm:pt>
    <dgm:pt modelId="{D532E2AB-2BC1-4B9F-9DF3-4740A7982E58}" type="pres">
      <dgm:prSet presAssocID="{2054025D-7F68-4CFD-A152-1C75D09BA53B}" presName="horz1" presStyleCnt="0"/>
      <dgm:spPr/>
    </dgm:pt>
    <dgm:pt modelId="{CB62645C-0174-44D3-92BA-139A63A0E89B}" type="pres">
      <dgm:prSet presAssocID="{2054025D-7F68-4CFD-A152-1C75D09BA53B}" presName="tx1" presStyleLbl="revTx" presStyleIdx="2" presStyleCnt="4" custLinFactNeighborX="189" custLinFactNeighborY="-12412"/>
      <dgm:spPr/>
    </dgm:pt>
    <dgm:pt modelId="{A5968494-1EDD-4E5C-BE35-3007FC8C9D71}" type="pres">
      <dgm:prSet presAssocID="{2054025D-7F68-4CFD-A152-1C75D09BA53B}" presName="vert1" presStyleCnt="0"/>
      <dgm:spPr/>
    </dgm:pt>
    <dgm:pt modelId="{01401651-E1AB-4C11-A700-5C45E8C41CA5}" type="pres">
      <dgm:prSet presAssocID="{39306CD0-104E-4119-B759-5CB7DC66AE41}" presName="thickLine" presStyleLbl="alignNode1" presStyleIdx="3" presStyleCnt="4" custLinFactNeighborX="189" custLinFactNeighborY="-75077"/>
      <dgm:spPr/>
    </dgm:pt>
    <dgm:pt modelId="{4AB98292-702B-45DE-9FC2-366E66C8B128}" type="pres">
      <dgm:prSet presAssocID="{39306CD0-104E-4119-B759-5CB7DC66AE41}" presName="horz1" presStyleCnt="0"/>
      <dgm:spPr/>
    </dgm:pt>
    <dgm:pt modelId="{823B972C-DC03-4E88-A9C6-226506638D03}" type="pres">
      <dgm:prSet presAssocID="{39306CD0-104E-4119-B759-5CB7DC66AE41}" presName="tx1" presStyleLbl="revTx" presStyleIdx="3" presStyleCnt="4" custLinFactNeighborX="378" custLinFactNeighborY="-70337"/>
      <dgm:spPr/>
    </dgm:pt>
    <dgm:pt modelId="{B07C1B5F-34E0-405B-B499-2C246DAE3E72}" type="pres">
      <dgm:prSet presAssocID="{39306CD0-104E-4119-B759-5CB7DC66AE41}" presName="vert1" presStyleCnt="0"/>
      <dgm:spPr/>
    </dgm:pt>
  </dgm:ptLst>
  <dgm:cxnLst>
    <dgm:cxn modelId="{E987D6FA-1F1C-47B2-BC93-148E7A23C3AE}" srcId="{049B9108-EE13-4034-92CD-7A16D4583CD4}" destId="{1B15806A-C6CE-4B83-B8F3-32F771F45EBB}" srcOrd="0" destOrd="0" parTransId="{C8670BF1-BDEF-49DF-A586-D20189B12DED}" sibTransId="{C2B4392C-FEA4-4E4C-9484-455980D7F317}"/>
    <dgm:cxn modelId="{E3CB0C29-4DF6-4A27-BCBA-C64D39D0FA46}" srcId="{049B9108-EE13-4034-92CD-7A16D4583CD4}" destId="{E338191E-9827-46E0-9E7A-FCFB39B0E49A}" srcOrd="1" destOrd="0" parTransId="{FD86D9F9-5355-4E2C-83FD-918360864FF1}" sibTransId="{C4454433-AF65-4D82-B4E7-B5CEA7B98CC5}"/>
    <dgm:cxn modelId="{CBCA76A8-412F-430C-9754-4B70AA78EEEE}" srcId="{049B9108-EE13-4034-92CD-7A16D4583CD4}" destId="{2054025D-7F68-4CFD-A152-1C75D09BA53B}" srcOrd="2" destOrd="0" parTransId="{22F0A005-6A56-4592-AD9B-9A59D8D4603B}" sibTransId="{EAF9D84A-C6D2-40A6-BE2F-E22F88BFAD06}"/>
    <dgm:cxn modelId="{35459C9D-72B1-4EEF-BD1A-33A845AAFAB4}" srcId="{049B9108-EE13-4034-92CD-7A16D4583CD4}" destId="{39306CD0-104E-4119-B759-5CB7DC66AE41}" srcOrd="3" destOrd="0" parTransId="{A4223C30-6F22-4A18-AF30-5188CE1501DB}" sibTransId="{41666D0F-92C2-44EF-B9A0-D17C46832676}"/>
    <dgm:cxn modelId="{D390B647-8D5D-4F52-BB86-0473066B1395}" type="presOf" srcId="{049B9108-EE13-4034-92CD-7A16D4583CD4}" destId="{CF09C8F4-522A-4E57-BF4C-0041A626BCCB}" srcOrd="0" destOrd="0" presId="urn:microsoft.com/office/officeart/2008/layout/LinedList"/>
    <dgm:cxn modelId="{7B1A378C-F327-4646-B8F9-97A22E850719}" type="presParOf" srcId="{CF09C8F4-522A-4E57-BF4C-0041A626BCCB}" destId="{B58B87FB-16D3-4230-AE59-0E6F979BDAD5}" srcOrd="0" destOrd="0" presId="urn:microsoft.com/office/officeart/2008/layout/LinedList"/>
    <dgm:cxn modelId="{6D8B2C2A-DB8A-4AD3-92AA-18312A5E326C}" type="presParOf" srcId="{CF09C8F4-522A-4E57-BF4C-0041A626BCCB}" destId="{8303286A-F3E0-4ED3-B1BE-9FE12F2A1B02}" srcOrd="1" destOrd="0" presId="urn:microsoft.com/office/officeart/2008/layout/LinedList"/>
    <dgm:cxn modelId="{33003C78-ED41-494F-91D3-0895FD999FBA}" type="presParOf" srcId="{8303286A-F3E0-4ED3-B1BE-9FE12F2A1B02}" destId="{82F819DF-D388-4EC0-B490-57A1B589F233}" srcOrd="0" destOrd="1" presId="urn:microsoft.com/office/officeart/2008/layout/LinedList"/>
    <dgm:cxn modelId="{25808530-1910-4644-87DE-4D2915C7F94C}" type="presOf" srcId="{1B15806A-C6CE-4B83-B8F3-32F771F45EBB}" destId="{82F819DF-D388-4EC0-B490-57A1B589F233}" srcOrd="0" destOrd="0" presId="urn:microsoft.com/office/officeart/2008/layout/LinedList"/>
    <dgm:cxn modelId="{3D21DFE3-673E-4A44-8E29-31541B0A00FD}" type="presParOf" srcId="{8303286A-F3E0-4ED3-B1BE-9FE12F2A1B02}" destId="{9BF3DD3F-436E-47EE-B316-1405EFCA1A11}" srcOrd="1" destOrd="1" presId="urn:microsoft.com/office/officeart/2008/layout/LinedList"/>
    <dgm:cxn modelId="{D76067AB-2E52-4458-BEAC-E9F7C3FE10DC}" type="presParOf" srcId="{CF09C8F4-522A-4E57-BF4C-0041A626BCCB}" destId="{8800CD9C-EA28-4114-A5DE-EEC361DE7528}" srcOrd="2" destOrd="0" presId="urn:microsoft.com/office/officeart/2008/layout/LinedList"/>
    <dgm:cxn modelId="{42C15C96-FACF-480E-BD0E-EE2EDBD68028}" type="presParOf" srcId="{CF09C8F4-522A-4E57-BF4C-0041A626BCCB}" destId="{0C46DAF1-4423-47CF-BD24-D6D2395CB91B}" srcOrd="3" destOrd="0" presId="urn:microsoft.com/office/officeart/2008/layout/LinedList"/>
    <dgm:cxn modelId="{94E7EFF9-3134-4DF6-9095-03823CF670AD}" type="presParOf" srcId="{0C46DAF1-4423-47CF-BD24-D6D2395CB91B}" destId="{AC66C11B-68F0-4341-9FE2-E302291055CD}" srcOrd="0" destOrd="3" presId="urn:microsoft.com/office/officeart/2008/layout/LinedList"/>
    <dgm:cxn modelId="{9B258DD2-BCE5-4652-808D-F7FFF6F20D78}" type="presOf" srcId="{E338191E-9827-46E0-9E7A-FCFB39B0E49A}" destId="{AC66C11B-68F0-4341-9FE2-E302291055CD}" srcOrd="0" destOrd="0" presId="urn:microsoft.com/office/officeart/2008/layout/LinedList"/>
    <dgm:cxn modelId="{F99CD68D-955C-4EBB-8FB8-4E0ABDAA30B7}" type="presParOf" srcId="{0C46DAF1-4423-47CF-BD24-D6D2395CB91B}" destId="{06468750-1368-4DE9-9BB7-E8D8FFCFB97E}" srcOrd="1" destOrd="3" presId="urn:microsoft.com/office/officeart/2008/layout/LinedList"/>
    <dgm:cxn modelId="{7E2D6A82-BF83-46B3-8BA6-689BA0312330}" type="presParOf" srcId="{CF09C8F4-522A-4E57-BF4C-0041A626BCCB}" destId="{CAD9482B-C63A-4901-859F-E0795E48D932}" srcOrd="4" destOrd="0" presId="urn:microsoft.com/office/officeart/2008/layout/LinedList"/>
    <dgm:cxn modelId="{980019CE-FACA-458F-9E51-7E3618BCDD0E}" type="presParOf" srcId="{CF09C8F4-522A-4E57-BF4C-0041A626BCCB}" destId="{D532E2AB-2BC1-4B9F-9DF3-4740A7982E58}" srcOrd="5" destOrd="0" presId="urn:microsoft.com/office/officeart/2008/layout/LinedList"/>
    <dgm:cxn modelId="{7982F58A-C63D-4874-8239-D1EA8B144E78}" type="presParOf" srcId="{D532E2AB-2BC1-4B9F-9DF3-4740A7982E58}" destId="{CB62645C-0174-44D3-92BA-139A63A0E89B}" srcOrd="0" destOrd="5" presId="urn:microsoft.com/office/officeart/2008/layout/LinedList"/>
    <dgm:cxn modelId="{E06062F6-A816-4F05-A410-986B37502415}" type="presOf" srcId="{2054025D-7F68-4CFD-A152-1C75D09BA53B}" destId="{CB62645C-0174-44D3-92BA-139A63A0E89B}" srcOrd="0" destOrd="0" presId="urn:microsoft.com/office/officeart/2008/layout/LinedList"/>
    <dgm:cxn modelId="{C0380DD1-3188-4F42-9637-D15C86DECA99}" type="presParOf" srcId="{D532E2AB-2BC1-4B9F-9DF3-4740A7982E58}" destId="{A5968494-1EDD-4E5C-BE35-3007FC8C9D71}" srcOrd="1" destOrd="5" presId="urn:microsoft.com/office/officeart/2008/layout/LinedList"/>
    <dgm:cxn modelId="{77A0B60D-76F9-4BF2-8C13-ADDC832D5400}" type="presParOf" srcId="{CF09C8F4-522A-4E57-BF4C-0041A626BCCB}" destId="{01401651-E1AB-4C11-A700-5C45E8C41CA5}" srcOrd="6" destOrd="0" presId="urn:microsoft.com/office/officeart/2008/layout/LinedList"/>
    <dgm:cxn modelId="{BF50E39A-E97D-4EEC-8427-FDF39C17AABD}" type="presParOf" srcId="{CF09C8F4-522A-4E57-BF4C-0041A626BCCB}" destId="{4AB98292-702B-45DE-9FC2-366E66C8B128}" srcOrd="7" destOrd="0" presId="urn:microsoft.com/office/officeart/2008/layout/LinedList"/>
    <dgm:cxn modelId="{5E6E4F8F-DD5D-46D2-A406-440F2DE7672F}" type="presParOf" srcId="{4AB98292-702B-45DE-9FC2-366E66C8B128}" destId="{823B972C-DC03-4E88-A9C6-226506638D03}" srcOrd="0" destOrd="7" presId="urn:microsoft.com/office/officeart/2008/layout/LinedList"/>
    <dgm:cxn modelId="{AAEE26F2-700A-420D-ACCE-045F66DC34F2}" type="presOf" srcId="{39306CD0-104E-4119-B759-5CB7DC66AE41}" destId="{823B972C-DC03-4E88-A9C6-226506638D03}" srcOrd="0" destOrd="0" presId="urn:microsoft.com/office/officeart/2008/layout/LinedList"/>
    <dgm:cxn modelId="{70AEAE88-C411-4EBB-824C-6D0CA9EA1B10}" type="presParOf" srcId="{4AB98292-702B-45DE-9FC2-366E66C8B128}" destId="{B07C1B5F-34E0-405B-B499-2C246DAE3E72}" srcOrd="1" destOrd="7" presId="urn:microsoft.com/office/officeart/2008/layout/LinedList"/>
  </dgm:cxnLst>
  <dgm:bg>
    <a:solidFill>
      <a:srgbClr val="EAF2FA"/>
    </a:solidFill>
  </dgm:bg>
  <dgm:whole>
    <a:ln>
      <a:solidFill>
        <a:srgbClr val="000099"/>
      </a:solidFill>
    </a:ln>
  </dgm:whole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9B9108-EE13-4034-92CD-7A16D4583CD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B15806A-C6CE-4B83-B8F3-32F771F45EBB}">
      <dgm:prSet phldrT="[Текст]" custT="1"/>
      <dgm:spPr/>
      <dgm:t>
        <a:bodyPr/>
        <a:lstStyle/>
        <a:p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Рассматривает формирование </a:t>
          </a:r>
          <a:r>
            <a:rPr lang="ru-RU" sz="2400" b="1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меновой стоимости как пропорции обмена с позиций потребителя </a:t>
          </a:r>
          <a:r>
            <a:rPr lang="ru-RU" sz="2400" b="1" dirty="0">
              <a:solidFill>
                <a:srgbClr val="FF0000"/>
              </a:solidFill>
              <a:latin typeface="+mn-lt"/>
              <a:cs typeface="Arial" panose="020B0604020202020204" pitchFamily="34" charset="0"/>
            </a:rPr>
            <a:t>«маржинальный переворот»</a:t>
          </a:r>
        </a:p>
      </dgm:t>
    </dgm:pt>
    <dgm:pt modelId="{C8670BF1-BDEF-49DF-A586-D20189B12DED}" cxnId="{5EC3F140-1A4A-441C-8512-D198284E1E68}" type="parTrans">
      <dgm:prSet/>
      <dgm:spPr/>
      <dgm:t>
        <a:bodyPr/>
        <a:lstStyle/>
        <a:p>
          <a:endParaRPr lang="ru-RU">
            <a:solidFill>
              <a:srgbClr val="000099"/>
            </a:solidFill>
            <a:latin typeface="+mn-lt"/>
            <a:cs typeface="Arial" panose="020B0604020202020204" pitchFamily="34" charset="0"/>
          </a:endParaRPr>
        </a:p>
      </dgm:t>
    </dgm:pt>
    <dgm:pt modelId="{C2B4392C-FEA4-4E4C-9484-455980D7F317}" cxnId="{5EC3F140-1A4A-441C-8512-D198284E1E68}" type="sibTrans">
      <dgm:prSet/>
      <dgm:spPr/>
      <dgm:t>
        <a:bodyPr/>
        <a:lstStyle/>
        <a:p>
          <a:endParaRPr lang="ru-RU">
            <a:solidFill>
              <a:srgbClr val="000099"/>
            </a:solidFill>
            <a:latin typeface="+mn-lt"/>
            <a:cs typeface="Arial" panose="020B0604020202020204" pitchFamily="34" charset="0"/>
          </a:endParaRPr>
        </a:p>
      </dgm:t>
    </dgm:pt>
    <dgm:pt modelId="{E338191E-9827-46E0-9E7A-FCFB39B0E49A}">
      <dgm:prSet phldrT="[Текст]" custT="1"/>
      <dgm:spPr/>
      <dgm:t>
        <a:bodyPr/>
        <a:lstStyle/>
        <a:p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В качестве оснований </a:t>
          </a:r>
          <a:r>
            <a:rPr lang="ru-RU" sz="25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для</a:t>
          </a:r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 </a:t>
          </a:r>
          <a:r>
            <a:rPr lang="ru-RU" sz="2400" b="1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пропорций обмена выступает субъективно оцениваемая полезность товара</a:t>
          </a:r>
        </a:p>
      </dgm:t>
    </dgm:pt>
    <dgm:pt modelId="{FD86D9F9-5355-4E2C-83FD-918360864FF1}" cxnId="{0A9F96C4-8854-4BF2-8E9B-A246EDBA70AF}" type="parTrans">
      <dgm:prSet/>
      <dgm:spPr/>
      <dgm:t>
        <a:bodyPr/>
        <a:lstStyle/>
        <a:p>
          <a:endParaRPr lang="ru-RU">
            <a:solidFill>
              <a:srgbClr val="000099"/>
            </a:solidFill>
            <a:latin typeface="+mn-lt"/>
            <a:cs typeface="Arial" panose="020B0604020202020204" pitchFamily="34" charset="0"/>
          </a:endParaRPr>
        </a:p>
      </dgm:t>
    </dgm:pt>
    <dgm:pt modelId="{C4454433-AF65-4D82-B4E7-B5CEA7B98CC5}" cxnId="{0A9F96C4-8854-4BF2-8E9B-A246EDBA70AF}" type="sibTrans">
      <dgm:prSet/>
      <dgm:spPr/>
      <dgm:t>
        <a:bodyPr/>
        <a:lstStyle/>
        <a:p>
          <a:endParaRPr lang="ru-RU">
            <a:solidFill>
              <a:srgbClr val="000099"/>
            </a:solidFill>
            <a:latin typeface="+mn-lt"/>
            <a:cs typeface="Arial" panose="020B0604020202020204" pitchFamily="34" charset="0"/>
          </a:endParaRPr>
        </a:p>
      </dgm:t>
    </dgm:pt>
    <dgm:pt modelId="{CF09C8F4-522A-4E57-BF4C-0041A626BCCB}" type="pres">
      <dgm:prSet presAssocID="{049B9108-EE13-4034-92CD-7A16D4583CD4}" presName="vert0" presStyleCnt="0">
        <dgm:presLayoutVars>
          <dgm:dir/>
          <dgm:animOne val="branch"/>
          <dgm:animLvl val="lvl"/>
        </dgm:presLayoutVars>
      </dgm:prSet>
      <dgm:spPr/>
    </dgm:pt>
    <dgm:pt modelId="{B58B87FB-16D3-4230-AE59-0E6F979BDAD5}" type="pres">
      <dgm:prSet presAssocID="{1B15806A-C6CE-4B83-B8F3-32F771F45EBB}" presName="thickLine" presStyleLbl="alignNode1" presStyleIdx="0" presStyleCnt="2"/>
      <dgm:spPr/>
    </dgm:pt>
    <dgm:pt modelId="{8303286A-F3E0-4ED3-B1BE-9FE12F2A1B02}" type="pres">
      <dgm:prSet presAssocID="{1B15806A-C6CE-4B83-B8F3-32F771F45EBB}" presName="horz1" presStyleCnt="0"/>
      <dgm:spPr/>
    </dgm:pt>
    <dgm:pt modelId="{82F819DF-D388-4EC0-B490-57A1B589F233}" type="pres">
      <dgm:prSet presAssocID="{1B15806A-C6CE-4B83-B8F3-32F771F45EBB}" presName="tx1" presStyleLbl="revTx" presStyleIdx="0" presStyleCnt="2" custScaleY="139102" custLinFactNeighborX="-114" custLinFactNeighborY="-4953"/>
      <dgm:spPr/>
    </dgm:pt>
    <dgm:pt modelId="{9BF3DD3F-436E-47EE-B316-1405EFCA1A11}" type="pres">
      <dgm:prSet presAssocID="{1B15806A-C6CE-4B83-B8F3-32F771F45EBB}" presName="vert1" presStyleCnt="0"/>
      <dgm:spPr/>
    </dgm:pt>
    <dgm:pt modelId="{8800CD9C-EA28-4114-A5DE-EEC361DE7528}" type="pres">
      <dgm:prSet presAssocID="{E338191E-9827-46E0-9E7A-FCFB39B0E49A}" presName="thickLine" presStyleLbl="alignNode1" presStyleIdx="1" presStyleCnt="2" custLinFactNeighborX="-291" custLinFactNeighborY="-7779"/>
      <dgm:spPr/>
    </dgm:pt>
    <dgm:pt modelId="{0C46DAF1-4423-47CF-BD24-D6D2395CB91B}" type="pres">
      <dgm:prSet presAssocID="{E338191E-9827-46E0-9E7A-FCFB39B0E49A}" presName="horz1" presStyleCnt="0"/>
      <dgm:spPr/>
    </dgm:pt>
    <dgm:pt modelId="{AC66C11B-68F0-4341-9FE2-E302291055CD}" type="pres">
      <dgm:prSet presAssocID="{E338191E-9827-46E0-9E7A-FCFB39B0E49A}" presName="tx1" presStyleLbl="revTx" presStyleIdx="1" presStyleCnt="2" custScaleY="145335" custLinFactNeighborX="-228" custLinFactNeighborY="36326"/>
      <dgm:spPr/>
    </dgm:pt>
    <dgm:pt modelId="{06468750-1368-4DE9-9BB7-E8D8FFCFB97E}" type="pres">
      <dgm:prSet presAssocID="{E338191E-9827-46E0-9E7A-FCFB39B0E49A}" presName="vert1" presStyleCnt="0"/>
      <dgm:spPr/>
    </dgm:pt>
  </dgm:ptLst>
  <dgm:cxnLst>
    <dgm:cxn modelId="{5EC3F140-1A4A-441C-8512-D198284E1E68}" srcId="{049B9108-EE13-4034-92CD-7A16D4583CD4}" destId="{1B15806A-C6CE-4B83-B8F3-32F771F45EBB}" srcOrd="0" destOrd="0" parTransId="{C8670BF1-BDEF-49DF-A586-D20189B12DED}" sibTransId="{C2B4392C-FEA4-4E4C-9484-455980D7F317}"/>
    <dgm:cxn modelId="{BB22F84B-AF2D-42FA-8AA2-02D53AD9FA36}" type="presOf" srcId="{049B9108-EE13-4034-92CD-7A16D4583CD4}" destId="{CF09C8F4-522A-4E57-BF4C-0041A626BCCB}" srcOrd="0" destOrd="0" presId="urn:microsoft.com/office/officeart/2008/layout/LinedList"/>
    <dgm:cxn modelId="{0A9F96C4-8854-4BF2-8E9B-A246EDBA70AF}" srcId="{049B9108-EE13-4034-92CD-7A16D4583CD4}" destId="{E338191E-9827-46E0-9E7A-FCFB39B0E49A}" srcOrd="1" destOrd="0" parTransId="{FD86D9F9-5355-4E2C-83FD-918360864FF1}" sibTransId="{C4454433-AF65-4D82-B4E7-B5CEA7B98CC5}"/>
    <dgm:cxn modelId="{A6AE57DB-5655-4306-A68C-66CCE4F54F08}" type="presOf" srcId="{E338191E-9827-46E0-9E7A-FCFB39B0E49A}" destId="{AC66C11B-68F0-4341-9FE2-E302291055CD}" srcOrd="0" destOrd="0" presId="urn:microsoft.com/office/officeart/2008/layout/LinedList"/>
    <dgm:cxn modelId="{07CE8AEB-CC96-4D27-8BF6-A1B6C38B1689}" type="presOf" srcId="{1B15806A-C6CE-4B83-B8F3-32F771F45EBB}" destId="{82F819DF-D388-4EC0-B490-57A1B589F233}" srcOrd="0" destOrd="0" presId="urn:microsoft.com/office/officeart/2008/layout/LinedList"/>
    <dgm:cxn modelId="{BF40713A-EF67-4A7D-9544-2FDC4717E10C}" type="presParOf" srcId="{CF09C8F4-522A-4E57-BF4C-0041A626BCCB}" destId="{B58B87FB-16D3-4230-AE59-0E6F979BDAD5}" srcOrd="0" destOrd="0" presId="urn:microsoft.com/office/officeart/2008/layout/LinedList"/>
    <dgm:cxn modelId="{466B59CB-F1A1-457E-8C35-48603597A50B}" type="presParOf" srcId="{CF09C8F4-522A-4E57-BF4C-0041A626BCCB}" destId="{8303286A-F3E0-4ED3-B1BE-9FE12F2A1B02}" srcOrd="1" destOrd="0" presId="urn:microsoft.com/office/officeart/2008/layout/LinedList"/>
    <dgm:cxn modelId="{BACC07F6-AF32-4C6E-BAD6-2CC4936FD1DA}" type="presParOf" srcId="{8303286A-F3E0-4ED3-B1BE-9FE12F2A1B02}" destId="{82F819DF-D388-4EC0-B490-57A1B589F233}" srcOrd="0" destOrd="0" presId="urn:microsoft.com/office/officeart/2008/layout/LinedList"/>
    <dgm:cxn modelId="{15DCC619-8399-4CEC-8872-203DE8D607D0}" type="presParOf" srcId="{8303286A-F3E0-4ED3-B1BE-9FE12F2A1B02}" destId="{9BF3DD3F-436E-47EE-B316-1405EFCA1A11}" srcOrd="1" destOrd="0" presId="urn:microsoft.com/office/officeart/2008/layout/LinedList"/>
    <dgm:cxn modelId="{59316B73-549A-4C0D-8405-8B9994DD8945}" type="presParOf" srcId="{CF09C8F4-522A-4E57-BF4C-0041A626BCCB}" destId="{8800CD9C-EA28-4114-A5DE-EEC361DE7528}" srcOrd="2" destOrd="0" presId="urn:microsoft.com/office/officeart/2008/layout/LinedList"/>
    <dgm:cxn modelId="{10D60F57-42C7-4B6D-9E7B-59C8DB9D5D39}" type="presParOf" srcId="{CF09C8F4-522A-4E57-BF4C-0041A626BCCB}" destId="{0C46DAF1-4423-47CF-BD24-D6D2395CB91B}" srcOrd="3" destOrd="0" presId="urn:microsoft.com/office/officeart/2008/layout/LinedList"/>
    <dgm:cxn modelId="{553DE146-7FCA-4A8F-8FD8-84F36ECFE67B}" type="presParOf" srcId="{0C46DAF1-4423-47CF-BD24-D6D2395CB91B}" destId="{AC66C11B-68F0-4341-9FE2-E302291055CD}" srcOrd="0" destOrd="0" presId="urn:microsoft.com/office/officeart/2008/layout/LinedList"/>
    <dgm:cxn modelId="{293E2AF5-1430-44FE-9BF1-049A81C4FC89}" type="presParOf" srcId="{0C46DAF1-4423-47CF-BD24-D6D2395CB91B}" destId="{06468750-1368-4DE9-9BB7-E8D8FFCFB97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9EDBCBE-E48A-418E-8C21-E3D36D890E1D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ru-RU"/>
        </a:p>
      </dgm:t>
    </dgm:pt>
    <dgm:pt modelId="{C9B3D2FF-8A0B-465A-B1AC-7F412347D5C2}">
      <dgm:prSet phldrT="[Текст]" custT="1"/>
      <dgm:spPr/>
      <dgm:t>
        <a:bodyPr/>
        <a:lstStyle/>
        <a:p>
          <a:r>
            <a:rPr lang="ru-RU" sz="2000" dirty="0">
              <a:latin typeface="Arial" panose="020B0604020202020204" pitchFamily="34" charset="0"/>
              <a:cs typeface="Arial" panose="020B0604020202020204" pitchFamily="34" charset="0"/>
            </a:rPr>
            <a:t>Полезность товара</a:t>
          </a:r>
        </a:p>
      </dgm:t>
    </dgm:pt>
    <dgm:pt modelId="{26A2B9FB-0433-4993-82BF-AAE7D65E13F3}" cxnId="{50CEE280-FE06-40D9-8C48-DDE553EEE33D}" type="par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B05973-D5D5-40BE-B5E8-9A9DD72C93CC}" cxnId="{50CEE280-FE06-40D9-8C48-DDE553EEE33D}" type="sib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1AA5AA-7980-469E-AC8D-BDEC436B4710}">
      <dgm:prSet phldrT="[Текст]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Родовая полезность </a:t>
          </a:r>
        </a:p>
      </dgm:t>
    </dgm:pt>
    <dgm:pt modelId="{D622E8D1-DD7D-41DB-8037-AF1A9FDC1938}" cxnId="{71E1EB03-C617-470D-A422-034C5542946A}" type="par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B8D08F-3FE7-4A51-AA60-8FD1A637C0B3}" cxnId="{71E1EB03-C617-470D-A422-034C5542946A}" type="sib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BBBB56-9A36-4024-AE80-F95F1AAF1ECC}">
      <dgm:prSet phldrT="[Текст]"/>
      <dgm:spPr/>
      <dgm:t>
        <a:bodyPr/>
        <a:lstStyle/>
        <a:p>
          <a:r>
            <a:rPr lang="ru-RU" dirty="0">
              <a:latin typeface="Arial" panose="020B0604020202020204" pitchFamily="34" charset="0"/>
              <a:cs typeface="Arial" panose="020B0604020202020204" pitchFamily="34" charset="0"/>
            </a:rPr>
            <a:t>Предельная полезность</a:t>
          </a:r>
        </a:p>
      </dgm:t>
    </dgm:pt>
    <dgm:pt modelId="{D991B136-43CF-492C-AFE2-163D11C556DB}" cxnId="{9A298675-6DB6-4747-9A96-4B6E7B3187D9}" type="sib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27AA49D-2C65-42CC-A517-30EA1075F21B}" cxnId="{9A298675-6DB6-4747-9A96-4B6E7B3187D9}" type="parTrans">
      <dgm:prSet/>
      <dgm:spPr/>
      <dgm:t>
        <a:bodyPr/>
        <a:lstStyle/>
        <a:p>
          <a:endParaRPr lang="ru-RU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F491C1-48EC-46F9-A324-21DB1A9C1FF2}" type="pres">
      <dgm:prSet presAssocID="{29EDBCBE-E48A-418E-8C21-E3D36D890E1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7736F68-106B-431E-96AA-5FDD9151742B}" type="pres">
      <dgm:prSet presAssocID="{C9B3D2FF-8A0B-465A-B1AC-7F412347D5C2}" presName="hierRoot1" presStyleCnt="0"/>
      <dgm:spPr/>
    </dgm:pt>
    <dgm:pt modelId="{42B29B38-145E-468D-A3F6-B155F531305B}" type="pres">
      <dgm:prSet presAssocID="{C9B3D2FF-8A0B-465A-B1AC-7F412347D5C2}" presName="composite" presStyleCnt="0"/>
      <dgm:spPr/>
    </dgm:pt>
    <dgm:pt modelId="{FB1C4B7B-864D-404B-A6EB-2FABD0D3A972}" type="pres">
      <dgm:prSet presAssocID="{C9B3D2FF-8A0B-465A-B1AC-7F412347D5C2}" presName="background" presStyleLbl="node0" presStyleIdx="0" presStyleCnt="1"/>
      <dgm:spPr/>
    </dgm:pt>
    <dgm:pt modelId="{E233C661-A4DF-4113-AC4E-7FC8C040CCFF}" type="pres">
      <dgm:prSet presAssocID="{C9B3D2FF-8A0B-465A-B1AC-7F412347D5C2}" presName="text" presStyleLbl="fgAcc0" presStyleIdx="0" presStyleCnt="1" custScaleX="285265">
        <dgm:presLayoutVars>
          <dgm:chPref val="3"/>
        </dgm:presLayoutVars>
      </dgm:prSet>
      <dgm:spPr/>
    </dgm:pt>
    <dgm:pt modelId="{FF0DF962-84C7-4238-997F-2D622E3FD30D}" type="pres">
      <dgm:prSet presAssocID="{C9B3D2FF-8A0B-465A-B1AC-7F412347D5C2}" presName="hierChild2" presStyleCnt="0"/>
      <dgm:spPr/>
    </dgm:pt>
    <dgm:pt modelId="{F28380D9-90AF-48F9-AE7A-12AEA2BD29FB}" type="pres">
      <dgm:prSet presAssocID="{D622E8D1-DD7D-41DB-8037-AF1A9FDC1938}" presName="Name10" presStyleLbl="parChTrans1D2" presStyleIdx="0" presStyleCnt="2"/>
      <dgm:spPr/>
    </dgm:pt>
    <dgm:pt modelId="{4FD39B02-78FB-4289-A363-7BD11C342E12}" type="pres">
      <dgm:prSet presAssocID="{381AA5AA-7980-469E-AC8D-BDEC436B4710}" presName="hierRoot2" presStyleCnt="0"/>
      <dgm:spPr/>
    </dgm:pt>
    <dgm:pt modelId="{A0F4972A-9A24-4381-B457-5F2E39152860}" type="pres">
      <dgm:prSet presAssocID="{381AA5AA-7980-469E-AC8D-BDEC436B4710}" presName="composite2" presStyleCnt="0"/>
      <dgm:spPr/>
    </dgm:pt>
    <dgm:pt modelId="{564EFFFF-756D-4E27-ABD9-10F6B58DCEE8}" type="pres">
      <dgm:prSet presAssocID="{381AA5AA-7980-469E-AC8D-BDEC436B4710}" presName="background2" presStyleLbl="node2" presStyleIdx="0" presStyleCnt="2"/>
      <dgm:spPr/>
    </dgm:pt>
    <dgm:pt modelId="{990F50DB-4248-4E2B-937C-4AC4AD02B025}" type="pres">
      <dgm:prSet presAssocID="{381AA5AA-7980-469E-AC8D-BDEC436B4710}" presName="text2" presStyleLbl="fgAcc2" presStyleIdx="0" presStyleCnt="2" custScaleX="322045">
        <dgm:presLayoutVars>
          <dgm:chPref val="3"/>
        </dgm:presLayoutVars>
      </dgm:prSet>
      <dgm:spPr/>
    </dgm:pt>
    <dgm:pt modelId="{F14E888D-6F39-4F37-96F8-2E916DD00FF2}" type="pres">
      <dgm:prSet presAssocID="{381AA5AA-7980-469E-AC8D-BDEC436B4710}" presName="hierChild3" presStyleCnt="0"/>
      <dgm:spPr/>
    </dgm:pt>
    <dgm:pt modelId="{29B0FD90-67BD-463F-ACD9-D1ED6A6DED52}" type="pres">
      <dgm:prSet presAssocID="{627AA49D-2C65-42CC-A517-30EA1075F21B}" presName="Name10" presStyleLbl="parChTrans1D2" presStyleIdx="1" presStyleCnt="2"/>
      <dgm:spPr/>
    </dgm:pt>
    <dgm:pt modelId="{4B10961F-132F-4340-921F-85D005CAE44F}" type="pres">
      <dgm:prSet presAssocID="{3BBBBB56-9A36-4024-AE80-F95F1AAF1ECC}" presName="hierRoot2" presStyleCnt="0"/>
      <dgm:spPr/>
    </dgm:pt>
    <dgm:pt modelId="{C845E8A1-28F6-4D6F-9BFE-543BA7BA5611}" type="pres">
      <dgm:prSet presAssocID="{3BBBBB56-9A36-4024-AE80-F95F1AAF1ECC}" presName="composite2" presStyleCnt="0"/>
      <dgm:spPr/>
    </dgm:pt>
    <dgm:pt modelId="{C5801070-456B-4E4F-A1D0-8DE264983D47}" type="pres">
      <dgm:prSet presAssocID="{3BBBBB56-9A36-4024-AE80-F95F1AAF1ECC}" presName="background2" presStyleLbl="node2" presStyleIdx="1" presStyleCnt="2"/>
      <dgm:spPr/>
    </dgm:pt>
    <dgm:pt modelId="{6624C61A-BF33-489D-8203-C0C82E2825FA}" type="pres">
      <dgm:prSet presAssocID="{3BBBBB56-9A36-4024-AE80-F95F1AAF1ECC}" presName="text2" presStyleLbl="fgAcc2" presStyleIdx="1" presStyleCnt="2" custScaleX="315324">
        <dgm:presLayoutVars>
          <dgm:chPref val="3"/>
        </dgm:presLayoutVars>
      </dgm:prSet>
      <dgm:spPr/>
    </dgm:pt>
    <dgm:pt modelId="{EE946FEF-D6B1-4F4C-B1A6-44A8656B3A05}" type="pres">
      <dgm:prSet presAssocID="{3BBBBB56-9A36-4024-AE80-F95F1AAF1ECC}" presName="hierChild3" presStyleCnt="0"/>
      <dgm:spPr/>
    </dgm:pt>
  </dgm:ptLst>
  <dgm:cxnLst>
    <dgm:cxn modelId="{71E1EB03-C617-470D-A422-034C5542946A}" srcId="{C9B3D2FF-8A0B-465A-B1AC-7F412347D5C2}" destId="{381AA5AA-7980-469E-AC8D-BDEC436B4710}" srcOrd="0" destOrd="0" parTransId="{D622E8D1-DD7D-41DB-8037-AF1A9FDC1938}" sibTransId="{22B8D08F-3FE7-4A51-AA60-8FD1A637C0B3}"/>
    <dgm:cxn modelId="{733D2E07-706A-42CA-87C3-A8EBC899B994}" type="presOf" srcId="{627AA49D-2C65-42CC-A517-30EA1075F21B}" destId="{29B0FD90-67BD-463F-ACD9-D1ED6A6DED52}" srcOrd="0" destOrd="0" presId="urn:microsoft.com/office/officeart/2005/8/layout/hierarchy1"/>
    <dgm:cxn modelId="{4853BC6E-7A93-4985-8076-1514F7A0C58B}" type="presOf" srcId="{D622E8D1-DD7D-41DB-8037-AF1A9FDC1938}" destId="{F28380D9-90AF-48F9-AE7A-12AEA2BD29FB}" srcOrd="0" destOrd="0" presId="urn:microsoft.com/office/officeart/2005/8/layout/hierarchy1"/>
    <dgm:cxn modelId="{4A447D71-64DA-4C1B-A6BF-C894DBAD5063}" type="presOf" srcId="{381AA5AA-7980-469E-AC8D-BDEC436B4710}" destId="{990F50DB-4248-4E2B-937C-4AC4AD02B025}" srcOrd="0" destOrd="0" presId="urn:microsoft.com/office/officeart/2005/8/layout/hierarchy1"/>
    <dgm:cxn modelId="{596EA952-E36C-435B-9BB1-CC73313B1990}" type="presOf" srcId="{29EDBCBE-E48A-418E-8C21-E3D36D890E1D}" destId="{43F491C1-48EC-46F9-A324-21DB1A9C1FF2}" srcOrd="0" destOrd="0" presId="urn:microsoft.com/office/officeart/2005/8/layout/hierarchy1"/>
    <dgm:cxn modelId="{9A298675-6DB6-4747-9A96-4B6E7B3187D9}" srcId="{C9B3D2FF-8A0B-465A-B1AC-7F412347D5C2}" destId="{3BBBBB56-9A36-4024-AE80-F95F1AAF1ECC}" srcOrd="1" destOrd="0" parTransId="{627AA49D-2C65-42CC-A517-30EA1075F21B}" sibTransId="{D991B136-43CF-492C-AFE2-163D11C556DB}"/>
    <dgm:cxn modelId="{50CEE280-FE06-40D9-8C48-DDE553EEE33D}" srcId="{29EDBCBE-E48A-418E-8C21-E3D36D890E1D}" destId="{C9B3D2FF-8A0B-465A-B1AC-7F412347D5C2}" srcOrd="0" destOrd="0" parTransId="{26A2B9FB-0433-4993-82BF-AAE7D65E13F3}" sibTransId="{58B05973-D5D5-40BE-B5E8-9A9DD72C93CC}"/>
    <dgm:cxn modelId="{017A068B-3027-4D08-8F00-476FEA788D8C}" type="presOf" srcId="{C9B3D2FF-8A0B-465A-B1AC-7F412347D5C2}" destId="{E233C661-A4DF-4113-AC4E-7FC8C040CCFF}" srcOrd="0" destOrd="0" presId="urn:microsoft.com/office/officeart/2005/8/layout/hierarchy1"/>
    <dgm:cxn modelId="{AA6876B3-D405-44C9-88C6-E9110CA479D5}" type="presOf" srcId="{3BBBBB56-9A36-4024-AE80-F95F1AAF1ECC}" destId="{6624C61A-BF33-489D-8203-C0C82E2825FA}" srcOrd="0" destOrd="0" presId="urn:microsoft.com/office/officeart/2005/8/layout/hierarchy1"/>
    <dgm:cxn modelId="{DE01051C-5484-403F-8EDC-80ABBF827406}" type="presParOf" srcId="{43F491C1-48EC-46F9-A324-21DB1A9C1FF2}" destId="{57736F68-106B-431E-96AA-5FDD9151742B}" srcOrd="0" destOrd="0" presId="urn:microsoft.com/office/officeart/2005/8/layout/hierarchy1"/>
    <dgm:cxn modelId="{438F68B7-3642-4C4D-B2F4-AEB0F06521F7}" type="presParOf" srcId="{57736F68-106B-431E-96AA-5FDD9151742B}" destId="{42B29B38-145E-468D-A3F6-B155F531305B}" srcOrd="0" destOrd="0" presId="urn:microsoft.com/office/officeart/2005/8/layout/hierarchy1"/>
    <dgm:cxn modelId="{732DF04D-F288-444B-9941-DCF9C2B9D617}" type="presParOf" srcId="{42B29B38-145E-468D-A3F6-B155F531305B}" destId="{FB1C4B7B-864D-404B-A6EB-2FABD0D3A972}" srcOrd="0" destOrd="0" presId="urn:microsoft.com/office/officeart/2005/8/layout/hierarchy1"/>
    <dgm:cxn modelId="{399D9AF0-46B7-4550-8025-C48CCA75744E}" type="presParOf" srcId="{42B29B38-145E-468D-A3F6-B155F531305B}" destId="{E233C661-A4DF-4113-AC4E-7FC8C040CCFF}" srcOrd="1" destOrd="0" presId="urn:microsoft.com/office/officeart/2005/8/layout/hierarchy1"/>
    <dgm:cxn modelId="{2D44FDFB-5DBC-413B-8DDB-4638CBD2BF25}" type="presParOf" srcId="{57736F68-106B-431E-96AA-5FDD9151742B}" destId="{FF0DF962-84C7-4238-997F-2D622E3FD30D}" srcOrd="1" destOrd="0" presId="urn:microsoft.com/office/officeart/2005/8/layout/hierarchy1"/>
    <dgm:cxn modelId="{E9E18B94-DD21-4ABA-86FA-2D96E8D9BA69}" type="presParOf" srcId="{FF0DF962-84C7-4238-997F-2D622E3FD30D}" destId="{F28380D9-90AF-48F9-AE7A-12AEA2BD29FB}" srcOrd="0" destOrd="0" presId="urn:microsoft.com/office/officeart/2005/8/layout/hierarchy1"/>
    <dgm:cxn modelId="{38820668-1676-4D2D-9F97-4815B28F8C11}" type="presParOf" srcId="{FF0DF962-84C7-4238-997F-2D622E3FD30D}" destId="{4FD39B02-78FB-4289-A363-7BD11C342E12}" srcOrd="1" destOrd="0" presId="urn:microsoft.com/office/officeart/2005/8/layout/hierarchy1"/>
    <dgm:cxn modelId="{0E5D3510-AEDF-4C6F-A6E0-80A46C307E87}" type="presParOf" srcId="{4FD39B02-78FB-4289-A363-7BD11C342E12}" destId="{A0F4972A-9A24-4381-B457-5F2E39152860}" srcOrd="0" destOrd="0" presId="urn:microsoft.com/office/officeart/2005/8/layout/hierarchy1"/>
    <dgm:cxn modelId="{E67F175A-BCD5-4731-9D1D-852D5D5BEA0B}" type="presParOf" srcId="{A0F4972A-9A24-4381-B457-5F2E39152860}" destId="{564EFFFF-756D-4E27-ABD9-10F6B58DCEE8}" srcOrd="0" destOrd="0" presId="urn:microsoft.com/office/officeart/2005/8/layout/hierarchy1"/>
    <dgm:cxn modelId="{E2767F75-E1D9-4973-AFC1-876FB57F50D6}" type="presParOf" srcId="{A0F4972A-9A24-4381-B457-5F2E39152860}" destId="{990F50DB-4248-4E2B-937C-4AC4AD02B025}" srcOrd="1" destOrd="0" presId="urn:microsoft.com/office/officeart/2005/8/layout/hierarchy1"/>
    <dgm:cxn modelId="{630B1E4C-C8CE-4C3D-A218-E34FBBF33406}" type="presParOf" srcId="{4FD39B02-78FB-4289-A363-7BD11C342E12}" destId="{F14E888D-6F39-4F37-96F8-2E916DD00FF2}" srcOrd="1" destOrd="0" presId="urn:microsoft.com/office/officeart/2005/8/layout/hierarchy1"/>
    <dgm:cxn modelId="{2DC0EA46-976C-41AE-B36F-488909DE2CC0}" type="presParOf" srcId="{FF0DF962-84C7-4238-997F-2D622E3FD30D}" destId="{29B0FD90-67BD-463F-ACD9-D1ED6A6DED52}" srcOrd="2" destOrd="0" presId="urn:microsoft.com/office/officeart/2005/8/layout/hierarchy1"/>
    <dgm:cxn modelId="{FC2F5B09-0710-4C47-8E1F-0E3E4AF0367B}" type="presParOf" srcId="{FF0DF962-84C7-4238-997F-2D622E3FD30D}" destId="{4B10961F-132F-4340-921F-85D005CAE44F}" srcOrd="3" destOrd="0" presId="urn:microsoft.com/office/officeart/2005/8/layout/hierarchy1"/>
    <dgm:cxn modelId="{1D5E84CD-7414-4E1B-A1A5-48F08A544511}" type="presParOf" srcId="{4B10961F-132F-4340-921F-85D005CAE44F}" destId="{C845E8A1-28F6-4D6F-9BFE-543BA7BA5611}" srcOrd="0" destOrd="0" presId="urn:microsoft.com/office/officeart/2005/8/layout/hierarchy1"/>
    <dgm:cxn modelId="{F080346D-7B35-4FFF-B3FD-99C83E293D32}" type="presParOf" srcId="{C845E8A1-28F6-4D6F-9BFE-543BA7BA5611}" destId="{C5801070-456B-4E4F-A1D0-8DE264983D47}" srcOrd="0" destOrd="0" presId="urn:microsoft.com/office/officeart/2005/8/layout/hierarchy1"/>
    <dgm:cxn modelId="{4948915C-C7AF-45AA-9C7F-9682E333D70E}" type="presParOf" srcId="{C845E8A1-28F6-4D6F-9BFE-543BA7BA5611}" destId="{6624C61A-BF33-489D-8203-C0C82E2825FA}" srcOrd="1" destOrd="0" presId="urn:microsoft.com/office/officeart/2005/8/layout/hierarchy1"/>
    <dgm:cxn modelId="{60FBAA6C-40E3-4AE2-B040-D539BC3FEB91}" type="presParOf" srcId="{4B10961F-132F-4340-921F-85D005CAE44F}" destId="{EE946FEF-D6B1-4F4C-B1A6-44A8656B3A0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69DEC18-7A7D-400F-80F1-3346AED2AAD2}" type="doc">
      <dgm:prSet loTypeId="urn:microsoft.com/office/officeart/2005/8/layout/default#2" loCatId="list" qsTypeId="urn:microsoft.com/office/officeart/2005/8/quickstyle/simple3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0F9ECB8B-028A-44CF-8A1D-CCB3506A0D18}">
      <dgm:prSet phldrT="[Текст]"/>
      <dgm:spPr/>
      <dgm:t>
        <a:bodyPr/>
        <a:lstStyle/>
        <a:p>
          <a:r>
            <a:rPr lang="ru-RU" b="1" dirty="0"/>
            <a:t>Закон убывающей предельной полезности</a:t>
          </a:r>
        </a:p>
      </dgm:t>
    </dgm:pt>
    <dgm:pt modelId="{9867645D-9BC8-4B59-BF03-570B8702BD30}" cxnId="{CA65FFF4-8D47-4157-92C7-0738FB0211DA}" type="parTrans">
      <dgm:prSet/>
      <dgm:spPr/>
      <dgm:t>
        <a:bodyPr/>
        <a:lstStyle/>
        <a:p>
          <a:endParaRPr lang="ru-RU"/>
        </a:p>
      </dgm:t>
    </dgm:pt>
    <dgm:pt modelId="{465F840D-DF57-4CC9-8FCB-D44BEA2CF63D}" cxnId="{CA65FFF4-8D47-4157-92C7-0738FB0211DA}" type="sibTrans">
      <dgm:prSet/>
      <dgm:spPr/>
      <dgm:t>
        <a:bodyPr/>
        <a:lstStyle/>
        <a:p>
          <a:endParaRPr lang="ru-RU"/>
        </a:p>
      </dgm:t>
    </dgm:pt>
    <dgm:pt modelId="{849DCCCB-8A4A-4006-8D9C-FC6BCB300179}" type="pres">
      <dgm:prSet presAssocID="{869DEC18-7A7D-400F-80F1-3346AED2AAD2}" presName="diagram" presStyleCnt="0">
        <dgm:presLayoutVars>
          <dgm:dir/>
          <dgm:resizeHandles val="exact"/>
        </dgm:presLayoutVars>
      </dgm:prSet>
      <dgm:spPr/>
    </dgm:pt>
    <dgm:pt modelId="{D8555572-0F36-413B-88AA-18E423BCAA2E}" type="pres">
      <dgm:prSet presAssocID="{0F9ECB8B-028A-44CF-8A1D-CCB3506A0D18}" presName="node" presStyleLbl="node1" presStyleIdx="0" presStyleCnt="1" custScaleX="300293" custLinFactNeighborX="19948" custLinFactNeighborY="-4501">
        <dgm:presLayoutVars>
          <dgm:bulletEnabled val="1"/>
        </dgm:presLayoutVars>
      </dgm:prSet>
      <dgm:spPr/>
    </dgm:pt>
  </dgm:ptLst>
  <dgm:cxnLst>
    <dgm:cxn modelId="{B244E707-381C-4EB7-ABAC-FFF40076382A}" type="presOf" srcId="{0F9ECB8B-028A-44CF-8A1D-CCB3506A0D18}" destId="{D8555572-0F36-413B-88AA-18E423BCAA2E}" srcOrd="0" destOrd="0" presId="urn:microsoft.com/office/officeart/2005/8/layout/default#2"/>
    <dgm:cxn modelId="{63EE79EF-0767-460D-9A1F-BE8A473B9EBE}" type="presOf" srcId="{869DEC18-7A7D-400F-80F1-3346AED2AAD2}" destId="{849DCCCB-8A4A-4006-8D9C-FC6BCB300179}" srcOrd="0" destOrd="0" presId="urn:microsoft.com/office/officeart/2005/8/layout/default#2"/>
    <dgm:cxn modelId="{CA65FFF4-8D47-4157-92C7-0738FB0211DA}" srcId="{869DEC18-7A7D-400F-80F1-3346AED2AAD2}" destId="{0F9ECB8B-028A-44CF-8A1D-CCB3506A0D18}" srcOrd="0" destOrd="0" parTransId="{9867645D-9BC8-4B59-BF03-570B8702BD30}" sibTransId="{465F840D-DF57-4CC9-8FCB-D44BEA2CF63D}"/>
    <dgm:cxn modelId="{6B0FFF8B-F1B1-4245-857C-F4929AECB3A5}" type="presParOf" srcId="{849DCCCB-8A4A-4006-8D9C-FC6BCB300179}" destId="{D8555572-0F36-413B-88AA-18E423BCAA2E}" srcOrd="0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9E0930-1292-432E-8B76-957EDE925CFC}" type="doc">
      <dgm:prSet loTypeId="urn:microsoft.com/office/officeart/2005/8/layout/radial5" loCatId="cycle" qsTypeId="urn:microsoft.com/office/officeart/2005/8/quickstyle/3d9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64A7B059-610A-49DA-B20B-608144DD8D7B}">
      <dgm:prSet phldrT="[Текст]" custT="1"/>
      <dgm:spPr>
        <a:solidFill>
          <a:srgbClr val="FF0000"/>
        </a:solidFill>
      </dgm:spPr>
      <dgm:t>
        <a:bodyPr/>
        <a:lstStyle/>
        <a:p>
          <a:r>
            <a:rPr lang="ru-RU" sz="2400" b="1" dirty="0"/>
            <a:t>Функции денег</a:t>
          </a:r>
        </a:p>
      </dgm:t>
    </dgm:pt>
    <dgm:pt modelId="{C2629192-2F54-4D79-8432-A62AEC36A909}" cxnId="{3C6AD39E-7BA5-4CDF-9745-4FF88CC77122}" type="parTrans">
      <dgm:prSet/>
      <dgm:spPr/>
      <dgm:t>
        <a:bodyPr/>
        <a:lstStyle/>
        <a:p>
          <a:endParaRPr lang="ru-RU" b="1"/>
        </a:p>
      </dgm:t>
    </dgm:pt>
    <dgm:pt modelId="{B4BB5219-3A46-4257-ABC6-63D3D51D40D9}" cxnId="{3C6AD39E-7BA5-4CDF-9745-4FF88CC77122}" type="sibTrans">
      <dgm:prSet/>
      <dgm:spPr/>
      <dgm:t>
        <a:bodyPr/>
        <a:lstStyle/>
        <a:p>
          <a:endParaRPr lang="ru-RU" b="1"/>
        </a:p>
      </dgm:t>
    </dgm:pt>
    <dgm:pt modelId="{49222914-94FE-4F35-8615-2937804AD850}">
      <dgm:prSet phldrT="[Текст]" custT="1"/>
      <dgm:spPr/>
      <dgm:t>
        <a:bodyPr/>
        <a:lstStyle/>
        <a:p>
          <a:r>
            <a:rPr lang="ru-RU" sz="2100" b="1"/>
            <a:t>Мера стоимости</a:t>
          </a:r>
          <a:endParaRPr lang="ru-RU" sz="2100" b="1" dirty="0"/>
        </a:p>
      </dgm:t>
    </dgm:pt>
    <dgm:pt modelId="{11441FD7-8513-4912-A30D-0620F8144CA6}" cxnId="{B5ADE941-13F3-4DC1-AF42-7E4B6FAB8655}" type="parTrans">
      <dgm:prSet/>
      <dgm:spPr/>
      <dgm:t>
        <a:bodyPr/>
        <a:lstStyle/>
        <a:p>
          <a:endParaRPr lang="ru-RU" b="1"/>
        </a:p>
      </dgm:t>
    </dgm:pt>
    <dgm:pt modelId="{FA480563-B600-454F-AC12-549AB5D9B91F}" cxnId="{B5ADE941-13F3-4DC1-AF42-7E4B6FAB8655}" type="sibTrans">
      <dgm:prSet/>
      <dgm:spPr/>
      <dgm:t>
        <a:bodyPr/>
        <a:lstStyle/>
        <a:p>
          <a:endParaRPr lang="ru-RU" b="1"/>
        </a:p>
      </dgm:t>
    </dgm:pt>
    <dgm:pt modelId="{F276D561-3A6E-4CAD-A76A-8AC953030DD4}">
      <dgm:prSet phldrT="[Текст]" custT="1"/>
      <dgm:spPr>
        <a:solidFill>
          <a:srgbClr val="AA72D4"/>
        </a:solidFill>
      </dgm:spPr>
      <dgm:t>
        <a:bodyPr/>
        <a:lstStyle/>
        <a:p>
          <a:r>
            <a:rPr lang="ru-RU" sz="2100" b="1" dirty="0"/>
            <a:t>Средство платежа</a:t>
          </a:r>
        </a:p>
      </dgm:t>
    </dgm:pt>
    <dgm:pt modelId="{5D8C1368-FE1A-4652-A871-2DFC3F3CBF27}" cxnId="{3508EE2C-D099-47DC-BC8E-D766144DDE3D}" type="parTrans">
      <dgm:prSet/>
      <dgm:spPr/>
      <dgm:t>
        <a:bodyPr/>
        <a:lstStyle/>
        <a:p>
          <a:endParaRPr lang="ru-RU" b="1"/>
        </a:p>
      </dgm:t>
    </dgm:pt>
    <dgm:pt modelId="{0EEFE063-7009-492B-AB69-31878A51C4EE}" cxnId="{3508EE2C-D099-47DC-BC8E-D766144DDE3D}" type="sibTrans">
      <dgm:prSet/>
      <dgm:spPr/>
      <dgm:t>
        <a:bodyPr/>
        <a:lstStyle/>
        <a:p>
          <a:endParaRPr lang="ru-RU" b="1"/>
        </a:p>
      </dgm:t>
    </dgm:pt>
    <dgm:pt modelId="{266EF63A-321C-4A50-9203-32E48D6E6403}">
      <dgm:prSet phldrT="[Текст]" custT="1"/>
      <dgm:spPr/>
      <dgm:t>
        <a:bodyPr/>
        <a:lstStyle/>
        <a:p>
          <a:r>
            <a:rPr lang="ru-RU" sz="2100" b="1"/>
            <a:t>Средства накопления</a:t>
          </a:r>
          <a:endParaRPr lang="ru-RU" sz="2100" b="1" dirty="0"/>
        </a:p>
      </dgm:t>
    </dgm:pt>
    <dgm:pt modelId="{623BF067-DB6E-4774-89B7-DB4A84489F60}" cxnId="{DD61BE97-9397-4569-8E25-F79F8DA8E196}" type="parTrans">
      <dgm:prSet/>
      <dgm:spPr/>
      <dgm:t>
        <a:bodyPr/>
        <a:lstStyle/>
        <a:p>
          <a:endParaRPr lang="ru-RU" b="1"/>
        </a:p>
      </dgm:t>
    </dgm:pt>
    <dgm:pt modelId="{A60EB9AA-3302-4BBE-B09B-75A6C260256F}" cxnId="{DD61BE97-9397-4569-8E25-F79F8DA8E196}" type="sibTrans">
      <dgm:prSet/>
      <dgm:spPr/>
      <dgm:t>
        <a:bodyPr/>
        <a:lstStyle/>
        <a:p>
          <a:endParaRPr lang="ru-RU" b="1"/>
        </a:p>
      </dgm:t>
    </dgm:pt>
    <dgm:pt modelId="{D1818642-86AB-4FC5-A26E-838FAD259F98}">
      <dgm:prSet phldrT="[Текст]" custT="1"/>
      <dgm:spPr/>
      <dgm:t>
        <a:bodyPr/>
        <a:lstStyle/>
        <a:p>
          <a:r>
            <a:rPr lang="ru-RU" sz="2100" b="1"/>
            <a:t>Средство   обращения</a:t>
          </a:r>
          <a:endParaRPr lang="ru-RU" sz="2100" b="1" dirty="0"/>
        </a:p>
      </dgm:t>
    </dgm:pt>
    <dgm:pt modelId="{1199C21E-05A8-49D9-BC43-60E59E395FC6}" cxnId="{16D68FF7-5861-4C0A-A74D-951641E62F79}" type="parTrans">
      <dgm:prSet/>
      <dgm:spPr/>
      <dgm:t>
        <a:bodyPr/>
        <a:lstStyle/>
        <a:p>
          <a:endParaRPr lang="ru-RU" b="1"/>
        </a:p>
      </dgm:t>
    </dgm:pt>
    <dgm:pt modelId="{2C4D9C81-B745-48C3-A60B-37A60DB75C51}" cxnId="{16D68FF7-5861-4C0A-A74D-951641E62F79}" type="sibTrans">
      <dgm:prSet/>
      <dgm:spPr/>
      <dgm:t>
        <a:bodyPr/>
        <a:lstStyle/>
        <a:p>
          <a:endParaRPr lang="ru-RU" b="1"/>
        </a:p>
      </dgm:t>
    </dgm:pt>
    <dgm:pt modelId="{21A33ADD-8D35-42A0-BEDC-EDE534EC869B}">
      <dgm:prSet phldrT="[Текст]" custT="1"/>
      <dgm:spPr/>
      <dgm:t>
        <a:bodyPr/>
        <a:lstStyle/>
        <a:p>
          <a:r>
            <a:rPr lang="ru-RU" sz="2800" b="1"/>
            <a:t>Мировые деньги</a:t>
          </a:r>
          <a:endParaRPr lang="ru-RU" sz="2800" b="1" dirty="0"/>
        </a:p>
      </dgm:t>
    </dgm:pt>
    <dgm:pt modelId="{2F3905F8-9553-4F64-BAE4-F171CCE79229}" cxnId="{5D28C109-5C49-4041-A2BD-06282F66515A}" type="parTrans">
      <dgm:prSet/>
      <dgm:spPr/>
      <dgm:t>
        <a:bodyPr/>
        <a:lstStyle/>
        <a:p>
          <a:endParaRPr lang="ru-RU" b="1"/>
        </a:p>
      </dgm:t>
    </dgm:pt>
    <dgm:pt modelId="{9410B559-1893-433D-9A67-C7D657C5E2C3}" cxnId="{5D28C109-5C49-4041-A2BD-06282F66515A}" type="sibTrans">
      <dgm:prSet/>
      <dgm:spPr/>
      <dgm:t>
        <a:bodyPr/>
        <a:lstStyle/>
        <a:p>
          <a:endParaRPr lang="ru-RU" b="1"/>
        </a:p>
      </dgm:t>
    </dgm:pt>
    <dgm:pt modelId="{19571817-B1B1-4C46-A99C-23B21775FC1E}" type="pres">
      <dgm:prSet presAssocID="{179E0930-1292-432E-8B76-957EDE925CF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CAF231B-5D85-469F-88C5-BC20A2E84279}" type="pres">
      <dgm:prSet presAssocID="{64A7B059-610A-49DA-B20B-608144DD8D7B}" presName="centerShape" presStyleLbl="node0" presStyleIdx="0" presStyleCnt="1" custScaleX="141872"/>
      <dgm:spPr/>
    </dgm:pt>
    <dgm:pt modelId="{A51C0D3A-0E72-4D00-89CF-5142FD4EFE52}" type="pres">
      <dgm:prSet presAssocID="{11441FD7-8513-4912-A30D-0620F8144CA6}" presName="parTrans" presStyleLbl="sibTrans2D1" presStyleIdx="0" presStyleCnt="5"/>
      <dgm:spPr/>
    </dgm:pt>
    <dgm:pt modelId="{4A70917F-3EBE-4F6B-8D42-4EA28C9A6331}" type="pres">
      <dgm:prSet presAssocID="{11441FD7-8513-4912-A30D-0620F8144CA6}" presName="connectorText" presStyleLbl="sibTrans2D1" presStyleIdx="0" presStyleCnt="5"/>
      <dgm:spPr/>
    </dgm:pt>
    <dgm:pt modelId="{7B772E06-FE47-4D2D-8928-D5F61831B217}" type="pres">
      <dgm:prSet presAssocID="{49222914-94FE-4F35-8615-2937804AD850}" presName="node" presStyleLbl="node1" presStyleIdx="0" presStyleCnt="5" custScaleX="161231">
        <dgm:presLayoutVars>
          <dgm:bulletEnabled val="1"/>
        </dgm:presLayoutVars>
      </dgm:prSet>
      <dgm:spPr/>
    </dgm:pt>
    <dgm:pt modelId="{A7715E4D-7E20-464B-A9C7-9D2FE8F71513}" type="pres">
      <dgm:prSet presAssocID="{5D8C1368-FE1A-4652-A871-2DFC3F3CBF27}" presName="parTrans" presStyleLbl="sibTrans2D1" presStyleIdx="1" presStyleCnt="5"/>
      <dgm:spPr/>
    </dgm:pt>
    <dgm:pt modelId="{01C143E6-E1DE-428A-BCA5-579A90CF9739}" type="pres">
      <dgm:prSet presAssocID="{5D8C1368-FE1A-4652-A871-2DFC3F3CBF27}" presName="connectorText" presStyleLbl="sibTrans2D1" presStyleIdx="1" presStyleCnt="5"/>
      <dgm:spPr/>
    </dgm:pt>
    <dgm:pt modelId="{F3751959-1152-42FE-802A-AA203BA2FCE3}" type="pres">
      <dgm:prSet presAssocID="{F276D561-3A6E-4CAD-A76A-8AC953030DD4}" presName="node" presStyleLbl="node1" presStyleIdx="1" presStyleCnt="5" custScaleX="155644" custRadScaleRad="127981" custRadScaleInc="11189">
        <dgm:presLayoutVars>
          <dgm:bulletEnabled val="1"/>
        </dgm:presLayoutVars>
      </dgm:prSet>
      <dgm:spPr/>
    </dgm:pt>
    <dgm:pt modelId="{3DB6C659-DA29-4989-A359-0CDBED9231C8}" type="pres">
      <dgm:prSet presAssocID="{2F3905F8-9553-4F64-BAE4-F171CCE79229}" presName="parTrans" presStyleLbl="sibTrans2D1" presStyleIdx="2" presStyleCnt="5"/>
      <dgm:spPr/>
    </dgm:pt>
    <dgm:pt modelId="{A5099CB1-2A75-44F2-AD5F-E1A7D1263D13}" type="pres">
      <dgm:prSet presAssocID="{2F3905F8-9553-4F64-BAE4-F171CCE79229}" presName="connectorText" presStyleLbl="sibTrans2D1" presStyleIdx="2" presStyleCnt="5"/>
      <dgm:spPr/>
    </dgm:pt>
    <dgm:pt modelId="{02821CB2-E231-4479-ADE7-45A3DE575E2B}" type="pres">
      <dgm:prSet presAssocID="{21A33ADD-8D35-42A0-BEDC-EDE534EC869B}" presName="node" presStyleLbl="node1" presStyleIdx="2" presStyleCnt="5" custScaleX="164998" custRadScaleRad="108354" custRadScaleInc="-15831">
        <dgm:presLayoutVars>
          <dgm:bulletEnabled val="1"/>
        </dgm:presLayoutVars>
      </dgm:prSet>
      <dgm:spPr/>
    </dgm:pt>
    <dgm:pt modelId="{0C1C3F68-7E4D-47D6-BD37-ED5881ED4984}" type="pres">
      <dgm:prSet presAssocID="{623BF067-DB6E-4774-89B7-DB4A84489F60}" presName="parTrans" presStyleLbl="sibTrans2D1" presStyleIdx="3" presStyleCnt="5"/>
      <dgm:spPr/>
    </dgm:pt>
    <dgm:pt modelId="{459CE301-52B4-4839-820F-C65F5379030F}" type="pres">
      <dgm:prSet presAssocID="{623BF067-DB6E-4774-89B7-DB4A84489F60}" presName="connectorText" presStyleLbl="sibTrans2D1" presStyleIdx="3" presStyleCnt="5"/>
      <dgm:spPr/>
    </dgm:pt>
    <dgm:pt modelId="{59FE293D-59DE-49B5-AF0A-DBCE9212B8BC}" type="pres">
      <dgm:prSet presAssocID="{266EF63A-321C-4A50-9203-32E48D6E6403}" presName="node" presStyleLbl="node1" presStyleIdx="3" presStyleCnt="5" custScaleX="175890" custRadScaleRad="105457" custRadScaleInc="10835">
        <dgm:presLayoutVars>
          <dgm:bulletEnabled val="1"/>
        </dgm:presLayoutVars>
      </dgm:prSet>
      <dgm:spPr/>
    </dgm:pt>
    <dgm:pt modelId="{BDA08078-2647-4EB1-B3B8-476A46C64DE8}" type="pres">
      <dgm:prSet presAssocID="{1199C21E-05A8-49D9-BC43-60E59E395FC6}" presName="parTrans" presStyleLbl="sibTrans2D1" presStyleIdx="4" presStyleCnt="5"/>
      <dgm:spPr/>
    </dgm:pt>
    <dgm:pt modelId="{D1BD62B4-3F37-47DB-92F5-DDE2BC45E08A}" type="pres">
      <dgm:prSet presAssocID="{1199C21E-05A8-49D9-BC43-60E59E395FC6}" presName="connectorText" presStyleLbl="sibTrans2D1" presStyleIdx="4" presStyleCnt="5"/>
      <dgm:spPr/>
    </dgm:pt>
    <dgm:pt modelId="{DFAB5723-C4D3-4087-97E5-1FC57E976DFF}" type="pres">
      <dgm:prSet presAssocID="{D1818642-86AB-4FC5-A26E-838FAD259F98}" presName="node" presStyleLbl="node1" presStyleIdx="4" presStyleCnt="5" custScaleX="166537" custRadScaleRad="132288" custRadScaleInc="-12477">
        <dgm:presLayoutVars>
          <dgm:bulletEnabled val="1"/>
        </dgm:presLayoutVars>
      </dgm:prSet>
      <dgm:spPr/>
    </dgm:pt>
  </dgm:ptLst>
  <dgm:cxnLst>
    <dgm:cxn modelId="{4F544807-4AFD-4E4D-A3B9-18123D35BDE4}" type="presOf" srcId="{623BF067-DB6E-4774-89B7-DB4A84489F60}" destId="{459CE301-52B4-4839-820F-C65F5379030F}" srcOrd="1" destOrd="0" presId="urn:microsoft.com/office/officeart/2005/8/layout/radial5"/>
    <dgm:cxn modelId="{5D28C109-5C49-4041-A2BD-06282F66515A}" srcId="{64A7B059-610A-49DA-B20B-608144DD8D7B}" destId="{21A33ADD-8D35-42A0-BEDC-EDE534EC869B}" srcOrd="2" destOrd="0" parTransId="{2F3905F8-9553-4F64-BAE4-F171CCE79229}" sibTransId="{9410B559-1893-433D-9A67-C7D657C5E2C3}"/>
    <dgm:cxn modelId="{4675271C-11A9-4BF5-8666-AD3B120E36BD}" type="presOf" srcId="{49222914-94FE-4F35-8615-2937804AD850}" destId="{7B772E06-FE47-4D2D-8928-D5F61831B217}" srcOrd="0" destOrd="0" presId="urn:microsoft.com/office/officeart/2005/8/layout/radial5"/>
    <dgm:cxn modelId="{3508EE2C-D099-47DC-BC8E-D766144DDE3D}" srcId="{64A7B059-610A-49DA-B20B-608144DD8D7B}" destId="{F276D561-3A6E-4CAD-A76A-8AC953030DD4}" srcOrd="1" destOrd="0" parTransId="{5D8C1368-FE1A-4652-A871-2DFC3F3CBF27}" sibTransId="{0EEFE063-7009-492B-AB69-31878A51C4EE}"/>
    <dgm:cxn modelId="{207A433C-5330-4098-9FFC-A1D56F4A6B75}" type="presOf" srcId="{266EF63A-321C-4A50-9203-32E48D6E6403}" destId="{59FE293D-59DE-49B5-AF0A-DBCE9212B8BC}" srcOrd="0" destOrd="0" presId="urn:microsoft.com/office/officeart/2005/8/layout/radial5"/>
    <dgm:cxn modelId="{7B085F3D-51DD-41C0-B175-0BD068D62D9E}" type="presOf" srcId="{F276D561-3A6E-4CAD-A76A-8AC953030DD4}" destId="{F3751959-1152-42FE-802A-AA203BA2FCE3}" srcOrd="0" destOrd="0" presId="urn:microsoft.com/office/officeart/2005/8/layout/radial5"/>
    <dgm:cxn modelId="{B5ADE941-13F3-4DC1-AF42-7E4B6FAB8655}" srcId="{64A7B059-610A-49DA-B20B-608144DD8D7B}" destId="{49222914-94FE-4F35-8615-2937804AD850}" srcOrd="0" destOrd="0" parTransId="{11441FD7-8513-4912-A30D-0620F8144CA6}" sibTransId="{FA480563-B600-454F-AC12-549AB5D9B91F}"/>
    <dgm:cxn modelId="{F9AD2B73-2FD1-4827-A80A-BE7398F3023B}" type="presOf" srcId="{1199C21E-05A8-49D9-BC43-60E59E395FC6}" destId="{BDA08078-2647-4EB1-B3B8-476A46C64DE8}" srcOrd="0" destOrd="0" presId="urn:microsoft.com/office/officeart/2005/8/layout/radial5"/>
    <dgm:cxn modelId="{B147188D-4576-479B-8972-C665AA7BF930}" type="presOf" srcId="{5D8C1368-FE1A-4652-A871-2DFC3F3CBF27}" destId="{A7715E4D-7E20-464B-A9C7-9D2FE8F71513}" srcOrd="0" destOrd="0" presId="urn:microsoft.com/office/officeart/2005/8/layout/radial5"/>
    <dgm:cxn modelId="{DD61BE97-9397-4569-8E25-F79F8DA8E196}" srcId="{64A7B059-610A-49DA-B20B-608144DD8D7B}" destId="{266EF63A-321C-4A50-9203-32E48D6E6403}" srcOrd="3" destOrd="0" parTransId="{623BF067-DB6E-4774-89B7-DB4A84489F60}" sibTransId="{A60EB9AA-3302-4BBE-B09B-75A6C260256F}"/>
    <dgm:cxn modelId="{622BD29D-FD10-48C6-8FC8-AA4E2ED6C8C5}" type="presOf" srcId="{64A7B059-610A-49DA-B20B-608144DD8D7B}" destId="{3CAF231B-5D85-469F-88C5-BC20A2E84279}" srcOrd="0" destOrd="0" presId="urn:microsoft.com/office/officeart/2005/8/layout/radial5"/>
    <dgm:cxn modelId="{3C6AD39E-7BA5-4CDF-9745-4FF88CC77122}" srcId="{179E0930-1292-432E-8B76-957EDE925CFC}" destId="{64A7B059-610A-49DA-B20B-608144DD8D7B}" srcOrd="0" destOrd="0" parTransId="{C2629192-2F54-4D79-8432-A62AEC36A909}" sibTransId="{B4BB5219-3A46-4257-ABC6-63D3D51D40D9}"/>
    <dgm:cxn modelId="{EB73C4A0-5CF3-44CE-909A-41F363964A87}" type="presOf" srcId="{D1818642-86AB-4FC5-A26E-838FAD259F98}" destId="{DFAB5723-C4D3-4087-97E5-1FC57E976DFF}" srcOrd="0" destOrd="0" presId="urn:microsoft.com/office/officeart/2005/8/layout/radial5"/>
    <dgm:cxn modelId="{162BA8A3-408A-4FBF-B12B-C9D845085EEF}" type="presOf" srcId="{21A33ADD-8D35-42A0-BEDC-EDE534EC869B}" destId="{02821CB2-E231-4479-ADE7-45A3DE575E2B}" srcOrd="0" destOrd="0" presId="urn:microsoft.com/office/officeart/2005/8/layout/radial5"/>
    <dgm:cxn modelId="{9CBF7BA6-EA32-41AF-BBA9-F749F3D3BAFC}" type="presOf" srcId="{2F3905F8-9553-4F64-BAE4-F171CCE79229}" destId="{A5099CB1-2A75-44F2-AD5F-E1A7D1263D13}" srcOrd="1" destOrd="0" presId="urn:microsoft.com/office/officeart/2005/8/layout/radial5"/>
    <dgm:cxn modelId="{2B21E7AB-7F8A-498D-B5A7-90388625367D}" type="presOf" srcId="{5D8C1368-FE1A-4652-A871-2DFC3F3CBF27}" destId="{01C143E6-E1DE-428A-BCA5-579A90CF9739}" srcOrd="1" destOrd="0" presId="urn:microsoft.com/office/officeart/2005/8/layout/radial5"/>
    <dgm:cxn modelId="{A4E7D3BC-5670-4FF5-8AC5-61A0C2408DBF}" type="presOf" srcId="{623BF067-DB6E-4774-89B7-DB4A84489F60}" destId="{0C1C3F68-7E4D-47D6-BD37-ED5881ED4984}" srcOrd="0" destOrd="0" presId="urn:microsoft.com/office/officeart/2005/8/layout/radial5"/>
    <dgm:cxn modelId="{3E1420BF-7C08-4C39-A0C9-D6D140E696E4}" type="presOf" srcId="{1199C21E-05A8-49D9-BC43-60E59E395FC6}" destId="{D1BD62B4-3F37-47DB-92F5-DDE2BC45E08A}" srcOrd="1" destOrd="0" presId="urn:microsoft.com/office/officeart/2005/8/layout/radial5"/>
    <dgm:cxn modelId="{BC2E5CBF-8FAD-4D61-B79C-4555185AA9C3}" type="presOf" srcId="{11441FD7-8513-4912-A30D-0620F8144CA6}" destId="{4A70917F-3EBE-4F6B-8D42-4EA28C9A6331}" srcOrd="1" destOrd="0" presId="urn:microsoft.com/office/officeart/2005/8/layout/radial5"/>
    <dgm:cxn modelId="{115437E2-4BEF-4D05-A613-429B8267B07E}" type="presOf" srcId="{2F3905F8-9553-4F64-BAE4-F171CCE79229}" destId="{3DB6C659-DA29-4989-A359-0CDBED9231C8}" srcOrd="0" destOrd="0" presId="urn:microsoft.com/office/officeart/2005/8/layout/radial5"/>
    <dgm:cxn modelId="{F05B68E6-39BB-423F-A7F4-1CA705A17C5C}" type="presOf" srcId="{179E0930-1292-432E-8B76-957EDE925CFC}" destId="{19571817-B1B1-4C46-A99C-23B21775FC1E}" srcOrd="0" destOrd="0" presId="urn:microsoft.com/office/officeart/2005/8/layout/radial5"/>
    <dgm:cxn modelId="{D90DD5E8-1368-4118-A408-074706FAC09F}" type="presOf" srcId="{11441FD7-8513-4912-A30D-0620F8144CA6}" destId="{A51C0D3A-0E72-4D00-89CF-5142FD4EFE52}" srcOrd="0" destOrd="0" presId="urn:microsoft.com/office/officeart/2005/8/layout/radial5"/>
    <dgm:cxn modelId="{16D68FF7-5861-4C0A-A74D-951641E62F79}" srcId="{64A7B059-610A-49DA-B20B-608144DD8D7B}" destId="{D1818642-86AB-4FC5-A26E-838FAD259F98}" srcOrd="4" destOrd="0" parTransId="{1199C21E-05A8-49D9-BC43-60E59E395FC6}" sibTransId="{2C4D9C81-B745-48C3-A60B-37A60DB75C51}"/>
    <dgm:cxn modelId="{D7D50268-EB97-472A-989A-B627F0693629}" type="presParOf" srcId="{19571817-B1B1-4C46-A99C-23B21775FC1E}" destId="{3CAF231B-5D85-469F-88C5-BC20A2E84279}" srcOrd="0" destOrd="0" presId="urn:microsoft.com/office/officeart/2005/8/layout/radial5"/>
    <dgm:cxn modelId="{0B58C3FC-327E-45BC-B1D5-5E3BDA6BF48E}" type="presParOf" srcId="{19571817-B1B1-4C46-A99C-23B21775FC1E}" destId="{A51C0D3A-0E72-4D00-89CF-5142FD4EFE52}" srcOrd="1" destOrd="0" presId="urn:microsoft.com/office/officeart/2005/8/layout/radial5"/>
    <dgm:cxn modelId="{772189B4-01D9-4824-B429-2F7285E41511}" type="presParOf" srcId="{A51C0D3A-0E72-4D00-89CF-5142FD4EFE52}" destId="{4A70917F-3EBE-4F6B-8D42-4EA28C9A6331}" srcOrd="0" destOrd="0" presId="urn:microsoft.com/office/officeart/2005/8/layout/radial5"/>
    <dgm:cxn modelId="{C0FDDF1E-C574-4A13-B09C-BD48FE629F7A}" type="presParOf" srcId="{19571817-B1B1-4C46-A99C-23B21775FC1E}" destId="{7B772E06-FE47-4D2D-8928-D5F61831B217}" srcOrd="2" destOrd="0" presId="urn:microsoft.com/office/officeart/2005/8/layout/radial5"/>
    <dgm:cxn modelId="{A855362F-AAA9-4FA6-A4F1-3B4811DD6026}" type="presParOf" srcId="{19571817-B1B1-4C46-A99C-23B21775FC1E}" destId="{A7715E4D-7E20-464B-A9C7-9D2FE8F71513}" srcOrd="3" destOrd="0" presId="urn:microsoft.com/office/officeart/2005/8/layout/radial5"/>
    <dgm:cxn modelId="{C78DA594-A347-451B-A4C7-B36B46B70677}" type="presParOf" srcId="{A7715E4D-7E20-464B-A9C7-9D2FE8F71513}" destId="{01C143E6-E1DE-428A-BCA5-579A90CF9739}" srcOrd="0" destOrd="0" presId="urn:microsoft.com/office/officeart/2005/8/layout/radial5"/>
    <dgm:cxn modelId="{4E85AE81-377A-43A2-9D2E-4994058AB8DC}" type="presParOf" srcId="{19571817-B1B1-4C46-A99C-23B21775FC1E}" destId="{F3751959-1152-42FE-802A-AA203BA2FCE3}" srcOrd="4" destOrd="0" presId="urn:microsoft.com/office/officeart/2005/8/layout/radial5"/>
    <dgm:cxn modelId="{919822DB-8872-4414-A7E3-CF5A7BE7E947}" type="presParOf" srcId="{19571817-B1B1-4C46-A99C-23B21775FC1E}" destId="{3DB6C659-DA29-4989-A359-0CDBED9231C8}" srcOrd="5" destOrd="0" presId="urn:microsoft.com/office/officeart/2005/8/layout/radial5"/>
    <dgm:cxn modelId="{A5BB8B1E-ED46-4224-9D4E-926FED38FBB5}" type="presParOf" srcId="{3DB6C659-DA29-4989-A359-0CDBED9231C8}" destId="{A5099CB1-2A75-44F2-AD5F-E1A7D1263D13}" srcOrd="0" destOrd="0" presId="urn:microsoft.com/office/officeart/2005/8/layout/radial5"/>
    <dgm:cxn modelId="{ECF87AE7-0CDE-4C02-9CBB-E37B349091B7}" type="presParOf" srcId="{19571817-B1B1-4C46-A99C-23B21775FC1E}" destId="{02821CB2-E231-4479-ADE7-45A3DE575E2B}" srcOrd="6" destOrd="0" presId="urn:microsoft.com/office/officeart/2005/8/layout/radial5"/>
    <dgm:cxn modelId="{093A5BDA-7807-48F7-8586-9B709A78C2B9}" type="presParOf" srcId="{19571817-B1B1-4C46-A99C-23B21775FC1E}" destId="{0C1C3F68-7E4D-47D6-BD37-ED5881ED4984}" srcOrd="7" destOrd="0" presId="urn:microsoft.com/office/officeart/2005/8/layout/radial5"/>
    <dgm:cxn modelId="{13FDE81F-EA5F-4596-8DD7-407F4123A616}" type="presParOf" srcId="{0C1C3F68-7E4D-47D6-BD37-ED5881ED4984}" destId="{459CE301-52B4-4839-820F-C65F5379030F}" srcOrd="0" destOrd="0" presId="urn:microsoft.com/office/officeart/2005/8/layout/radial5"/>
    <dgm:cxn modelId="{08566340-C294-4530-B8AC-2B4B6AE33F7C}" type="presParOf" srcId="{19571817-B1B1-4C46-A99C-23B21775FC1E}" destId="{59FE293D-59DE-49B5-AF0A-DBCE9212B8BC}" srcOrd="8" destOrd="0" presId="urn:microsoft.com/office/officeart/2005/8/layout/radial5"/>
    <dgm:cxn modelId="{6CB3302F-89DC-44F9-AF6E-BCD178406D50}" type="presParOf" srcId="{19571817-B1B1-4C46-A99C-23B21775FC1E}" destId="{BDA08078-2647-4EB1-B3B8-476A46C64DE8}" srcOrd="9" destOrd="0" presId="urn:microsoft.com/office/officeart/2005/8/layout/radial5"/>
    <dgm:cxn modelId="{72674495-D1ED-45BF-BB63-0CEF046DD696}" type="presParOf" srcId="{BDA08078-2647-4EB1-B3B8-476A46C64DE8}" destId="{D1BD62B4-3F37-47DB-92F5-DDE2BC45E08A}" srcOrd="0" destOrd="0" presId="urn:microsoft.com/office/officeart/2005/8/layout/radial5"/>
    <dgm:cxn modelId="{E5A137CC-5D0C-49BA-BBEF-83D57E65B419}" type="presParOf" srcId="{19571817-B1B1-4C46-A99C-23B21775FC1E}" destId="{DFAB5723-C4D3-4087-97E5-1FC57E976DFF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8448801" cy="5168849"/>
        <a:chOff x="0" y="0"/>
        <a:chExt cx="8448801" cy="5168849"/>
      </a:xfrm>
    </dsp:grpSpPr>
    <dsp:sp modelId="{DBB283A8-E809-459F-A265-F9D8E00F23A6}">
      <dsp:nvSpPr>
        <dsp:cNvPr id="4" name="Пятиугольник 3"/>
        <dsp:cNvSpPr/>
      </dsp:nvSpPr>
      <dsp:spPr bwMode="white">
        <a:xfrm rot="10800000">
          <a:off x="1784378" y="0"/>
          <a:ext cx="5618452" cy="1476814"/>
        </a:xfrm>
        <a:prstGeom prst="homePlate">
          <a:avLst/>
        </a:prstGeom>
        <a:solidFill>
          <a:srgbClr val="0070C0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651233" tIns="91439" rIns="170688" bIns="91439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dirty="0">
              <a:latin typeface="Arial" panose="020B0604020202020204" pitchFamily="34" charset="0"/>
              <a:cs typeface="Arial" panose="020B0604020202020204" pitchFamily="34" charset="0"/>
            </a:rPr>
            <a:t>общественное разделение труда</a:t>
          </a:r>
          <a:endParaRPr lang="ru-RU" sz="24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1784378" y="0"/>
        <a:ext cx="5618452" cy="1476814"/>
      </dsp:txXfrm>
    </dsp:sp>
    <dsp:sp modelId="{6F46BD60-A187-4531-9A53-D73FD3EECF1E}">
      <dsp:nvSpPr>
        <dsp:cNvPr id="3" name="Овал 2"/>
        <dsp:cNvSpPr/>
      </dsp:nvSpPr>
      <dsp:spPr bwMode="white">
        <a:xfrm>
          <a:off x="993647" y="0"/>
          <a:ext cx="1476814" cy="1476814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993647" y="0"/>
        <a:ext cx="1476814" cy="1476814"/>
      </dsp:txXfrm>
    </dsp:sp>
    <dsp:sp modelId="{DE601A6E-EBC3-43A6-9C24-9698C589FCB5}">
      <dsp:nvSpPr>
        <dsp:cNvPr id="6" name="Пятиугольник 5"/>
        <dsp:cNvSpPr/>
      </dsp:nvSpPr>
      <dsp:spPr bwMode="white">
        <a:xfrm rot="10800000">
          <a:off x="1784378" y="1846018"/>
          <a:ext cx="5618452" cy="1476814"/>
        </a:xfrm>
        <a:prstGeom prst="homePlate">
          <a:avLst/>
        </a:prstGeom>
        <a:solidFill>
          <a:srgbClr val="FF0066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651233" tIns="83820" rIns="156464" bIns="838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dirty="0">
              <a:latin typeface="Arial" panose="020B0604020202020204" pitchFamily="34" charset="0"/>
              <a:cs typeface="Arial" panose="020B0604020202020204" pitchFamily="34" charset="0"/>
            </a:rPr>
            <a:t>хозяйственное обособление людей для изготовления какого-то продукта</a:t>
          </a:r>
          <a:r>
            <a:rPr lang="ru-RU" sz="2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 rot="10800000">
        <a:off x="1784378" y="1846018"/>
        <a:ext cx="5618452" cy="1476814"/>
      </dsp:txXfrm>
    </dsp:sp>
    <dsp:sp modelId="{56EEA42B-222A-4C0E-B0D2-E24209A31078}">
      <dsp:nvSpPr>
        <dsp:cNvPr id="5" name="Овал 4"/>
        <dsp:cNvSpPr/>
      </dsp:nvSpPr>
      <dsp:spPr bwMode="white">
        <a:xfrm>
          <a:off x="999451" y="1874756"/>
          <a:ext cx="1476814" cy="1476814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999451" y="1874756"/>
        <a:ext cx="1476814" cy="1476814"/>
      </dsp:txXfrm>
    </dsp:sp>
    <dsp:sp modelId="{A1ABC25F-8459-47C6-8E7A-25F7E5EB90B9}">
      <dsp:nvSpPr>
        <dsp:cNvPr id="8" name="Пятиугольник 7"/>
        <dsp:cNvSpPr/>
      </dsp:nvSpPr>
      <dsp:spPr bwMode="white">
        <a:xfrm rot="10800000">
          <a:off x="1784378" y="3692035"/>
          <a:ext cx="5618452" cy="1476814"/>
        </a:xfrm>
        <a:prstGeom prst="homePlate">
          <a:avLst/>
        </a:prstGeom>
        <a:solidFill>
          <a:srgbClr val="00A249"/>
        </a:solidFill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651233" tIns="83820" rIns="156464" bIns="838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200" b="1" dirty="0">
              <a:latin typeface="Arial" panose="020B0604020202020204" pitchFamily="34" charset="0"/>
              <a:cs typeface="Arial" panose="020B0604020202020204" pitchFamily="34" charset="0"/>
            </a:rPr>
            <a:t>экономия времени выступает движущей силой развития товарного хозяйства</a:t>
          </a:r>
          <a:endParaRPr lang="ru-RU" sz="2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1784378" y="3692035"/>
        <a:ext cx="5618452" cy="1476814"/>
      </dsp:txXfrm>
    </dsp:sp>
    <dsp:sp modelId="{74C5937A-7FEC-473B-91C7-0911AC21EEC9}">
      <dsp:nvSpPr>
        <dsp:cNvPr id="7" name="Овал 6"/>
        <dsp:cNvSpPr/>
      </dsp:nvSpPr>
      <dsp:spPr bwMode="white">
        <a:xfrm>
          <a:off x="1045971" y="3692035"/>
          <a:ext cx="1476814" cy="1476814"/>
        </a:xfrm>
        <a:prstGeom prst="ellipse">
          <a:avLst/>
        </a:prstGeom>
        <a:solidFill>
          <a:schemeClr val="accent1">
            <a:lumMod val="40000"/>
            <a:lumOff val="60000"/>
          </a:schemeClr>
        </a:solidFill>
      </dsp:spPr>
      <dsp:style>
        <a:lnRef idx="2">
          <a:schemeClr val="lt1"/>
        </a:lnRef>
        <a:fillRef idx="1">
          <a:schemeClr val="accent1">
            <a:tint val="50000"/>
          </a:schemeClr>
        </a:fillRef>
        <a:effectRef idx="0">
          <a:scrgbClr r="0" g="0" b="0"/>
        </a:effectRef>
        <a:fontRef idx="minor"/>
      </dsp:style>
      <dsp:txXfrm>
        <a:off x="1045971" y="3692035"/>
        <a:ext cx="1476814" cy="14768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8318500" cy="4861560"/>
        <a:chOff x="0" y="0"/>
        <a:chExt cx="8318500" cy="4861560"/>
      </a:xfrm>
    </dsp:grpSpPr>
    <dsp:sp modelId="{1DFDC91F-A656-4A6E-9D2C-771D02DDAD01}">
      <dsp:nvSpPr>
        <dsp:cNvPr id="5" name="Полилиния 4"/>
        <dsp:cNvSpPr/>
      </dsp:nvSpPr>
      <dsp:spPr bwMode="white">
        <a:xfrm>
          <a:off x="2237637" y="521591"/>
          <a:ext cx="0" cy="174190"/>
        </a:xfrm>
        <a:custGeom>
          <a:avLst/>
          <a:gdLst/>
          <a:ahLst/>
          <a:cxnLst/>
          <a:pathLst>
            <a:path h="274">
              <a:moveTo>
                <a:pt x="0" y="0"/>
              </a:moveTo>
              <a:lnTo>
                <a:pt x="0" y="34"/>
              </a:lnTo>
              <a:lnTo>
                <a:pt x="0" y="34"/>
              </a:lnTo>
              <a:lnTo>
                <a:pt x="0" y="27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2237637" y="521591"/>
        <a:ext cx="0" cy="174190"/>
      </dsp:txXfrm>
    </dsp:sp>
    <dsp:sp modelId="{138771BC-4B4B-4CA6-A350-24A9E0ADE293}">
      <dsp:nvSpPr>
        <dsp:cNvPr id="10" name="Полилиния 9"/>
        <dsp:cNvSpPr/>
      </dsp:nvSpPr>
      <dsp:spPr bwMode="white">
        <a:xfrm>
          <a:off x="6430161" y="521591"/>
          <a:ext cx="0" cy="174190"/>
        </a:xfrm>
        <a:custGeom>
          <a:avLst/>
          <a:gdLst/>
          <a:ahLst/>
          <a:cxnLst/>
          <a:pathLst>
            <a:path h="274">
              <a:moveTo>
                <a:pt x="0" y="0"/>
              </a:moveTo>
              <a:lnTo>
                <a:pt x="0" y="34"/>
              </a:lnTo>
              <a:lnTo>
                <a:pt x="0" y="34"/>
              </a:lnTo>
              <a:lnTo>
                <a:pt x="0" y="274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Xfrm>
        <a:off x="6430161" y="521591"/>
        <a:ext cx="0" cy="174190"/>
      </dsp:txXfrm>
    </dsp:sp>
    <dsp:sp modelId="{848D884E-1F39-42F1-9800-8EF2F23C4FEF}">
      <dsp:nvSpPr>
        <dsp:cNvPr id="3" name="Скругленный прямоугольник 2"/>
        <dsp:cNvSpPr/>
      </dsp:nvSpPr>
      <dsp:spPr bwMode="white">
        <a:xfrm>
          <a:off x="744770" y="141267"/>
          <a:ext cx="2985734" cy="38032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744770" y="141267"/>
        <a:ext cx="2985734" cy="380324"/>
      </dsp:txXfrm>
    </dsp:sp>
    <dsp:sp modelId="{18310AA9-629D-41CE-A9DC-8E64634BF051}">
      <dsp:nvSpPr>
        <dsp:cNvPr id="4" name="Скругленный прямоугольник 3"/>
        <dsp:cNvSpPr/>
      </dsp:nvSpPr>
      <dsp:spPr bwMode="white">
        <a:xfrm>
          <a:off x="811318" y="204488"/>
          <a:ext cx="2985734" cy="38032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Потребительная стоимость</a:t>
          </a:r>
          <a:endParaRPr>
            <a:solidFill>
              <a:schemeClr val="dk1"/>
            </a:solidFill>
          </a:endParaRPr>
        </a:p>
      </dsp:txBody>
      <dsp:txXfrm>
        <a:off x="811318" y="204488"/>
        <a:ext cx="2985734" cy="380324"/>
      </dsp:txXfrm>
    </dsp:sp>
    <dsp:sp modelId="{FA5F7171-822B-4DBB-A757-418C86402CBF}">
      <dsp:nvSpPr>
        <dsp:cNvPr id="6" name="Скругленный прямоугольник 5"/>
        <dsp:cNvSpPr/>
      </dsp:nvSpPr>
      <dsp:spPr bwMode="white">
        <a:xfrm>
          <a:off x="0" y="695782"/>
          <a:ext cx="4475274" cy="2005345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0" y="695782"/>
        <a:ext cx="4475274" cy="2005345"/>
      </dsp:txXfrm>
    </dsp:sp>
    <dsp:sp modelId="{7344F48A-FA1E-4DF4-9E40-C6400F48BC6F}">
      <dsp:nvSpPr>
        <dsp:cNvPr id="7" name="Скругленный прямоугольник 6"/>
        <dsp:cNvSpPr/>
      </dsp:nvSpPr>
      <dsp:spPr bwMode="white">
        <a:xfrm>
          <a:off x="66548" y="759003"/>
          <a:ext cx="4475274" cy="2005345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dirty="0">
              <a:solidFill>
                <a:schemeClr val="dk1"/>
              </a:solidFill>
            </a:rPr>
            <a:t>Способность удовлетворять потребности </a:t>
          </a:r>
          <a:br>
            <a:rPr lang="ru-RU" sz="2400" dirty="0">
              <a:solidFill>
                <a:schemeClr val="dk1"/>
              </a:solidFill>
            </a:rPr>
          </a:br>
          <a:r>
            <a:rPr lang="ru-RU" sz="2000" dirty="0">
              <a:solidFill>
                <a:schemeClr val="dk1"/>
              </a:solidFill>
            </a:rPr>
            <a:t>зависит от </a:t>
          </a:r>
          <a:br>
            <a:rPr lang="ru-RU" sz="2000" dirty="0">
              <a:solidFill>
                <a:schemeClr val="dk1"/>
              </a:solidFill>
            </a:rPr>
          </a:br>
          <a:r>
            <a:rPr lang="ru-RU" sz="2200" i="1" dirty="0">
              <a:solidFill>
                <a:schemeClr val="dk1"/>
              </a:solidFill>
            </a:rPr>
            <a:t>формы потребительной стоимости</a:t>
          </a:r>
          <a:r>
            <a:rPr lang="ru-RU" sz="2400" dirty="0">
              <a:solidFill>
                <a:schemeClr val="dk1"/>
              </a:solidFill>
            </a:rPr>
            <a:t>  </a:t>
          </a:r>
          <a:endParaRPr lang="ru-RU" sz="2000" dirty="0">
            <a:solidFill>
              <a:schemeClr val="dk1"/>
            </a:solidFill>
          </a:endParaRPr>
        </a:p>
      </dsp:txBody>
      <dsp:txXfrm>
        <a:off x="66548" y="759003"/>
        <a:ext cx="4475274" cy="2005345"/>
      </dsp:txXfrm>
    </dsp:sp>
    <dsp:sp modelId="{639D5072-0148-4C62-8915-45B74DB8C9FB}">
      <dsp:nvSpPr>
        <dsp:cNvPr id="8" name="Скругленный прямоугольник 7"/>
        <dsp:cNvSpPr/>
      </dsp:nvSpPr>
      <dsp:spPr bwMode="white">
        <a:xfrm>
          <a:off x="4914699" y="141267"/>
          <a:ext cx="3030924" cy="38032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4914699" y="141267"/>
        <a:ext cx="3030924" cy="380324"/>
      </dsp:txXfrm>
    </dsp:sp>
    <dsp:sp modelId="{4F97E9E0-D209-40C5-AEAC-B25610A0FDCC}">
      <dsp:nvSpPr>
        <dsp:cNvPr id="9" name="Скругленный прямоугольник 8"/>
        <dsp:cNvSpPr/>
      </dsp:nvSpPr>
      <dsp:spPr bwMode="white">
        <a:xfrm>
          <a:off x="4981248" y="204488"/>
          <a:ext cx="3030924" cy="380324"/>
        </a:xfrm>
        <a:prstGeom prst="roundRect">
          <a:avLst>
            <a:gd name="adj" fmla="val 10000"/>
          </a:avLst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57150" tIns="57150" rIns="57150" bIns="571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Меновая стоимость</a:t>
          </a:r>
          <a:endParaRPr>
            <a:solidFill>
              <a:schemeClr val="dk1"/>
            </a:solidFill>
          </a:endParaRPr>
        </a:p>
      </dsp:txBody>
      <dsp:txXfrm>
        <a:off x="4981248" y="204488"/>
        <a:ext cx="3030924" cy="380324"/>
      </dsp:txXfrm>
    </dsp:sp>
    <dsp:sp modelId="{F75C90CB-7285-4FEF-9CC8-F8812E493C0A}">
      <dsp:nvSpPr>
        <dsp:cNvPr id="11" name="Скругленный прямоугольник 10"/>
        <dsp:cNvSpPr/>
      </dsp:nvSpPr>
      <dsp:spPr bwMode="white">
        <a:xfrm>
          <a:off x="4608371" y="695782"/>
          <a:ext cx="3643581" cy="3961290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608371" y="695782"/>
        <a:ext cx="3643581" cy="3961290"/>
      </dsp:txXfrm>
    </dsp:sp>
    <dsp:sp modelId="{002732EA-39D1-4F46-AEB6-DDCA1FF0E54A}">
      <dsp:nvSpPr>
        <dsp:cNvPr id="12" name="Скругленный прямоугольник 11"/>
        <dsp:cNvSpPr/>
      </dsp:nvSpPr>
      <dsp:spPr bwMode="white">
        <a:xfrm>
          <a:off x="4674919" y="759003"/>
          <a:ext cx="3643581" cy="3961290"/>
        </a:xfrm>
        <a:prstGeom prst="roundRect">
          <a:avLst>
            <a:gd name="adj" fmla="val 10000"/>
          </a:avLst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marL="0" lvl="0" indent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dirty="0">
              <a:solidFill>
                <a:schemeClr val="dk1"/>
              </a:solidFill>
            </a:rPr>
            <a:t>Способность обмениваться на другие товары </a:t>
          </a:r>
          <a:r>
            <a:rPr lang="ru-RU" sz="2000" dirty="0">
              <a:solidFill>
                <a:schemeClr val="dk1"/>
              </a:solidFill>
            </a:rPr>
            <a:t>(или их денежные эквиваленты) </a:t>
          </a:r>
          <a:br>
            <a:rPr lang="ru-RU" sz="2000" dirty="0">
              <a:solidFill>
                <a:schemeClr val="dk1"/>
              </a:solidFill>
            </a:rPr>
          </a:br>
          <a:r>
            <a:rPr lang="ru-RU" sz="2400" dirty="0">
              <a:solidFill>
                <a:schemeClr val="dk1"/>
              </a:solidFill>
            </a:rPr>
            <a:t>в </a:t>
          </a:r>
          <a:r>
            <a:rPr lang="ru-RU" sz="2400" i="1" u="sng" dirty="0">
              <a:solidFill>
                <a:schemeClr val="dk1"/>
              </a:solidFill>
            </a:rPr>
            <a:t>определенных количественных пропорциях </a:t>
          </a:r>
          <a:r>
            <a:rPr lang="ru-RU" sz="2200" b="0" i="0" dirty="0">
              <a:solidFill>
                <a:schemeClr val="dk1"/>
              </a:solidFill>
            </a:rPr>
            <a:t>и при этом каждая из сторон считает такой обмен справедливым</a:t>
          </a:r>
          <a:endParaRPr lang="ru-RU" sz="2200" i="1" u="sng" dirty="0">
            <a:solidFill>
              <a:schemeClr val="dk1"/>
            </a:solidFill>
          </a:endParaRPr>
        </a:p>
      </dsp:txBody>
      <dsp:txXfrm>
        <a:off x="4674919" y="759003"/>
        <a:ext cx="3643581" cy="39612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4271645" cy="2550795"/>
        <a:chOff x="0" y="0"/>
        <a:chExt cx="4271645" cy="2550795"/>
      </a:xfrm>
    </dsp:grpSpPr>
    <dsp:sp modelId="{77779DD6-D845-45E2-90A4-B34DB642ABC3}">
      <dsp:nvSpPr>
        <dsp:cNvPr id="3" name="Угол 2"/>
        <dsp:cNvSpPr/>
      </dsp:nvSpPr>
      <dsp:spPr bwMode="white">
        <a:xfrm rot="5400000">
          <a:off x="-148303" y="148303"/>
          <a:ext cx="988684" cy="692079"/>
        </a:xfrm>
        <a:prstGeom prst="chevron">
          <a:avLst/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0795" tIns="10795" rIns="10795" bIns="10795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1</a:t>
          </a:r>
        </a:p>
      </dsp:txBody>
      <dsp:txXfrm rot="5400000">
        <a:off x="-148303" y="148303"/>
        <a:ext cx="988684" cy="692079"/>
      </dsp:txXfrm>
    </dsp:sp>
    <dsp:sp modelId="{ABCB1EDA-29DA-4E84-922B-3EFBDD29DA7E}">
      <dsp:nvSpPr>
        <dsp:cNvPr id="4" name="Прямоугольник с двумя скругленными соседними углами 3"/>
        <dsp:cNvSpPr/>
      </dsp:nvSpPr>
      <dsp:spPr bwMode="white">
        <a:xfrm rot="5400000">
          <a:off x="2160540" y="-1419080"/>
          <a:ext cx="642645" cy="3579566"/>
        </a:xfrm>
        <a:prstGeom prst="round2SameRect">
          <a:avLst/>
        </a:prstGeom>
      </dsp:spPr>
      <dsp:style>
        <a:lnRef idx="2">
          <a:schemeClr val="accent4">
            <a:hueOff val="0"/>
            <a:satOff val="0"/>
            <a:lumOff val="0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42240" tIns="12700" rIns="12700" bIns="127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dirty="0">
              <a:solidFill>
                <a:schemeClr val="dk1"/>
              </a:solidFill>
            </a:rPr>
            <a:t>Натуральная </a:t>
          </a:r>
          <a:endParaRPr>
            <a:solidFill>
              <a:schemeClr val="dk1"/>
            </a:solidFill>
          </a:endParaRPr>
        </a:p>
      </dsp:txBody>
      <dsp:txXfrm rot="5400000">
        <a:off x="2160540" y="-1419080"/>
        <a:ext cx="642645" cy="3579566"/>
      </dsp:txXfrm>
    </dsp:sp>
    <dsp:sp modelId="{84FDEC37-F5E2-4F7C-A262-3C00389E8500}">
      <dsp:nvSpPr>
        <dsp:cNvPr id="5" name="Угол 4"/>
        <dsp:cNvSpPr/>
      </dsp:nvSpPr>
      <dsp:spPr bwMode="white">
        <a:xfrm rot="5400000">
          <a:off x="-148303" y="929358"/>
          <a:ext cx="988684" cy="692079"/>
        </a:xfrm>
        <a:prstGeom prst="chevron">
          <a:avLst/>
        </a:prstGeom>
      </dsp:spPr>
      <dsp:style>
        <a:lnRef idx="2">
          <a:schemeClr val="accent4">
            <a:hueOff val="6780000"/>
            <a:satOff val="24510"/>
            <a:lumOff val="38824"/>
            <a:alpha val="100000"/>
          </a:schemeClr>
        </a:lnRef>
        <a:fillRef idx="1">
          <a:schemeClr val="accent4">
            <a:hueOff val="6780000"/>
            <a:satOff val="24510"/>
            <a:lumOff val="3882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0795" tIns="10795" rIns="10795" bIns="10795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2</a:t>
          </a:r>
        </a:p>
      </dsp:txBody>
      <dsp:txXfrm rot="5400000">
        <a:off x="-148303" y="929358"/>
        <a:ext cx="988684" cy="692079"/>
      </dsp:txXfrm>
    </dsp:sp>
    <dsp:sp modelId="{D2C19B4A-F432-46C3-A1D2-6CB56EF7AB01}">
      <dsp:nvSpPr>
        <dsp:cNvPr id="6" name="Прямоугольник с двумя скругленными соседними углами 5"/>
        <dsp:cNvSpPr/>
      </dsp:nvSpPr>
      <dsp:spPr bwMode="white">
        <a:xfrm rot="5400000">
          <a:off x="2160540" y="-687405"/>
          <a:ext cx="642645" cy="3579566"/>
        </a:xfrm>
        <a:prstGeom prst="round2SameRect">
          <a:avLst/>
        </a:prstGeom>
      </dsp:spPr>
      <dsp:style>
        <a:lnRef idx="2">
          <a:schemeClr val="accent4">
            <a:hueOff val="6780000"/>
            <a:satOff val="24510"/>
            <a:lumOff val="38824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42240" tIns="12700" rIns="12700" bIns="127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dirty="0">
              <a:solidFill>
                <a:schemeClr val="dk1"/>
              </a:solidFill>
            </a:rPr>
            <a:t>Количественная </a:t>
          </a:r>
          <a:endParaRPr>
            <a:solidFill>
              <a:schemeClr val="dk1"/>
            </a:solidFill>
          </a:endParaRPr>
        </a:p>
      </dsp:txBody>
      <dsp:txXfrm rot="5400000">
        <a:off x="2160540" y="-687405"/>
        <a:ext cx="642645" cy="3579566"/>
      </dsp:txXfrm>
    </dsp:sp>
    <dsp:sp modelId="{2611E99A-0103-4997-8CBB-C17DA48246B9}">
      <dsp:nvSpPr>
        <dsp:cNvPr id="7" name="Угол 6"/>
        <dsp:cNvSpPr/>
      </dsp:nvSpPr>
      <dsp:spPr bwMode="white">
        <a:xfrm rot="5400000">
          <a:off x="-148303" y="1710413"/>
          <a:ext cx="988684" cy="692079"/>
        </a:xfrm>
        <a:prstGeom prst="chevron">
          <a:avLst/>
        </a:prstGeom>
      </dsp:spPr>
      <dsp:style>
        <a:lnRef idx="2">
          <a:schemeClr val="accent4">
            <a:hueOff val="13560000"/>
            <a:satOff val="49020"/>
            <a:lumOff val="77647"/>
            <a:alpha val="100000"/>
          </a:schemeClr>
        </a:lnRef>
        <a:fillRef idx="1">
          <a:schemeClr val="accent4">
            <a:hueOff val="13560000"/>
            <a:satOff val="49020"/>
            <a:lumOff val="7764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-5400000" lIns="10795" tIns="10795" rIns="10795" bIns="10795" anchor="ctr"/>
        <a:lstStyle>
          <a:lvl1pPr algn="ctr">
            <a:defRPr sz="1700"/>
          </a:lvl1pPr>
          <a:lvl2pPr marL="114300" indent="-114300" algn="ctr">
            <a:defRPr sz="1300"/>
          </a:lvl2pPr>
          <a:lvl3pPr marL="228600" indent="-114300" algn="ctr">
            <a:defRPr sz="1300"/>
          </a:lvl3pPr>
          <a:lvl4pPr marL="342900" indent="-114300" algn="ctr">
            <a:defRPr sz="1300"/>
          </a:lvl4pPr>
          <a:lvl5pPr marL="457200" indent="-114300" algn="ctr">
            <a:defRPr sz="1300"/>
          </a:lvl5pPr>
          <a:lvl6pPr marL="571500" indent="-114300" algn="ctr">
            <a:defRPr sz="1300"/>
          </a:lvl6pPr>
          <a:lvl7pPr marL="685800" indent="-114300" algn="ctr">
            <a:defRPr sz="1300"/>
          </a:lvl7pPr>
          <a:lvl8pPr marL="800100" indent="-114300" algn="ctr">
            <a:defRPr sz="1300"/>
          </a:lvl8pPr>
          <a:lvl9pPr marL="914400" indent="-114300" algn="ctr">
            <a:defRPr sz="1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3</a:t>
          </a:r>
        </a:p>
      </dsp:txBody>
      <dsp:txXfrm rot="5400000">
        <a:off x="-148303" y="1710413"/>
        <a:ext cx="988684" cy="692079"/>
      </dsp:txXfrm>
    </dsp:sp>
    <dsp:sp modelId="{B43EE4E3-A080-42D6-B197-7B30EB2E2C93}">
      <dsp:nvSpPr>
        <dsp:cNvPr id="8" name="Прямоугольник с двумя скругленными соседними углами 7"/>
        <dsp:cNvSpPr/>
      </dsp:nvSpPr>
      <dsp:spPr bwMode="white">
        <a:xfrm rot="5400000">
          <a:off x="2160540" y="93650"/>
          <a:ext cx="642645" cy="3579566"/>
        </a:xfrm>
        <a:prstGeom prst="round2SameRect">
          <a:avLst/>
        </a:prstGeom>
      </dsp:spPr>
      <dsp:style>
        <a:lnRef idx="2">
          <a:schemeClr val="accent4">
            <a:hueOff val="13560000"/>
            <a:satOff val="49020"/>
            <a:lumOff val="77647"/>
            <a:alpha val="100000"/>
          </a:schemeClr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rot="-5400000" lIns="142240" tIns="12700" rIns="12700" bIns="12700" anchor="ctr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000" b="1" dirty="0">
              <a:solidFill>
                <a:schemeClr val="dk1"/>
              </a:solidFill>
            </a:rPr>
            <a:t>Качественная </a:t>
          </a:r>
          <a:endParaRPr>
            <a:solidFill>
              <a:schemeClr val="dk1"/>
            </a:solidFill>
          </a:endParaRPr>
        </a:p>
      </dsp:txBody>
      <dsp:txXfrm rot="5400000">
        <a:off x="2160540" y="93650"/>
        <a:ext cx="642645" cy="3579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4699149" cy="4085506"/>
        <a:chOff x="0" y="0"/>
        <a:chExt cx="4699149" cy="4085506"/>
      </a:xfrm>
    </dsp:grpSpPr>
    <dsp:sp modelId="{982A5F90-4FA4-4FE0-B6DD-B262770D43B8}">
      <dsp:nvSpPr>
        <dsp:cNvPr id="3" name="Прямоугольник 2"/>
        <dsp:cNvSpPr/>
      </dsp:nvSpPr>
      <dsp:spPr bwMode="white">
        <a:xfrm>
          <a:off x="0" y="3075742"/>
          <a:ext cx="4699149" cy="1009764"/>
        </a:xfrm>
        <a:prstGeom prst="rect">
          <a:avLst/>
        </a:prstGeom>
        <a:solidFill>
          <a:srgbClr val="0070C0"/>
        </a:solidFill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lIns="135128" tIns="135128" rIns="135128" bIns="13512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Неоклассическая школа («Экономикс») </a:t>
          </a:r>
        </a:p>
      </dsp:txBody>
      <dsp:txXfrm>
        <a:off x="0" y="3075742"/>
        <a:ext cx="4699149" cy="1009764"/>
      </dsp:txXfrm>
    </dsp:sp>
    <dsp:sp modelId="{4AB06AE3-5A17-45DF-BF01-545AE7BF50B1}">
      <dsp:nvSpPr>
        <dsp:cNvPr id="4" name="Выноска со стрелкой вверх 3"/>
        <dsp:cNvSpPr/>
      </dsp:nvSpPr>
      <dsp:spPr bwMode="white">
        <a:xfrm rot="10800000">
          <a:off x="0" y="1537871"/>
          <a:ext cx="4699149" cy="1553017"/>
        </a:xfrm>
        <a:prstGeom prst="upArrowCallout">
          <a:avLst/>
        </a:prstGeom>
        <a:solidFill>
          <a:srgbClr val="0070C0"/>
        </a:solidFill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10800000" lIns="135128" tIns="135128" rIns="135128" bIns="13512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Австрийская школа («Маржинализм») – </a:t>
          </a:r>
          <a:endParaRPr lang="ru-RU" sz="19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теория предельной полезности</a:t>
          </a:r>
        </a:p>
      </dsp:txBody>
      <dsp:txXfrm rot="10800000">
        <a:off x="0" y="1537871"/>
        <a:ext cx="4699149" cy="1553017"/>
      </dsp:txXfrm>
    </dsp:sp>
    <dsp:sp modelId="{CDFD3AAE-7B99-4FCF-A00C-A2CC8FE1E6C8}">
      <dsp:nvSpPr>
        <dsp:cNvPr id="5" name="Выноска со стрелкой вверх 4"/>
        <dsp:cNvSpPr/>
      </dsp:nvSpPr>
      <dsp:spPr bwMode="white">
        <a:xfrm rot="10800000">
          <a:off x="0" y="0"/>
          <a:ext cx="4699149" cy="1553017"/>
        </a:xfrm>
        <a:prstGeom prst="upArrowCallout">
          <a:avLst/>
        </a:prstGeom>
        <a:solidFill>
          <a:srgbClr val="0070C0"/>
        </a:solidFill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rot="10800000" lIns="135128" tIns="135128" rIns="135128" bIns="135128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Классическая политическая экономия – </a:t>
          </a:r>
          <a:endParaRPr lang="ru-RU" sz="19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>
            <a:lnSpc>
              <a:spcPct val="100000"/>
            </a:lnSpc>
            <a:spcBef>
              <a:spcPts val="0"/>
            </a:spcBef>
            <a:spcAft>
              <a:spcPts val="0"/>
            </a:spcAft>
          </a:pPr>
          <a:r>
            <a:rPr lang="ru-RU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трудовая теория стоимости</a:t>
          </a:r>
        </a:p>
      </dsp:txBody>
      <dsp:txXfrm rot="10800000">
        <a:off x="0" y="0"/>
        <a:ext cx="4699149" cy="15530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7749540" cy="5889625"/>
        <a:chOff x="0" y="0"/>
        <a:chExt cx="7749540" cy="5889625"/>
      </a:xfrm>
    </dsp:grpSpPr>
    <dsp:sp modelId="{B58B87FB-16D3-4230-AE59-0E6F979BDAD5}">
      <dsp:nvSpPr>
        <dsp:cNvPr id="3" name="Прямое соединение 2"/>
        <dsp:cNvSpPr/>
      </dsp:nvSpPr>
      <dsp:spPr bwMode="white">
        <a:xfrm>
          <a:off x="0" y="0"/>
          <a:ext cx="7749540" cy="0"/>
        </a:xfrm>
        <a:prstGeom prst="line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7749540" cy="0"/>
      </dsp:txXfrm>
    </dsp:sp>
    <dsp:sp modelId="{82F819DF-D388-4EC0-B490-57A1B589F233}">
      <dsp:nvSpPr>
        <dsp:cNvPr id="4" name="Прямоугольник 3"/>
        <dsp:cNvSpPr/>
      </dsp:nvSpPr>
      <dsp:spPr bwMode="white">
        <a:xfrm>
          <a:off x="0" y="0"/>
          <a:ext cx="7749540" cy="147240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Рассматривает формирование </a:t>
          </a:r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меновой стоимости как пропорции обмена с позиций производителя</a:t>
          </a:r>
          <a:endParaRPr>
            <a:solidFill>
              <a:schemeClr val="tx1"/>
            </a:solidFill>
          </a:endParaRPr>
        </a:p>
      </dsp:txBody>
      <dsp:txXfrm>
        <a:off x="0" y="0"/>
        <a:ext cx="7749540" cy="1472406"/>
      </dsp:txXfrm>
    </dsp:sp>
    <dsp:sp modelId="{8800CD9C-EA28-4114-A5DE-EEC361DE7528}">
      <dsp:nvSpPr>
        <dsp:cNvPr id="5" name="Прямое соединение 4"/>
        <dsp:cNvSpPr/>
      </dsp:nvSpPr>
      <dsp:spPr bwMode="white">
        <a:xfrm>
          <a:off x="0" y="1472406"/>
          <a:ext cx="7749540" cy="0"/>
        </a:xfrm>
        <a:prstGeom prst="line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Xfrm>
        <a:off x="0" y="1472406"/>
        <a:ext cx="7749540" cy="0"/>
      </dsp:txXfrm>
    </dsp:sp>
    <dsp:sp modelId="{AC66C11B-68F0-4341-9FE2-E302291055CD}">
      <dsp:nvSpPr>
        <dsp:cNvPr id="6" name="Прямоугольник 5"/>
        <dsp:cNvSpPr/>
      </dsp:nvSpPr>
      <dsp:spPr bwMode="white">
        <a:xfrm>
          <a:off x="0" y="1472406"/>
          <a:ext cx="7749540" cy="147240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76200" tIns="76200" rIns="7620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В качестве оснований для пропорций обмена выступает </a:t>
          </a:r>
          <a:r>
            <a:rPr lang="ru-RU" sz="2000" b="1" u="sng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количество труда</a:t>
          </a:r>
          <a:r>
            <a:rPr lang="ru-RU" sz="2000" b="1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, затраченного на производство разных товаров</a:t>
          </a:r>
          <a:endParaRPr sz="6500">
            <a:solidFill>
              <a:schemeClr val="tx1"/>
            </a:solidFill>
          </a:endParaRPr>
        </a:p>
      </dsp:txBody>
      <dsp:txXfrm>
        <a:off x="0" y="1472406"/>
        <a:ext cx="7749540" cy="1472406"/>
      </dsp:txXfrm>
    </dsp:sp>
    <dsp:sp modelId="{CAD9482B-C63A-4901-859F-E0795E48D932}">
      <dsp:nvSpPr>
        <dsp:cNvPr id="7" name="Прямое соединение 6"/>
        <dsp:cNvSpPr/>
      </dsp:nvSpPr>
      <dsp:spPr bwMode="white">
        <a:xfrm>
          <a:off x="0" y="2762057"/>
          <a:ext cx="7749540" cy="0"/>
        </a:xfrm>
        <a:prstGeom prst="line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Xfrm>
        <a:off x="0" y="2762057"/>
        <a:ext cx="7749540" cy="0"/>
      </dsp:txXfrm>
    </dsp:sp>
    <dsp:sp modelId="{CB62645C-0174-44D3-92BA-139A63A0E89B}">
      <dsp:nvSpPr>
        <dsp:cNvPr id="8" name="Прямоугольник 7"/>
        <dsp:cNvSpPr/>
      </dsp:nvSpPr>
      <dsp:spPr bwMode="white">
        <a:xfrm>
          <a:off x="0" y="2762057"/>
          <a:ext cx="7749540" cy="147240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Единица измерения труда - время</a:t>
          </a:r>
          <a:endParaRPr>
            <a:solidFill>
              <a:schemeClr val="tx1"/>
            </a:solidFill>
          </a:endParaRPr>
        </a:p>
      </dsp:txBody>
      <dsp:txXfrm>
        <a:off x="0" y="2762057"/>
        <a:ext cx="7749540" cy="1472406"/>
      </dsp:txXfrm>
    </dsp:sp>
    <dsp:sp modelId="{01401651-E1AB-4C11-A700-5C45E8C41CA5}">
      <dsp:nvSpPr>
        <dsp:cNvPr id="9" name="Прямое соединение 8"/>
        <dsp:cNvSpPr/>
      </dsp:nvSpPr>
      <dsp:spPr bwMode="white">
        <a:xfrm>
          <a:off x="0" y="3311780"/>
          <a:ext cx="7749540" cy="0"/>
        </a:xfrm>
        <a:prstGeom prst="line">
          <a:avLst/>
        </a:prstGeom>
      </dsp:spPr>
      <dsp:style>
        <a:lnRef idx="2">
          <a:schemeClr val="dk1">
            <a:shade val="80000"/>
          </a:schemeClr>
        </a:lnRef>
        <a:fillRef idx="1">
          <a:schemeClr val="lt1"/>
        </a:fillRef>
        <a:effectRef idx="0">
          <a:scrgbClr r="0" g="0" b="0"/>
        </a:effectRef>
        <a:fontRef idx="minor">
          <a:schemeClr val="lt1"/>
        </a:fontRef>
      </dsp:style>
      <dsp:txXfrm>
        <a:off x="0" y="3311780"/>
        <a:ext cx="7749540" cy="0"/>
      </dsp:txXfrm>
    </dsp:sp>
    <dsp:sp modelId="{823B972C-DC03-4E88-A9C6-226506638D03}">
      <dsp:nvSpPr>
        <dsp:cNvPr id="10" name="Прямоугольник 9"/>
        <dsp:cNvSpPr/>
      </dsp:nvSpPr>
      <dsp:spPr bwMode="white">
        <a:xfrm>
          <a:off x="0" y="3381572"/>
          <a:ext cx="7749540" cy="1472406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b="1" dirty="0">
              <a:solidFill>
                <a:srgbClr val="C00000"/>
              </a:solidFill>
              <a:latin typeface="+mn-lt"/>
              <a:cs typeface="Arial" panose="020B0604020202020204" pitchFamily="34" charset="0"/>
            </a:rPr>
            <a:t>Выделяется живой труд </a:t>
          </a:r>
          <a:r>
            <a:rPr lang="ru-RU" sz="2000" b="1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(отличается у разных работников) и общественно-необходимый труд (количество труда среднего работника при средней </a:t>
          </a:r>
          <a:r>
            <a:rPr lang="ru-RU" sz="2000" b="1" dirty="0" err="1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капиталовооруженности</a:t>
          </a:r>
          <a:r>
            <a:rPr lang="ru-RU" sz="2000" b="1" dirty="0">
              <a:solidFill>
                <a:schemeClr val="tx1"/>
              </a:solidFill>
              <a:latin typeface="+mn-lt"/>
              <a:cs typeface="Arial" panose="020B0604020202020204" pitchFamily="34" charset="0"/>
            </a:rPr>
            <a:t> и средней производительности)</a:t>
          </a:r>
          <a:endParaRPr>
            <a:solidFill>
              <a:schemeClr val="tx1"/>
            </a:solidFill>
          </a:endParaRPr>
        </a:p>
      </dsp:txBody>
      <dsp:txXfrm>
        <a:off x="0" y="3381572"/>
        <a:ext cx="7749540" cy="147240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9036685" cy="2557780"/>
        <a:chOff x="0" y="0"/>
        <a:chExt cx="9036685" cy="2557780"/>
      </a:xfrm>
    </dsp:grpSpPr>
    <dsp:sp modelId="{B58B87FB-16D3-4230-AE59-0E6F979BDAD5}">
      <dsp:nvSpPr>
        <dsp:cNvPr id="3" name="Прямое соединение 2"/>
        <dsp:cNvSpPr/>
      </dsp:nvSpPr>
      <dsp:spPr bwMode="white">
        <a:xfrm>
          <a:off x="0" y="0"/>
          <a:ext cx="9036685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9036685" cy="0"/>
      </dsp:txXfrm>
    </dsp:sp>
    <dsp:sp modelId="{82F819DF-D388-4EC0-B490-57A1B589F233}">
      <dsp:nvSpPr>
        <dsp:cNvPr id="4" name="Прямоугольник 3"/>
        <dsp:cNvSpPr/>
      </dsp:nvSpPr>
      <dsp:spPr bwMode="white">
        <a:xfrm>
          <a:off x="0" y="0"/>
          <a:ext cx="9036685" cy="12788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Рассматривает формирование </a:t>
          </a:r>
          <a:r>
            <a:rPr lang="ru-RU" sz="2400" b="1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меновой стоимости как пропорции обмена с позиций потребителя </a:t>
          </a:r>
          <a:r>
            <a:rPr lang="ru-RU" sz="2400" b="1" dirty="0">
              <a:solidFill>
                <a:srgbClr val="FF0000"/>
              </a:solidFill>
              <a:latin typeface="+mn-lt"/>
              <a:cs typeface="Arial" panose="020B0604020202020204" pitchFamily="34" charset="0"/>
            </a:rPr>
            <a:t>«маржинальный переворот»</a:t>
          </a:r>
          <a:endParaRPr>
            <a:solidFill>
              <a:schemeClr val="tx1"/>
            </a:solidFill>
          </a:endParaRPr>
        </a:p>
      </dsp:txBody>
      <dsp:txXfrm>
        <a:off x="0" y="0"/>
        <a:ext cx="9036685" cy="1278890"/>
      </dsp:txXfrm>
    </dsp:sp>
    <dsp:sp modelId="{8800CD9C-EA28-4114-A5DE-EEC361DE7528}">
      <dsp:nvSpPr>
        <dsp:cNvPr id="5" name="Прямое соединение 4"/>
        <dsp:cNvSpPr/>
      </dsp:nvSpPr>
      <dsp:spPr bwMode="white">
        <a:xfrm>
          <a:off x="0" y="1179405"/>
          <a:ext cx="9036685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179405"/>
        <a:ext cx="9036685" cy="0"/>
      </dsp:txXfrm>
    </dsp:sp>
    <dsp:sp modelId="{AC66C11B-68F0-4341-9FE2-E302291055CD}">
      <dsp:nvSpPr>
        <dsp:cNvPr id="6" name="Прямоугольник 5"/>
        <dsp:cNvSpPr/>
      </dsp:nvSpPr>
      <dsp:spPr bwMode="white">
        <a:xfrm>
          <a:off x="0" y="1278890"/>
          <a:ext cx="9036685" cy="127889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91439" tIns="91439" rIns="91439" bIns="91439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В качестве оснований </a:t>
          </a:r>
          <a:r>
            <a:rPr lang="ru-RU" sz="25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для</a:t>
          </a:r>
          <a:r>
            <a:rPr lang="ru-RU" sz="2400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 </a:t>
          </a:r>
          <a:r>
            <a:rPr lang="ru-RU" sz="2400" b="1" dirty="0">
              <a:solidFill>
                <a:srgbClr val="000099"/>
              </a:solidFill>
              <a:latin typeface="+mn-lt"/>
              <a:cs typeface="Arial" panose="020B0604020202020204" pitchFamily="34" charset="0"/>
            </a:rPr>
            <a:t>пропорций обмена выступает субъективно оцениваемая полезность товара</a:t>
          </a:r>
          <a:endParaRPr>
            <a:solidFill>
              <a:schemeClr val="tx1"/>
            </a:solidFill>
          </a:endParaRPr>
        </a:p>
      </dsp:txBody>
      <dsp:txXfrm>
        <a:off x="0" y="1278890"/>
        <a:ext cx="9036685" cy="12788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5316022" cy="1417363"/>
        <a:chOff x="0" y="0"/>
        <a:chExt cx="5316022" cy="1417363"/>
      </a:xfrm>
    </dsp:grpSpPr>
    <dsp:sp modelId="{F28380D9-90AF-48F9-AE7A-12AEA2BD29FB}">
      <dsp:nvSpPr>
        <dsp:cNvPr id="5" name="Полилиния 4"/>
        <dsp:cNvSpPr/>
      </dsp:nvSpPr>
      <dsp:spPr bwMode="white">
        <a:xfrm>
          <a:off x="1276273" y="551591"/>
          <a:ext cx="1337705" cy="230516"/>
        </a:xfrm>
        <a:custGeom>
          <a:avLst/>
          <a:gdLst/>
          <a:ahLst/>
          <a:cxnLst/>
          <a:pathLst>
            <a:path w="2107" h="363">
              <a:moveTo>
                <a:pt x="2107" y="0"/>
              </a:moveTo>
              <a:lnTo>
                <a:pt x="2107" y="178"/>
              </a:lnTo>
              <a:lnTo>
                <a:pt x="0" y="178"/>
              </a:lnTo>
              <a:lnTo>
                <a:pt x="0" y="363"/>
              </a:lnTo>
            </a:path>
          </a:pathLst>
        </a:custGeom>
      </dsp:spPr>
      <dsp:style>
        <a:lnRef idx="2">
          <a:schemeClr val="accent2">
            <a:shade val="60000"/>
          </a:schemeClr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1276273" y="551591"/>
        <a:ext cx="1337705" cy="230516"/>
      </dsp:txXfrm>
    </dsp:sp>
    <dsp:sp modelId="{29B0FD90-67BD-463F-ACD9-D1ED6A6DED52}">
      <dsp:nvSpPr>
        <dsp:cNvPr id="8" name="Полилиния 7"/>
        <dsp:cNvSpPr/>
      </dsp:nvSpPr>
      <dsp:spPr bwMode="white">
        <a:xfrm>
          <a:off x="2613977" y="551591"/>
          <a:ext cx="1364340" cy="230516"/>
        </a:xfrm>
        <a:custGeom>
          <a:avLst/>
          <a:gdLst/>
          <a:ahLst/>
          <a:cxnLst/>
          <a:pathLst>
            <a:path w="2149" h="363">
              <a:moveTo>
                <a:pt x="0" y="0"/>
              </a:moveTo>
              <a:lnTo>
                <a:pt x="0" y="178"/>
              </a:lnTo>
              <a:lnTo>
                <a:pt x="2149" y="178"/>
              </a:lnTo>
              <a:lnTo>
                <a:pt x="2149" y="363"/>
              </a:lnTo>
            </a:path>
          </a:pathLst>
        </a:custGeom>
      </dsp:spPr>
      <dsp:style>
        <a:lnRef idx="2">
          <a:schemeClr val="accent2">
            <a:shade val="60000"/>
          </a:schemeClr>
        </a:lnRef>
        <a:fillRef idx="0">
          <a:schemeClr val="accent2"/>
        </a:fillRef>
        <a:effectRef idx="0">
          <a:scrgbClr r="0" g="0" b="0"/>
        </a:effectRef>
        <a:fontRef idx="minor"/>
      </dsp:style>
      <dsp:txXfrm>
        <a:off x="2613977" y="551591"/>
        <a:ext cx="1364340" cy="230516"/>
      </dsp:txXfrm>
    </dsp:sp>
    <dsp:sp modelId="{FB1C4B7B-864D-404B-A6EB-2FABD0D3A972}">
      <dsp:nvSpPr>
        <dsp:cNvPr id="3" name="Скругленный прямоугольник 2"/>
        <dsp:cNvSpPr/>
      </dsp:nvSpPr>
      <dsp:spPr bwMode="white">
        <a:xfrm>
          <a:off x="1483465" y="48287"/>
          <a:ext cx="2261025" cy="50330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1483465" y="48287"/>
        <a:ext cx="2261025" cy="503304"/>
      </dsp:txXfrm>
    </dsp:sp>
    <dsp:sp modelId="{E233C661-A4DF-4113-AC4E-7FC8C040CCFF}">
      <dsp:nvSpPr>
        <dsp:cNvPr id="4" name="Скругленный прямоугольник 3"/>
        <dsp:cNvSpPr/>
      </dsp:nvSpPr>
      <dsp:spPr bwMode="white">
        <a:xfrm>
          <a:off x="1571532" y="131951"/>
          <a:ext cx="2261025" cy="503304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000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rPr>
            <a:t>Полезность товара</a:t>
          </a:r>
          <a:endParaRPr>
            <a:solidFill>
              <a:schemeClr val="dk1"/>
            </a:solidFill>
          </a:endParaRPr>
        </a:p>
      </dsp:txBody>
      <dsp:txXfrm>
        <a:off x="1571532" y="131951"/>
        <a:ext cx="2261025" cy="503304"/>
      </dsp:txXfrm>
    </dsp:sp>
    <dsp:sp modelId="{564EFFFF-756D-4E27-ABD9-10F6B58DCEE8}">
      <dsp:nvSpPr>
        <dsp:cNvPr id="6" name="Скругленный прямоугольник 5"/>
        <dsp:cNvSpPr/>
      </dsp:nvSpPr>
      <dsp:spPr bwMode="white">
        <a:xfrm>
          <a:off x="0" y="782107"/>
          <a:ext cx="2552546" cy="50330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0" y="782107"/>
        <a:ext cx="2552546" cy="503304"/>
      </dsp:txXfrm>
    </dsp:sp>
    <dsp:sp modelId="{990F50DB-4248-4E2B-937C-4AC4AD02B025}">
      <dsp:nvSpPr>
        <dsp:cNvPr id="7" name="Скругленный прямоугольник 6"/>
        <dsp:cNvSpPr/>
      </dsp:nvSpPr>
      <dsp:spPr bwMode="white">
        <a:xfrm>
          <a:off x="88067" y="865771"/>
          <a:ext cx="2552546" cy="503304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rPr>
            <a:t>Родовая полезность </a:t>
          </a:r>
          <a:endParaRPr>
            <a:solidFill>
              <a:schemeClr val="dk1"/>
            </a:solidFill>
          </a:endParaRPr>
        </a:p>
      </dsp:txBody>
      <dsp:txXfrm>
        <a:off x="88067" y="865771"/>
        <a:ext cx="2552546" cy="503304"/>
      </dsp:txXfrm>
    </dsp:sp>
    <dsp:sp modelId="{C5801070-456B-4E4F-A1D0-8DE264983D47}">
      <dsp:nvSpPr>
        <dsp:cNvPr id="9" name="Скругленный прямоугольник 8"/>
        <dsp:cNvSpPr/>
      </dsp:nvSpPr>
      <dsp:spPr bwMode="white">
        <a:xfrm>
          <a:off x="2728680" y="782107"/>
          <a:ext cx="2499275" cy="503304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Xfrm>
        <a:off x="2728680" y="782107"/>
        <a:ext cx="2499275" cy="503304"/>
      </dsp:txXfrm>
    </dsp:sp>
    <dsp:sp modelId="{6624C61A-BF33-489D-8203-C0C82E2825FA}">
      <dsp:nvSpPr>
        <dsp:cNvPr id="10" name="Скругленный прямоугольник 9"/>
        <dsp:cNvSpPr/>
      </dsp:nvSpPr>
      <dsp:spPr bwMode="white">
        <a:xfrm>
          <a:off x="2816747" y="865771"/>
          <a:ext cx="2499275" cy="503304"/>
        </a:xfrm>
        <a:prstGeom prst="roundRect">
          <a:avLst>
            <a:gd name="adj" fmla="val 10000"/>
          </a:avLst>
        </a:prstGeom>
      </dsp:spPr>
      <dsp:style>
        <a:lnRef idx="2">
          <a:schemeClr val="accent2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rPr>
            <a:t>Предельная полезность</a:t>
          </a:r>
          <a:endParaRPr>
            <a:solidFill>
              <a:schemeClr val="dk1"/>
            </a:solidFill>
          </a:endParaRPr>
        </a:p>
      </dsp:txBody>
      <dsp:txXfrm>
        <a:off x="2816747" y="865771"/>
        <a:ext cx="2499275" cy="5033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4572705" cy="1030698"/>
        <a:chOff x="0" y="0"/>
        <a:chExt cx="4572705" cy="1030698"/>
      </a:xfrm>
    </dsp:grpSpPr>
    <dsp:sp modelId="{D8555572-0F36-413B-88AA-18E423BCAA2E}">
      <dsp:nvSpPr>
        <dsp:cNvPr id="3" name="Прямоугольник 2"/>
        <dsp:cNvSpPr/>
      </dsp:nvSpPr>
      <dsp:spPr bwMode="white">
        <a:xfrm>
          <a:off x="-6701" y="16672"/>
          <a:ext cx="4579406" cy="914987"/>
        </a:xfrm>
        <a:prstGeom prst="rect">
          <a:avLst/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>
            <a:alpha val="9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91439" tIns="91439" rIns="91439" bIns="91439" anchor="ctr"/>
        <a:lstStyle>
          <a:lvl1pPr algn="ctr">
            <a:defRPr sz="2400"/>
          </a:lvl1pPr>
          <a:lvl2pPr marL="171450" indent="-171450" algn="ctr">
            <a:defRPr sz="1800"/>
          </a:lvl2pPr>
          <a:lvl3pPr marL="342900" indent="-171450" algn="ctr">
            <a:defRPr sz="1800"/>
          </a:lvl3pPr>
          <a:lvl4pPr marL="514350" indent="-171450" algn="ctr">
            <a:defRPr sz="1800"/>
          </a:lvl4pPr>
          <a:lvl5pPr marL="685800" indent="-171450" algn="ctr">
            <a:defRPr sz="1800"/>
          </a:lvl5pPr>
          <a:lvl6pPr marL="857250" indent="-171450" algn="ctr">
            <a:defRPr sz="1800"/>
          </a:lvl6pPr>
          <a:lvl7pPr marL="1028700" indent="-171450" algn="ctr">
            <a:defRPr sz="1800"/>
          </a:lvl7pPr>
          <a:lvl8pPr marL="1200150" indent="-171450" algn="ctr">
            <a:defRPr sz="1800"/>
          </a:lvl8pPr>
          <a:lvl9pPr marL="1371600" indent="-171450" algn="ctr">
            <a:defRPr sz="18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b="1" dirty="0"/>
            <a:t>Закон убывающей предельной полезности</a:t>
          </a:r>
        </a:p>
      </dsp:txBody>
      <dsp:txXfrm>
        <a:off x="-6701" y="16672"/>
        <a:ext cx="4579406" cy="9149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8710578" cy="5160624"/>
        <a:chOff x="0" y="0"/>
        <a:chExt cx="8710578" cy="5160624"/>
      </a:xfrm>
      <a:scene3d>
        <a:camera prst="perspectiveRelaxed">
          <a:rot lat="19149996" lon="20104178" rev="1577324"/>
        </a:camera>
        <a:lightRig rig="soft" dir="t"/>
        <a:backdrop>
          <a:anchor x="0" y="0" z="-210000"/>
          <a:norm dx="0" dy="0" dz="914400"/>
          <a:up dx="0" dy="914400" dz="0"/>
        </a:backdrop>
      </a:scene3d>
    </dsp:grpSpPr>
    <dsp:sp modelId="{3CAF231B-5D85-469F-88C5-BC20A2E84279}">
      <dsp:nvSpPr>
        <dsp:cNvPr id="3" name="Овал 2"/>
        <dsp:cNvSpPr/>
      </dsp:nvSpPr>
      <dsp:spPr bwMode="white">
        <a:xfrm>
          <a:off x="3624865" y="2045186"/>
          <a:ext cx="1460847" cy="1460847"/>
        </a:xfrm>
        <a:prstGeom prst="ellipse">
          <a:avLst/>
        </a:prstGeom>
        <a:solidFill>
          <a:srgbClr val="FF0000"/>
        </a:solidFill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30480" tIns="30480" rIns="30480" bIns="304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dirty="0"/>
            <a:t>Функции денег</a:t>
          </a:r>
        </a:p>
      </dsp:txBody>
      <dsp:txXfrm>
        <a:off x="3624865" y="2045186"/>
        <a:ext cx="1460847" cy="1460847"/>
      </dsp:txXfrm>
    </dsp:sp>
    <dsp:sp modelId="{A51C0D3A-0E72-4D00-89CF-5142FD4EFE52}">
      <dsp:nvSpPr>
        <dsp:cNvPr id="4" name="Стрелка вправо 3"/>
        <dsp:cNvSpPr/>
      </dsp:nvSpPr>
      <dsp:spPr bwMode="white">
        <a:xfrm rot="16199999">
          <a:off x="4200439" y="1504673"/>
          <a:ext cx="309700" cy="496688"/>
        </a:xfrm>
        <a:prstGeom prst="rightArrow">
          <a:avLst>
            <a:gd name="adj1" fmla="val 60000"/>
            <a:gd name="adj2" fmla="val 50000"/>
          </a:avLst>
        </a:prstGeom>
        <a:sp3d z="-227350" prstMaterial="matte"/>
      </dsp:spPr>
      <dsp:style>
        <a:lnRef idx="0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 b="1"/>
        </a:p>
      </dsp:txBody>
      <dsp:txXfrm rot="16199999">
        <a:off x="4200439" y="1504673"/>
        <a:ext cx="309700" cy="496688"/>
      </dsp:txXfrm>
    </dsp:sp>
    <dsp:sp modelId="{7B772E06-FE47-4D2D-8928-D5F61831B217}">
      <dsp:nvSpPr>
        <dsp:cNvPr id="5" name="Овал 4"/>
        <dsp:cNvSpPr/>
      </dsp:nvSpPr>
      <dsp:spPr bwMode="white">
        <a:xfrm>
          <a:off x="3624865" y="0"/>
          <a:ext cx="1460847" cy="1460847"/>
        </a:xfrm>
        <a:prstGeom prst="ellipse">
          <a:avLst/>
        </a:prstGeom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4">
            <a:hueOff val="0"/>
            <a:satOff val="0"/>
            <a:lumOff val="0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100" b="1"/>
            <a:t>Мера стоимости</a:t>
          </a:r>
          <a:endParaRPr lang="ru-RU" sz="2100" b="1" dirty="0"/>
        </a:p>
      </dsp:txBody>
      <dsp:txXfrm>
        <a:off x="3624865" y="0"/>
        <a:ext cx="1460847" cy="1460847"/>
      </dsp:txXfrm>
    </dsp:sp>
    <dsp:sp modelId="{A7715E4D-7E20-464B-A9C7-9D2FE8F71513}">
      <dsp:nvSpPr>
        <dsp:cNvPr id="6" name="Стрелка вправо 5"/>
        <dsp:cNvSpPr/>
      </dsp:nvSpPr>
      <dsp:spPr bwMode="white">
        <a:xfrm rot="-838317">
          <a:off x="5318794" y="2211278"/>
          <a:ext cx="612999" cy="496688"/>
        </a:xfrm>
        <a:prstGeom prst="rightArrow">
          <a:avLst>
            <a:gd name="adj1" fmla="val 60000"/>
            <a:gd name="adj2" fmla="val 50000"/>
          </a:avLst>
        </a:prstGeom>
        <a:sp3d z="-227350" prstMaterial="matte"/>
      </dsp:spPr>
      <dsp:style>
        <a:lnRef idx="0">
          <a:schemeClr val="lt1"/>
        </a:lnRef>
        <a:fillRef idx="1">
          <a:schemeClr val="accent4">
            <a:hueOff val="3390000"/>
            <a:satOff val="12255"/>
            <a:lumOff val="1941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 b="1"/>
        </a:p>
      </dsp:txBody>
      <dsp:txXfrm rot="-838317">
        <a:off x="5318794" y="2211278"/>
        <a:ext cx="612999" cy="496688"/>
      </dsp:txXfrm>
    </dsp:sp>
    <dsp:sp modelId="{F3751959-1152-42FE-802A-AA203BA2FCE3}">
      <dsp:nvSpPr>
        <dsp:cNvPr id="7" name="Овал 6"/>
        <dsp:cNvSpPr/>
      </dsp:nvSpPr>
      <dsp:spPr bwMode="white">
        <a:xfrm>
          <a:off x="6164875" y="1413211"/>
          <a:ext cx="1460847" cy="1460847"/>
        </a:xfrm>
        <a:prstGeom prst="ellipse">
          <a:avLst/>
        </a:prstGeom>
        <a:solidFill>
          <a:srgbClr val="AA72D4"/>
        </a:solidFill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4">
            <a:hueOff val="3390000"/>
            <a:satOff val="12255"/>
            <a:lumOff val="19412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100" b="1" dirty="0"/>
            <a:t>Средство платежа</a:t>
          </a:r>
        </a:p>
      </dsp:txBody>
      <dsp:txXfrm>
        <a:off x="6164875" y="1413211"/>
        <a:ext cx="1460847" cy="1460847"/>
      </dsp:txXfrm>
    </dsp:sp>
    <dsp:sp modelId="{3DB6C659-DA29-4989-A359-0CDBED9231C8}">
      <dsp:nvSpPr>
        <dsp:cNvPr id="8" name="Стрелка вправо 7"/>
        <dsp:cNvSpPr/>
      </dsp:nvSpPr>
      <dsp:spPr bwMode="white">
        <a:xfrm rot="2898037">
          <a:off x="4892242" y="3354561"/>
          <a:ext cx="400248" cy="496688"/>
        </a:xfrm>
        <a:prstGeom prst="rightArrow">
          <a:avLst>
            <a:gd name="adj1" fmla="val 60000"/>
            <a:gd name="adj2" fmla="val 50000"/>
          </a:avLst>
        </a:prstGeom>
        <a:sp3d z="-227350" prstMaterial="matte"/>
      </dsp:spPr>
      <dsp:style>
        <a:lnRef idx="0">
          <a:schemeClr val="lt1"/>
        </a:lnRef>
        <a:fillRef idx="1">
          <a:schemeClr val="accent4">
            <a:hueOff val="6780000"/>
            <a:satOff val="24510"/>
            <a:lumOff val="3882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 b="1"/>
        </a:p>
      </dsp:txBody>
      <dsp:txXfrm rot="2898037">
        <a:off x="4892242" y="3354561"/>
        <a:ext cx="400248" cy="496688"/>
      </dsp:txXfrm>
    </dsp:sp>
    <dsp:sp modelId="{02821CB2-E231-4479-ADE7-45A3DE575E2B}">
      <dsp:nvSpPr>
        <dsp:cNvPr id="9" name="Овал 8"/>
        <dsp:cNvSpPr/>
      </dsp:nvSpPr>
      <dsp:spPr bwMode="white">
        <a:xfrm>
          <a:off x="5099019" y="3699776"/>
          <a:ext cx="1460847" cy="1460847"/>
        </a:xfrm>
        <a:prstGeom prst="ellipse">
          <a:avLst/>
        </a:prstGeom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4">
            <a:hueOff val="6780000"/>
            <a:satOff val="24510"/>
            <a:lumOff val="38824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35560" tIns="35560" rIns="35560" bIns="3556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800" b="1"/>
            <a:t>Мировые деньги</a:t>
          </a:r>
          <a:endParaRPr lang="ru-RU" sz="2800" b="1" dirty="0"/>
        </a:p>
      </dsp:txBody>
      <dsp:txXfrm>
        <a:off x="5099019" y="3699776"/>
        <a:ext cx="1460847" cy="1460847"/>
      </dsp:txXfrm>
    </dsp:sp>
    <dsp:sp modelId="{0C1C3F68-7E4D-47D6-BD37-ED5881ED4984}">
      <dsp:nvSpPr>
        <dsp:cNvPr id="10" name="Стрелка вправо 9"/>
        <dsp:cNvSpPr/>
      </dsp:nvSpPr>
      <dsp:spPr bwMode="white">
        <a:xfrm rot="7794047">
          <a:off x="3479120" y="3354561"/>
          <a:ext cx="368846" cy="496688"/>
        </a:xfrm>
        <a:prstGeom prst="rightArrow">
          <a:avLst>
            <a:gd name="adj1" fmla="val 60000"/>
            <a:gd name="adj2" fmla="val 50000"/>
          </a:avLst>
        </a:prstGeom>
        <a:sp3d z="-227350" prstMaterial="matte"/>
      </dsp:spPr>
      <dsp:style>
        <a:lnRef idx="0">
          <a:schemeClr val="lt1"/>
        </a:lnRef>
        <a:fillRef idx="1">
          <a:schemeClr val="accent4">
            <a:hueOff val="10170000"/>
            <a:satOff val="36765"/>
            <a:lumOff val="5823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 b="1"/>
        </a:p>
      </dsp:txBody>
      <dsp:txXfrm rot="7794047">
        <a:off x="3479120" y="3354561"/>
        <a:ext cx="368846" cy="496688"/>
      </dsp:txXfrm>
    </dsp:sp>
    <dsp:sp modelId="{59FE293D-59DE-49B5-AF0A-DBCE9212B8BC}">
      <dsp:nvSpPr>
        <dsp:cNvPr id="11" name="Овал 10"/>
        <dsp:cNvSpPr/>
      </dsp:nvSpPr>
      <dsp:spPr bwMode="white">
        <a:xfrm>
          <a:off x="2241375" y="3699776"/>
          <a:ext cx="1460847" cy="1460847"/>
        </a:xfrm>
        <a:prstGeom prst="ellipse">
          <a:avLst/>
        </a:prstGeom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4">
            <a:hueOff val="10170000"/>
            <a:satOff val="36765"/>
            <a:lumOff val="58235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100" b="1"/>
            <a:t>Средства накопления</a:t>
          </a:r>
          <a:endParaRPr lang="ru-RU" sz="2100" b="1" dirty="0"/>
        </a:p>
      </dsp:txBody>
      <dsp:txXfrm>
        <a:off x="2241375" y="3699776"/>
        <a:ext cx="1460847" cy="1460847"/>
      </dsp:txXfrm>
    </dsp:sp>
    <dsp:sp modelId="{BDA08078-2647-4EB1-B3B8-476A46C64DE8}">
      <dsp:nvSpPr>
        <dsp:cNvPr id="12" name="Стрелка вправо 11"/>
        <dsp:cNvSpPr/>
      </dsp:nvSpPr>
      <dsp:spPr bwMode="white">
        <a:xfrm rot="11610496">
          <a:off x="2710101" y="2211278"/>
          <a:ext cx="659685" cy="496688"/>
        </a:xfrm>
        <a:prstGeom prst="rightArrow">
          <a:avLst>
            <a:gd name="adj1" fmla="val 60000"/>
            <a:gd name="adj2" fmla="val 50000"/>
          </a:avLst>
        </a:prstGeom>
        <a:sp3d z="-227350" prstMaterial="matte"/>
      </dsp:spPr>
      <dsp:style>
        <a:lnRef idx="0">
          <a:schemeClr val="lt1"/>
        </a:lnRef>
        <a:fillRef idx="1">
          <a:schemeClr val="accent4">
            <a:hueOff val="13560000"/>
            <a:satOff val="49020"/>
            <a:lumOff val="77647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900"/>
          </a:lvl1pPr>
          <a:lvl2pPr marL="114300" indent="-114300" algn="ctr">
            <a:defRPr sz="1500"/>
          </a:lvl2pPr>
          <a:lvl3pPr marL="228600" indent="-114300" algn="ctr">
            <a:defRPr sz="1500"/>
          </a:lvl3pPr>
          <a:lvl4pPr marL="342900" indent="-114300" algn="ctr">
            <a:defRPr sz="1500"/>
          </a:lvl4pPr>
          <a:lvl5pPr marL="457200" indent="-114300" algn="ctr">
            <a:defRPr sz="1500"/>
          </a:lvl5pPr>
          <a:lvl6pPr marL="571500" indent="-114300" algn="ctr">
            <a:defRPr sz="1500"/>
          </a:lvl6pPr>
          <a:lvl7pPr marL="685800" indent="-114300" algn="ctr">
            <a:defRPr sz="1500"/>
          </a:lvl7pPr>
          <a:lvl8pPr marL="800100" indent="-114300" algn="ctr">
            <a:defRPr sz="1500"/>
          </a:lvl8pPr>
          <a:lvl9pPr marL="914400" indent="-114300" algn="ctr">
            <a:defRPr sz="15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ru-RU" b="1"/>
        </a:p>
      </dsp:txBody>
      <dsp:txXfrm rot="11610496">
        <a:off x="2710101" y="2211278"/>
        <a:ext cx="659685" cy="496688"/>
      </dsp:txXfrm>
    </dsp:sp>
    <dsp:sp modelId="{DFAB5723-C4D3-4087-97E5-1FC57E976DFF}">
      <dsp:nvSpPr>
        <dsp:cNvPr id="13" name="Овал 12"/>
        <dsp:cNvSpPr/>
      </dsp:nvSpPr>
      <dsp:spPr bwMode="white">
        <a:xfrm>
          <a:off x="994175" y="1413211"/>
          <a:ext cx="1460847" cy="1460847"/>
        </a:xfrm>
        <a:prstGeom prst="ellipse">
          <a:avLst/>
        </a:prstGeom>
        <a:sp3d extrusionH="152250" prstMaterial="matte">
          <a:bevelT w="165100" prst="coolSlant"/>
        </a:sp3d>
      </dsp:spPr>
      <dsp:style>
        <a:lnRef idx="0">
          <a:schemeClr val="lt1"/>
        </a:lnRef>
        <a:fillRef idx="1">
          <a:schemeClr val="accent4">
            <a:hueOff val="13560000"/>
            <a:satOff val="49020"/>
            <a:lumOff val="77647"/>
            <a:alpha val="10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26670" tIns="26670" rIns="26670" bIns="2667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2100" b="1"/>
            <a:t>Средство   обращения</a:t>
          </a:r>
          <a:endParaRPr lang="ru-RU" sz="2100" b="1" dirty="0"/>
        </a:p>
      </dsp:txBody>
      <dsp:txXfrm>
        <a:off x="994175" y="1413211"/>
        <a:ext cx="1460847" cy="14608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type="homePlate" r:blip="" rot="180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type="chevron" r:blip="" rot="90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90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ound2SameRect" r:blip="" rot="-90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type="upArrowCallout" r:blip="" rot="180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type="upArrowCallout" r:blip="" rot="180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9">
  <dgm:title val=""/>
  <dgm:desc val=""/>
  <dgm:catLst>
    <dgm:cat type="3D" pri="11900"/>
  </dgm:catLst>
  <dgm:scene3d>
    <a:camera prst="perspectiveRelaxed">
      <a:rot lat="19149996" lon="20104178" rev="1577324"/>
    </a:camera>
    <a:lightRig rig="soft" dir="t"/>
    <a:backdrop>
      <a:anchor x="0" y="0" z="-210000"/>
      <a:norm dx="0" dy="0" dz="914400"/>
      <a:up dx="0" dy="914400" dz="0"/>
    </a:backdrop>
  </dgm:scene3d>
  <dgm:styleLbl name="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prstMaterial="matte"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22735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>
      <a:sp3d extrusionH="28000" prstMaterial="matte"/>
    </dgm:txPr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22735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52250" prstMaterial="matte">
      <a:bevelT w="165100" prst="coolSlan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22735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 extrusionH="152250" prstMaterial="matte">
      <a:bevelT w="165100" prst="coolSlant"/>
    </dgm:sp3d>
    <dgm:txPr>
      <a:sp3d extrusionH="28000" prstMaterial="matte"/>
    </dgm:txPr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4" Type="http://schemas.openxmlformats.org/officeDocument/2006/relationships/hyperlink" Target="https://ru.wikipedia.org/wiki/%D0%9C%D0%B0%D1%80%D0%B6%D0%B8%D0%BD%D0%B0%D0%BB%D0%B8%D0%B7%D0%BC" TargetMode="External"/><Relationship Id="rId3" Type="http://schemas.openxmlformats.org/officeDocument/2006/relationships/hyperlink" Target="https://ru.wikipedia.org/wiki/%D0%AD%D0%BA%D0%BE%D0%BD%D0%BE%D0%BC%D0%B8%D0%BA%D0%B0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conomicportal.ru/ponyatiya-all/blago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52513" y="1092200"/>
            <a:ext cx="5243512" cy="3932238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1267" name="Заметки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t" anchorCtr="0"/>
          <a:p>
            <a:pPr lvl="0">
              <a:spcBef>
                <a:spcPct val="0"/>
              </a:spcBef>
            </a:pPr>
            <a:r>
              <a:rPr lang="ru-RU" altLang="ru-RU" dirty="0"/>
              <a:t>Натуральная – что это, название товара, какую потребность удовлетворяет</a:t>
            </a:r>
            <a:br>
              <a:rPr lang="ru-RU" altLang="ru-RU" dirty="0"/>
            </a:br>
            <a:r>
              <a:rPr lang="ru-RU" altLang="ru-RU" dirty="0"/>
              <a:t>количественная – единицы измерения НЕСОИЗМЕРИМЫ</a:t>
            </a:r>
            <a:br>
              <a:rPr lang="ru-RU" altLang="ru-RU" dirty="0"/>
            </a:br>
            <a:r>
              <a:rPr lang="ru-RU" altLang="ru-RU" dirty="0"/>
              <a:t>качественная – степень удовлетворения потребности (полезность – субъективная) – НЕСОПОСТАВИМЫ (НЕСРАВНИМЫ)</a:t>
            </a:r>
            <a:br>
              <a:rPr lang="ru-RU" altLang="ru-RU" dirty="0"/>
            </a:br>
            <a:r>
              <a:rPr lang="ru-RU" altLang="ru-RU" dirty="0"/>
              <a:t>ПРОТИВОРЕЧИЕ – КАК НАХОДЯТ ПРОПОРЦИЮ ОБМЕНА??</a:t>
            </a:r>
            <a:endParaRPr lang="ru-RU" altLang="ru-RU" dirty="0"/>
          </a:p>
          <a:p>
            <a:pPr lvl="0">
              <a:spcBef>
                <a:spcPct val="0"/>
              </a:spcBef>
            </a:pPr>
            <a:r>
              <a:rPr lang="ru-RU" altLang="ru-RU" dirty="0"/>
              <a:t>Когда говорят просто стоимость имеют в виду МЕНОВУЮ</a:t>
            </a:r>
            <a:endParaRPr lang="ru-RU" altLang="ru-RU" dirty="0"/>
          </a:p>
        </p:txBody>
      </p:sp>
      <p:sp>
        <p:nvSpPr>
          <p:cNvPr id="11268" name="Номер слайда 3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defTabSz="914400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ru-RU" altLang="ru-RU" sz="1800" dirty="0">
                <a:solidFill>
                  <a:schemeClr val="tx1"/>
                </a:solidFill>
                <a:latin typeface="Calibri" panose="020F0502020204030204" charset="0"/>
              </a:rPr>
            </a:fld>
            <a:endParaRPr lang="ru-RU" altLang="ru-RU" sz="1800" dirty="0">
              <a:solidFill>
                <a:schemeClr val="tx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52513" y="1092200"/>
            <a:ext cx="5243512" cy="3932238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t" anchorCtr="0"/>
          <a:p>
            <a:pPr lvl="0">
              <a:spcBef>
                <a:spcPct val="0"/>
              </a:spcBef>
            </a:pPr>
            <a:r>
              <a:rPr lang="ru-RU" altLang="ru-RU" b="1" dirty="0"/>
              <a:t>Австрийская школа</a:t>
            </a:r>
            <a:r>
              <a:rPr lang="ru-RU" altLang="ru-RU" dirty="0"/>
              <a:t> (также Венская школа, Психологическая школа) — теоретическое направление </a:t>
            </a:r>
            <a:r>
              <a:rPr lang="ru-RU" altLang="ru-RU" dirty="0">
                <a:hlinkClick r:id="rId3" tooltip="Экономика"/>
              </a:rPr>
              <a:t>экономической науки</a:t>
            </a:r>
            <a:r>
              <a:rPr lang="ru-RU" altLang="ru-RU" dirty="0"/>
              <a:t> в рамках </a:t>
            </a:r>
            <a:r>
              <a:rPr lang="ru-RU" altLang="ru-RU" dirty="0">
                <a:hlinkClick r:id="rId4" tooltip="Маржинализм"/>
              </a:rPr>
              <a:t>маржинализма</a:t>
            </a:r>
            <a:r>
              <a:rPr lang="ru-RU" altLang="ru-RU" dirty="0"/>
              <a:t>, подчеркивающее роль самоорганизующей силы рыночного ценового механизма.</a:t>
            </a:r>
            <a:endParaRPr lang="ru-RU" altLang="ru-RU" dirty="0"/>
          </a:p>
        </p:txBody>
      </p:sp>
      <p:sp>
        <p:nvSpPr>
          <p:cNvPr id="13316" name="Номер слайда 3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defTabSz="914400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ru-RU" altLang="ru-RU" sz="1800" dirty="0">
                <a:solidFill>
                  <a:schemeClr val="tx1"/>
                </a:solidFill>
                <a:latin typeface="Calibri" panose="020F0502020204030204" charset="0"/>
              </a:rPr>
            </a:fld>
            <a:endParaRPr lang="ru-RU" altLang="ru-RU" sz="1800" dirty="0">
              <a:solidFill>
                <a:schemeClr val="tx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52513" y="1092200"/>
            <a:ext cx="5243512" cy="3932238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5363" name="Заметки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t" anchorCtr="0"/>
          <a:p>
            <a:pPr lvl="0">
              <a:spcBef>
                <a:spcPct val="0"/>
              </a:spcBef>
            </a:pPr>
            <a:endParaRPr lang="ru-RU" altLang="ru-RU" dirty="0"/>
          </a:p>
        </p:txBody>
      </p:sp>
      <p:sp>
        <p:nvSpPr>
          <p:cNvPr id="15364" name="Номер слайда 3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defTabSz="914400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ru-RU" altLang="ru-RU" sz="1800" dirty="0">
                <a:solidFill>
                  <a:schemeClr val="tx1"/>
                </a:solidFill>
                <a:latin typeface="Calibri" panose="020F0502020204030204" charset="0"/>
              </a:rPr>
            </a:fld>
            <a:endParaRPr lang="ru-RU" altLang="ru-RU" sz="1800" dirty="0">
              <a:solidFill>
                <a:schemeClr val="tx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52513" y="1092200"/>
            <a:ext cx="5243512" cy="3932238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Заметки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t" anchorCtr="0"/>
          <a:p>
            <a:pPr lvl="0">
              <a:spcBef>
                <a:spcPct val="0"/>
              </a:spcBef>
            </a:pPr>
            <a:r>
              <a:rPr lang="ru-RU" altLang="ru-RU" dirty="0"/>
              <a:t>закон, отражающий взаимосвязь между количеством потребляемого </a:t>
            </a:r>
            <a:r>
              <a:rPr lang="ru-RU" altLang="ru-RU" dirty="0">
                <a:hlinkClick r:id="rId3"/>
              </a:rPr>
              <a:t>блага</a:t>
            </a:r>
            <a:r>
              <a:rPr lang="ru-RU" altLang="ru-RU" dirty="0"/>
              <a:t> и степенью удовлетворенности от потребления каждой дополнительной единицы.</a:t>
            </a:r>
            <a:endParaRPr lang="en-US" altLang="ru-RU" dirty="0"/>
          </a:p>
          <a:p>
            <a:pPr lvl="0">
              <a:spcBef>
                <a:spcPct val="0"/>
              </a:spcBef>
            </a:pPr>
            <a:r>
              <a:rPr lang="ru-RU" altLang="ru-RU" dirty="0"/>
              <a:t>При оптовой продаже цена устанавливается на уровне предельной полезности</a:t>
            </a:r>
            <a:endParaRPr lang="ru-RU" altLang="ru-RU" dirty="0"/>
          </a:p>
        </p:txBody>
      </p:sp>
      <p:sp>
        <p:nvSpPr>
          <p:cNvPr id="19460" name="Номер слайда 3"/>
          <p:cNvSpPr txBox="1">
            <a:spLocks noGrp="1"/>
          </p:cNvSpPr>
          <p:nvPr>
            <p:ph type="sldNum" sz="quarter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defTabSz="914400">
              <a:spcBef>
                <a:spcPct val="0"/>
              </a:spcBef>
              <a:buClrTx/>
              <a:buSzTx/>
              <a:buFontTx/>
              <a:buChar char="•"/>
            </a:pPr>
            <a:fld id="{9A0DB2DC-4C9A-4742-B13C-FB6460FD3503}" type="slidenum">
              <a:rPr lang="ru-RU" altLang="ru-RU" sz="1800" dirty="0">
                <a:solidFill>
                  <a:schemeClr val="tx1"/>
                </a:solidFill>
                <a:latin typeface="Calibri" panose="020F0502020204030204" charset="0"/>
              </a:rPr>
            </a:fld>
            <a:endParaRPr lang="ru-RU" altLang="ru-RU" sz="1800" dirty="0">
              <a:solidFill>
                <a:schemeClr val="tx1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E40FA4A-4902-4BCB-939E-9FC7E43F3F53}" type="slidenum">
              <a:rPr lang="ru-RU"/>
            </a:fld>
            <a:endParaRPr lang="ru-RU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01800" y="331788"/>
            <a:ext cx="10251017" cy="57626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719667" y="1844675"/>
            <a:ext cx="53848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307667" y="1844675"/>
            <a:ext cx="53848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B1C759-58B0-4A9C-8BCD-8ADC56A6FAA2}" type="slidenum">
              <a:rPr lang="ru-RU"/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Заголовок, два объекта и текс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609600" y="1719263"/>
            <a:ext cx="5384800" cy="212883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609600" y="4000501"/>
            <a:ext cx="5384800" cy="21304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2"/>
          </p:nvPr>
        </p:nvSpPr>
        <p:spPr>
          <a:xfrm>
            <a:off x="839041" y="6356827"/>
            <a:ext cx="2741760" cy="364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3"/>
          </p:nvPr>
        </p:nvSpPr>
        <p:spPr>
          <a:xfrm>
            <a:off x="4037761" y="6356827"/>
            <a:ext cx="4116480" cy="364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99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11201" y="6356827"/>
            <a:ext cx="2741760" cy="364359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ru-RU" altLang="ru-RU" dirty="0"/>
            </a:fld>
            <a:endParaRPr lang="ru-RU" alt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B47A4DF8-D3EE-4975-94A9-9DB6FA208C14}" type="datetimeFigureOut">
              <a:rPr lang="ru-RU" smtClean="0"/>
            </a:fld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26615B05-A11F-4860-8DD1-79BBB0B8A85B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GIF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3.xml"/><Relationship Id="rId8" Type="http://schemas.openxmlformats.org/officeDocument/2006/relationships/diagramQuickStyle" Target="../diagrams/quickStyle3.xml"/><Relationship Id="rId7" Type="http://schemas.openxmlformats.org/officeDocument/2006/relationships/diagramLayout" Target="../diagrams/layout3.xml"/><Relationship Id="rId6" Type="http://schemas.openxmlformats.org/officeDocument/2006/relationships/diagramData" Target="../diagrams/data3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6.xml"/><Relationship Id="rId10" Type="http://schemas.microsoft.com/office/2007/relationships/diagramDrawing" Target="../diagrams/drawing3.xml"/><Relationship Id="rId1" Type="http://schemas.openxmlformats.org/officeDocument/2006/relationships/diagramData" Target="../diagrams/data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7.jpeg"/><Relationship Id="rId7" Type="http://schemas.openxmlformats.org/officeDocument/2006/relationships/image" Target="../media/image6.jpeg"/><Relationship Id="rId6" Type="http://schemas.openxmlformats.org/officeDocument/2006/relationships/image" Target="../media/image5.jpeg"/><Relationship Id="rId5" Type="http://schemas.microsoft.com/office/2007/relationships/diagramDrawing" Target="../diagrams/drawing4.xml"/><Relationship Id="rId4" Type="http://schemas.openxmlformats.org/officeDocument/2006/relationships/diagramColors" Target="../diagrams/colors4.xml"/><Relationship Id="rId3" Type="http://schemas.openxmlformats.org/officeDocument/2006/relationships/diagramQuickStyle" Target="../diagrams/quickStyle4.xml"/><Relationship Id="rId2" Type="http://schemas.openxmlformats.org/officeDocument/2006/relationships/diagramLayout" Target="../diagrams/layout4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6.xml"/><Relationship Id="rId14" Type="http://schemas.openxmlformats.org/officeDocument/2006/relationships/image" Target="../media/image13.jpeg"/><Relationship Id="rId13" Type="http://schemas.openxmlformats.org/officeDocument/2006/relationships/image" Target="../media/image12.jpeg"/><Relationship Id="rId12" Type="http://schemas.openxmlformats.org/officeDocument/2006/relationships/image" Target="../media/image11.jpeg"/><Relationship Id="rId11" Type="http://schemas.openxmlformats.org/officeDocument/2006/relationships/image" Target="../media/image10.jpeg"/><Relationship Id="rId10" Type="http://schemas.openxmlformats.org/officeDocument/2006/relationships/image" Target="../media/image9.jpeg"/><Relationship Id="rId1" Type="http://schemas.openxmlformats.org/officeDocument/2006/relationships/diagramData" Target="../diagrams/data4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5.xml"/><Relationship Id="rId4" Type="http://schemas.openxmlformats.org/officeDocument/2006/relationships/diagramColors" Target="../diagrams/colors5.xml"/><Relationship Id="rId3" Type="http://schemas.openxmlformats.org/officeDocument/2006/relationships/diagramQuickStyle" Target="../diagrams/quickStyle5.xml"/><Relationship Id="rId2" Type="http://schemas.openxmlformats.org/officeDocument/2006/relationships/diagramLayout" Target="../diagrams/layout5.xml"/><Relationship Id="rId1" Type="http://schemas.openxmlformats.org/officeDocument/2006/relationships/diagramData" Target="../diagrams/data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7.xml"/><Relationship Id="rId8" Type="http://schemas.openxmlformats.org/officeDocument/2006/relationships/diagramQuickStyle" Target="../diagrams/quickStyle7.xml"/><Relationship Id="rId7" Type="http://schemas.openxmlformats.org/officeDocument/2006/relationships/diagramLayout" Target="../diagrams/layout7.xml"/><Relationship Id="rId6" Type="http://schemas.openxmlformats.org/officeDocument/2006/relationships/diagramData" Target="../diagrams/data7.xml"/><Relationship Id="rId5" Type="http://schemas.microsoft.com/office/2007/relationships/diagramDrawing" Target="../diagrams/drawing6.xml"/><Relationship Id="rId4" Type="http://schemas.openxmlformats.org/officeDocument/2006/relationships/diagramColors" Target="../diagrams/colors6.xml"/><Relationship Id="rId3" Type="http://schemas.openxmlformats.org/officeDocument/2006/relationships/diagramQuickStyle" Target="../diagrams/quickStyle6.xml"/><Relationship Id="rId2" Type="http://schemas.openxmlformats.org/officeDocument/2006/relationships/diagramLayout" Target="../diagrams/layout6.xml"/><Relationship Id="rId11" Type="http://schemas.openxmlformats.org/officeDocument/2006/relationships/slideLayout" Target="../slideLayouts/slideLayout2.xml"/><Relationship Id="rId10" Type="http://schemas.microsoft.com/office/2007/relationships/diagramDrawing" Target="../diagrams/drawing7.xml"/><Relationship Id="rId1" Type="http://schemas.openxmlformats.org/officeDocument/2006/relationships/diagramData" Target="../diagrams/data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6.xml"/><Relationship Id="rId5" Type="http://schemas.microsoft.com/office/2007/relationships/diagramDrawing" Target="../diagrams/drawing8.xml"/><Relationship Id="rId4" Type="http://schemas.openxmlformats.org/officeDocument/2006/relationships/diagramColors" Target="../diagrams/colors8.xml"/><Relationship Id="rId3" Type="http://schemas.openxmlformats.org/officeDocument/2006/relationships/diagramQuickStyle" Target="../diagrams/quickStyle8.xml"/><Relationship Id="rId2" Type="http://schemas.openxmlformats.org/officeDocument/2006/relationships/diagramLayout" Target="../diagrams/layout8.xml"/><Relationship Id="rId1" Type="http://schemas.openxmlformats.org/officeDocument/2006/relationships/diagramData" Target="../diagrams/data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microsoft.com/office/2007/relationships/diagramDrawing" Target="../diagrams/drawing9.xml"/><Relationship Id="rId4" Type="http://schemas.openxmlformats.org/officeDocument/2006/relationships/diagramColors" Target="../diagrams/colors9.xml"/><Relationship Id="rId3" Type="http://schemas.openxmlformats.org/officeDocument/2006/relationships/diagramQuickStyle" Target="../diagrams/quickStyle9.xml"/><Relationship Id="rId2" Type="http://schemas.openxmlformats.org/officeDocument/2006/relationships/diagramLayout" Target="../diagrams/layout9.xml"/><Relationship Id="rId1" Type="http://schemas.openxmlformats.org/officeDocument/2006/relationships/diagramData" Target="../diagrams/data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48075" y="1397635"/>
            <a:ext cx="6985000" cy="2520950"/>
          </a:xfrm>
        </p:spPr>
        <p:txBody>
          <a:bodyPr/>
          <a:lstStyle/>
          <a:p>
            <a:pPr>
              <a:lnSpc>
                <a:spcPct val="95000"/>
              </a:lnSpc>
            </a:pPr>
            <a:r>
              <a:rPr lang="en-US" sz="2800" b="1" dirty="0">
                <a:solidFill>
                  <a:schemeClr val="tx1"/>
                </a:solidFill>
              </a:rPr>
              <a:t>Лекция №</a:t>
            </a:r>
            <a:r>
              <a:rPr lang="ru-RU" altLang="en-US" sz="2800" b="1" dirty="0">
                <a:solidFill>
                  <a:schemeClr val="tx1"/>
                </a:solidFill>
              </a:rPr>
              <a:t>4</a:t>
            </a:r>
            <a:br>
              <a:rPr lang="ru-RU" sz="2800" b="1" dirty="0">
                <a:solidFill>
                  <a:schemeClr val="tx1"/>
                </a:solidFill>
              </a:rPr>
            </a:br>
            <a:r>
              <a:rPr lang="ru-RU" sz="2800" b="1" dirty="0">
                <a:solidFill>
                  <a:schemeClr val="tx1"/>
                </a:solidFill>
                <a:sym typeface="+mn-ea"/>
              </a:rPr>
              <a:t>Развитие товарно-денежных отношений – основа</a:t>
            </a:r>
            <a:r>
              <a:rPr lang="en-US" sz="2800" b="1" dirty="0">
                <a:solidFill>
                  <a:schemeClr val="tx1"/>
                </a:solidFill>
                <a:sym typeface="+mn-ea"/>
              </a:rPr>
              <a:t> возникновения и функциониров</a:t>
            </a:r>
            <a:r>
              <a:rPr lang="ru-RU" sz="2800" b="1" dirty="0" err="1">
                <a:solidFill>
                  <a:schemeClr val="tx1"/>
                </a:solidFill>
                <a:sym typeface="+mn-ea"/>
              </a:rPr>
              <a:t>ания</a:t>
            </a:r>
            <a:r>
              <a:rPr lang="ru-RU" sz="2800" b="1" dirty="0">
                <a:solidFill>
                  <a:schemeClr val="tx1"/>
                </a:solidFill>
                <a:sym typeface="+mn-ea"/>
              </a:rPr>
              <a:t> рыночной экономики</a:t>
            </a:r>
            <a:r>
              <a:rPr lang="ru-RU" sz="2800" b="1" dirty="0">
                <a:solidFill>
                  <a:schemeClr val="tx1"/>
                </a:solidFill>
              </a:rPr>
              <a:t> </a:t>
            </a:r>
            <a:endParaRPr lang="ru-RU" sz="2800" b="1" dirty="0">
              <a:solidFill>
                <a:schemeClr val="tx1"/>
              </a:solidFill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67608" y="4581128"/>
            <a:ext cx="7848600" cy="1295747"/>
          </a:xfrm>
        </p:spPr>
        <p:txBody>
          <a:bodyPr/>
          <a:lstStyle/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кандидат экономических наук (</a:t>
            </a:r>
            <a:r>
              <a:rPr lang="en-US" altLang="ru-RU" sz="2400" b="1" dirty="0">
                <a:solidFill>
                  <a:schemeClr val="tx1"/>
                </a:solidFill>
                <a:sym typeface="+mn-ea"/>
              </a:rPr>
              <a:t>PhD</a:t>
            </a: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),</a:t>
            </a:r>
            <a:r>
              <a:rPr lang="ru-RU" sz="2400" b="1" dirty="0">
                <a:solidFill>
                  <a:schemeClr val="tx1"/>
                </a:solidFill>
                <a:sym typeface="+mn-ea"/>
              </a:rPr>
              <a:t>  </a:t>
            </a:r>
            <a:r>
              <a:rPr lang="ru-RU" altLang="en-US" sz="2400" b="1" dirty="0">
                <a:solidFill>
                  <a:schemeClr val="tx1"/>
                </a:solidFill>
                <a:sym typeface="+mn-ea"/>
              </a:rPr>
              <a:t>и.о.доцент  </a:t>
            </a:r>
            <a:endParaRPr lang="ru-RU" altLang="en-US" sz="2400" b="1" dirty="0">
              <a:solidFill>
                <a:schemeClr val="tx1"/>
              </a:solidFill>
            </a:endParaRPr>
          </a:p>
          <a:p>
            <a:pPr marL="0" indent="0"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ru-RU" sz="2400" b="1" dirty="0">
                <a:solidFill>
                  <a:schemeClr val="tx1"/>
                </a:solidFill>
                <a:sym typeface="+mn-ea"/>
              </a:rPr>
              <a:t>Одилова Дилноза Барнаевна</a:t>
            </a:r>
            <a:endParaRPr lang="ru-RU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432175" y="260350"/>
            <a:ext cx="7272338" cy="7531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</a:rPr>
              <a:t>Ташкентский государственный экономический университет Республики Узбекистан</a:t>
            </a:r>
            <a:r>
              <a:rPr lang="ru-RU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</a:rPr>
              <a:t>  </a:t>
            </a:r>
            <a:endParaRPr lang="ru-RU" sz="22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</a:endParaRP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3790950" y="6237288"/>
            <a:ext cx="612140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Ташкент - </a:t>
            </a:r>
            <a:r>
              <a:rPr lang="ru-RU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2023г</a:t>
            </a:r>
            <a:r>
              <a:rPr lang="ru-RU" sz="2000" dirty="0">
                <a:solidFill>
                  <a:schemeClr val="bg2"/>
                </a:solidFill>
              </a:rPr>
              <a:t>.</a:t>
            </a:r>
            <a:endParaRPr lang="ru-RU" sz="2000" dirty="0">
              <a:solidFill>
                <a:schemeClr val="bg2"/>
              </a:solidFill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1" cstate="print">
            <a:lum contrast="12000"/>
          </a:blip>
          <a:srcRect/>
          <a:stretch>
            <a:fillRect/>
          </a:stretch>
        </p:blipFill>
        <p:spPr bwMode="auto">
          <a:xfrm>
            <a:off x="1830388" y="188913"/>
            <a:ext cx="1025525" cy="982662"/>
          </a:xfrm>
          <a:prstGeom prst="rect">
            <a:avLst/>
          </a:prstGeom>
          <a:noFill/>
          <a:ln w="31750" algn="ctr">
            <a:noFill/>
            <a:miter lim="800000"/>
            <a:headEnd/>
            <a:tailEnd/>
          </a:ln>
          <a:effectLst/>
        </p:spPr>
      </p:pic>
      <p:pic>
        <p:nvPicPr>
          <p:cNvPr id="2055" name="Picture 7" descr="3dflagsdotcom_uzbek_2fagl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6625" y="1268413"/>
            <a:ext cx="936625" cy="546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idx="1"/>
          </p:nvPr>
        </p:nvSpPr>
        <p:spPr>
          <a:xfrm>
            <a:off x="2063750" y="1484313"/>
            <a:ext cx="8229600" cy="4824412"/>
          </a:xfrm>
        </p:spPr>
        <p:txBody>
          <a:bodyPr/>
          <a:lstStyle/>
          <a:p>
            <a:pPr eaLnBrk="1" hangingPunct="1"/>
            <a:r>
              <a:rPr lang="ru-RU" sz="2400" b="1" dirty="0"/>
              <a:t>1. Натуральная и товарная форма организации общественного производства.</a:t>
            </a:r>
            <a:endParaRPr lang="ru-RU" sz="2400" b="1" dirty="0"/>
          </a:p>
          <a:p>
            <a:pPr eaLnBrk="1" hangingPunct="1"/>
            <a:r>
              <a:rPr lang="ru-RU" sz="2400" b="1" dirty="0"/>
              <a:t>2. Товар и его свойства. Характер труда, вложенного в товар.</a:t>
            </a:r>
            <a:endParaRPr lang="ru-RU" sz="2400" b="1" dirty="0"/>
          </a:p>
          <a:p>
            <a:pPr eaLnBrk="1" hangingPunct="1"/>
            <a:r>
              <a:rPr lang="ru-RU" sz="2400" b="1" dirty="0"/>
              <a:t>3. Величина стоимости товара и факторы, влияющие на неё. Закон стоимости.</a:t>
            </a:r>
            <a:endParaRPr lang="ru-RU" sz="2400" b="1" dirty="0"/>
          </a:p>
          <a:p>
            <a:pPr eaLnBrk="1" hangingPunct="1"/>
            <a:r>
              <a:rPr lang="ru-RU" sz="2400" b="1" dirty="0"/>
              <a:t>4. Возникновение, сущность и функции денег.</a:t>
            </a:r>
            <a:endParaRPr lang="ru-RU" sz="2400" b="1" dirty="0"/>
          </a:p>
          <a:p>
            <a:pPr eaLnBrk="1" hangingPunct="1"/>
            <a:r>
              <a:rPr lang="ru-RU" sz="2400" b="1" dirty="0"/>
              <a:t>5.Введение национальной валюты - сума в обращение и его свободная конвертация.</a:t>
            </a:r>
            <a:endParaRPr lang="ru-RU" sz="2400" b="1" dirty="0"/>
          </a:p>
          <a:p>
            <a:pPr marL="0" indent="0" eaLnBrk="1" hangingPunct="1">
              <a:buNone/>
            </a:pPr>
            <a:endParaRPr lang="ru-RU" sz="2400" b="1" dirty="0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title"/>
          </p:nvPr>
        </p:nvSpPr>
        <p:spPr>
          <a:xfrm>
            <a:off x="2800350" y="331788"/>
            <a:ext cx="6032500" cy="576262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ru-RU" dirty="0"/>
              <a:t>План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2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585845" y="1052830"/>
            <a:ext cx="6586220" cy="2656205"/>
          </a:xfrm>
        </p:spPr>
        <p:txBody>
          <a:bodyPr/>
          <a:lstStyle/>
          <a:p>
            <a:pPr marL="179705" indent="-685800" eaLnBrk="1" fontAlgn="auto" hangingPunct="1">
              <a:spcAft>
                <a:spcPts val="0"/>
              </a:spcAft>
              <a:defRPr/>
            </a:pPr>
            <a:r>
              <a:rPr lang="ru-RU" sz="3200" b="0" dirty="0">
                <a:solidFill>
                  <a:schemeClr val="tx1"/>
                </a:solidFill>
                <a:latin typeface="Arial Black" panose="020B0A04020102020204" pitchFamily="34" charset="0"/>
              </a:rPr>
              <a:t>1. </a:t>
            </a:r>
            <a:r>
              <a:rPr lang="ru-RU" sz="3200" dirty="0">
                <a:solidFill>
                  <a:schemeClr val="tx1"/>
                </a:solidFill>
                <a:latin typeface="Arial Black" panose="020B0A04020102020204" pitchFamily="34" charset="0"/>
              </a:rPr>
              <a:t>Натуральная и товарная форма организации общественного производства</a:t>
            </a:r>
            <a:endParaRPr lang="ru-RU" sz="3200" b="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Скругленный прямоугольник 2"/>
          <p:cNvSpPr/>
          <p:nvPr/>
        </p:nvSpPr>
        <p:spPr>
          <a:xfrm>
            <a:off x="2095260" y="620706"/>
            <a:ext cx="8429205" cy="46805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Формы и модели общественного хозяйства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095260" y="1146360"/>
            <a:ext cx="3501008" cy="3470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635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Натуральная форма хозяйства</a:t>
            </a:r>
            <a:endParaRPr lang="ru-RU" altLang="ru-RU" sz="1635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667740" y="1167963"/>
            <a:ext cx="3856725" cy="325474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635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Товарная форма хозяйства</a:t>
            </a:r>
            <a:endParaRPr lang="ru-RU" altLang="ru-RU" sz="1635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8" name="Стрелка вправо с вырезом 7"/>
          <p:cNvSpPr/>
          <p:nvPr/>
        </p:nvSpPr>
        <p:spPr>
          <a:xfrm>
            <a:off x="5846854" y="1126198"/>
            <a:ext cx="659589" cy="432045"/>
          </a:xfrm>
          <a:prstGeom prst="notchedRightArrow">
            <a:avLst/>
          </a:prstGeom>
          <a:solidFill>
            <a:srgbClr val="C00000"/>
          </a:solidFill>
          <a:ln>
            <a:solidFill>
              <a:srgbClr val="00009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3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Выноска со стрелкой вниз 8"/>
          <p:cNvSpPr/>
          <p:nvPr/>
        </p:nvSpPr>
        <p:spPr>
          <a:xfrm>
            <a:off x="2157186" y="1582727"/>
            <a:ext cx="3356993" cy="1715221"/>
          </a:xfrm>
          <a:prstGeom prst="downArrowCallou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360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это такая форма хозяйствования, в которой производство материальных благ и услуг осуществляется для собственного потребления внутри отдельной хозяйственной единицы</a:t>
            </a:r>
            <a:endParaRPr lang="ru-RU" altLang="ru-RU" sz="1360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0" name="Выноска со стрелкой вниз 9"/>
          <p:cNvSpPr/>
          <p:nvPr/>
        </p:nvSpPr>
        <p:spPr>
          <a:xfrm>
            <a:off x="6676381" y="1540962"/>
            <a:ext cx="3858166" cy="1705139"/>
          </a:xfrm>
          <a:prstGeom prst="downArrowCallou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36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это общественная форма организации экономики, основанная на товарном производстве и обеспечивающая взаимодействие между производством и потреблением посредством рынка.</a:t>
            </a:r>
            <a:endParaRPr lang="ru-RU" altLang="ru-RU" sz="1360" b="1" dirty="0">
              <a:solidFill>
                <a:schemeClr val="bg1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351607" y="3305147"/>
            <a:ext cx="3142410" cy="58182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270" b="1" i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слабое развитие общественного разделения труда.</a:t>
            </a:r>
            <a:endParaRPr lang="ru-RU" altLang="ru-RU" sz="1270" b="1" i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8889" y="3918652"/>
            <a:ext cx="3129449" cy="55589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270" b="1" i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замкнутый, локальный характер производства</a:t>
            </a:r>
            <a:endParaRPr lang="ru-RU" altLang="ru-RU" sz="1270" b="1" i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2358808" y="4500473"/>
            <a:ext cx="3128008" cy="457968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270" b="1" i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Основана на земельной собственности</a:t>
            </a:r>
            <a:endParaRPr lang="ru-RU" altLang="ru-RU" sz="1270" b="1" i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2358808" y="4997325"/>
            <a:ext cx="3128008" cy="81512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270" b="1" i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отсутствие частной собственности на землю , сращивание собственности и государственной власти</a:t>
            </a:r>
            <a:endParaRPr lang="ru-RU" altLang="ru-RU" sz="1270" b="1" i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5" name="Выноска со стрелкой вверх 14"/>
          <p:cNvSpPr/>
          <p:nvPr/>
        </p:nvSpPr>
        <p:spPr>
          <a:xfrm>
            <a:off x="2324244" y="5780767"/>
            <a:ext cx="3142410" cy="1012427"/>
          </a:xfrm>
          <a:prstGeom prst="upArrowCallou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360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первобытная община, азиатская община, германская община (марка), славянская община ("задруга") и др.</a:t>
            </a:r>
            <a:endParaRPr lang="ru-RU" altLang="ru-RU" sz="1360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754149" y="3247541"/>
            <a:ext cx="3858166" cy="178290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lang="ru-RU" altLang="ru-RU" sz="1360" b="1" i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продукты производятся частными, обособленными производителями, каждый из которых специализируется на выработке какого-либо одного продукта, поэтому  для удовлетворения общественных потребностей необходимы купля-продажа продуктов на рынке, товарно-денежный обмен. </a:t>
            </a:r>
            <a:endParaRPr lang="ru-RU" altLang="ru-RU" sz="1360" b="1" i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7095465" y="5062132"/>
            <a:ext cx="3429000" cy="783442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>
              <a:buNone/>
            </a:pPr>
            <a:r>
              <a:rPr lang="ru-RU" altLang="ru-RU" sz="1360" b="1" i="1" u="sng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условие возникновения товарного производства</a:t>
            </a:r>
            <a:r>
              <a:rPr lang="ru-RU" altLang="ru-RU" sz="1360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связано с </a:t>
            </a:r>
            <a:r>
              <a:rPr lang="ru-RU" altLang="ru-RU" sz="1360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общественным разделением труда</a:t>
            </a:r>
            <a:endParaRPr lang="ru-RU" altLang="ru-RU" sz="1360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22" name="Выгнутая влево стрелка 21"/>
          <p:cNvSpPr/>
          <p:nvPr/>
        </p:nvSpPr>
        <p:spPr>
          <a:xfrm>
            <a:off x="6432996" y="4802905"/>
            <a:ext cx="642307" cy="846809"/>
          </a:xfrm>
          <a:prstGeom prst="curvedRightArrow">
            <a:avLst>
              <a:gd name="adj1" fmla="val 19691"/>
              <a:gd name="adj2" fmla="val 50000"/>
              <a:gd name="adj3" fmla="val 25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7242361" y="5877257"/>
            <a:ext cx="3286425" cy="936098"/>
          </a:xfrm>
          <a:prstGeom prst="roundRect">
            <a:avLst/>
          </a:prstGeom>
          <a:solidFill>
            <a:srgbClr val="7030A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eaLnBrk="1" hangingPunct="1">
              <a:buNone/>
            </a:pPr>
            <a:r>
              <a:rPr lang="ru-RU" altLang="ru-RU" sz="1360" b="1" i="1" u="sng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причина возникновения товарного производства</a:t>
            </a:r>
            <a:r>
              <a:rPr lang="ru-RU" altLang="ru-RU" sz="1360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   - </a:t>
            </a:r>
            <a:r>
              <a:rPr lang="ru-RU" altLang="ru-RU" sz="1360" b="1" dirty="0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экономическое обособление товаропроизводителей как различных собственников. </a:t>
            </a:r>
            <a:endParaRPr lang="ru-RU" altLang="ru-RU" sz="1360" b="1" dirty="0">
              <a:solidFill>
                <a:srgbClr val="FFFFFF"/>
              </a:solidFill>
              <a:latin typeface="Calibri" panose="020F0502020204030204" charset="0"/>
              <a:ea typeface="Calibri" panose="020F0502020204030204" charset="0"/>
            </a:endParaRPr>
          </a:p>
        </p:txBody>
      </p:sp>
      <p:sp>
        <p:nvSpPr>
          <p:cNvPr id="24" name="Выгнутая влево стрелка 23"/>
          <p:cNvSpPr/>
          <p:nvPr/>
        </p:nvSpPr>
        <p:spPr>
          <a:xfrm>
            <a:off x="6605814" y="4802905"/>
            <a:ext cx="573180" cy="1798749"/>
          </a:xfrm>
          <a:prstGeom prst="curvedRightArrow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62" name="Прямоугольник 4"/>
          <p:cNvSpPr/>
          <p:nvPr/>
        </p:nvSpPr>
        <p:spPr>
          <a:xfrm>
            <a:off x="2610835" y="-30243"/>
            <a:ext cx="7642882" cy="6502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buClr>
                <a:srgbClr val="C00000"/>
              </a:buClr>
              <a:buFont typeface="Calibri Light" panose="020F0302020204030204" pitchFamily="34" charset="0"/>
              <a:buAutoNum type="arabicPeriod"/>
            </a:pPr>
            <a:r>
              <a:rPr lang="ru-RU" altLang="ru-RU" sz="181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от натурального производства к товарному производству и его развитие.</a:t>
            </a:r>
            <a:endParaRPr lang="ru-RU" altLang="ru-RU" sz="1815" b="1" dirty="0">
              <a:solidFill>
                <a:srgbClr val="000099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38250"/>
          </a:xfrm>
        </p:spPr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sym typeface="+mn-ea"/>
              </a:rPr>
              <a:t>В основе </a:t>
            </a:r>
            <a:r>
              <a:rPr lang="en-US" sz="2400" b="1">
                <a:latin typeface="Times New Roman" panose="02020603050405020304" pitchFamily="18" charset="0"/>
                <a:sym typeface="+mn-ea"/>
              </a:rPr>
              <a:t>экономического развития</a:t>
            </a:r>
            <a:r>
              <a:rPr lang="en-US" sz="2400">
                <a:latin typeface="Times New Roman" panose="02020603050405020304" pitchFamily="18" charset="0"/>
                <a:sym typeface="+mn-ea"/>
              </a:rPr>
              <a:t> лежит </a:t>
            </a:r>
            <a:r>
              <a:rPr lang="en-US" sz="2400" b="1" u="sng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естественное разделение труда - разделение функций</a:t>
            </a:r>
            <a:r>
              <a:rPr lang="en-US" sz="2400">
                <a:latin typeface="Times New Roman" panose="02020603050405020304" pitchFamily="18" charset="0"/>
                <a:sym typeface="+mn-ea"/>
              </a:rPr>
              <a:t> между людьми, исходя из половозрастных, физических, физиологических и других особенностей. </a:t>
            </a:r>
            <a:endParaRPr lang="en-US" altLang="en-US" sz="2400" b="0">
              <a:latin typeface="Times New Roman" panose="02020603050405020304" pitchFamily="18" charset="0"/>
              <a:sym typeface="+mn-ea"/>
            </a:endParaRPr>
          </a:p>
        </p:txBody>
      </p:sp>
      <p:sp>
        <p:nvSpPr>
          <p:cNvPr id="100" name="Текстовое поле 99"/>
          <p:cNvSpPr txBox="1"/>
          <p:nvPr/>
        </p:nvSpPr>
        <p:spPr>
          <a:xfrm>
            <a:off x="397510" y="1428115"/>
            <a:ext cx="10713720" cy="5277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449580" algn="just"/>
            <a:r>
              <a:rPr lang="en-US" sz="2800" b="0">
                <a:latin typeface="Times New Roman" panose="02020603050405020304" pitchFamily="18" charset="0"/>
              </a:rPr>
              <a:t> В истории общественного разделения труда выделяют три этапа:</a:t>
            </a:r>
            <a:endParaRPr lang="en-US" sz="2800" b="0">
              <a:latin typeface="Times New Roman" panose="02020603050405020304" pitchFamily="18" charset="0"/>
            </a:endParaRPr>
          </a:p>
          <a:p>
            <a:pPr indent="449580" algn="just"/>
            <a:endParaRPr lang="en-US" sz="2800" b="0">
              <a:latin typeface="Times New Roman" panose="02020603050405020304" pitchFamily="18" charset="0"/>
            </a:endParaRPr>
          </a:p>
          <a:p>
            <a:pPr indent="449580" algn="just"/>
            <a:endParaRPr lang="en-US" sz="2800" b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На первом</a:t>
            </a:r>
            <a:r>
              <a:rPr lang="en-US" sz="2800" b="0">
                <a:latin typeface="Times New Roman" panose="02020603050405020304" pitchFamily="18" charset="0"/>
              </a:rPr>
              <a:t> – отделилось скотоводство от земледелия, что создало условия для регулярного обмена между племенами.</a:t>
            </a:r>
            <a:endParaRPr lang="en-US" sz="2800" b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v"/>
            </a:pPr>
            <a:endParaRPr lang="en-US" sz="2800" b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На втором</a:t>
            </a:r>
            <a:r>
              <a:rPr lang="en-US" sz="2800" b="0">
                <a:latin typeface="Times New Roman" panose="02020603050405020304" pitchFamily="18" charset="0"/>
              </a:rPr>
              <a:t> – отделилось ремесло от земледелия, что означало зарождение товарного производства.</a:t>
            </a:r>
            <a:endParaRPr lang="en-US" sz="2800" b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v"/>
            </a:pPr>
            <a:endParaRPr lang="en-US" sz="2800" b="0">
              <a:latin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</a:rPr>
              <a:t>На третьем этапе</a:t>
            </a:r>
            <a:r>
              <a:rPr lang="en-US" sz="2800" b="0">
                <a:latin typeface="Times New Roman" panose="02020603050405020304" pitchFamily="18" charset="0"/>
              </a:rPr>
              <a:t> – произошло обособление торговли от производства и выделение купечества. В этот период рыночные связи стали регулярными.</a:t>
            </a:r>
            <a:endParaRPr lang="en-US" altLang="en-US" sz="2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085850"/>
          </a:xfrm>
        </p:spPr>
        <p:txBody>
          <a:bodyPr/>
          <a:p>
            <a:pPr algn="ctr"/>
            <a:r>
              <a:rPr lang="ru-RU" altLang="en-US" b="1">
                <a:solidFill>
                  <a:srgbClr val="00B050"/>
                </a:solidFill>
              </a:rPr>
              <a:t>Для натурального хозяйства характерны следующие признаки:</a:t>
            </a:r>
            <a:endParaRPr lang="ru-RU" altLang="en-US" b="1">
              <a:solidFill>
                <a:srgbClr val="00B050"/>
              </a:solidFill>
            </a:endParaRPr>
          </a:p>
        </p:txBody>
      </p:sp>
      <p:sp>
        <p:nvSpPr>
          <p:cNvPr id="100" name="Текстовое поле 99"/>
          <p:cNvSpPr txBox="1"/>
          <p:nvPr/>
        </p:nvSpPr>
        <p:spPr>
          <a:xfrm>
            <a:off x="1494155" y="2007870"/>
            <a:ext cx="8766175" cy="38481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84455"/>
            <a:r>
              <a:rPr lang="en-US" sz="3600" b="0">
                <a:latin typeface="Wingdings" panose="05000000000000000000" charset="0"/>
                <a:cs typeface="Times New Roman" panose="02020603050405020304" pitchFamily="18" charset="0"/>
              </a:rPr>
              <a:t>Ø </a:t>
            </a:r>
            <a:r>
              <a:rPr lang="en-US" sz="3600" b="0">
                <a:latin typeface="Times New Roman" panose="02020603050405020304" pitchFamily="18" charset="0"/>
              </a:rPr>
              <a:t>замкнутость;</a:t>
            </a:r>
            <a:r>
              <a:rPr lang="en-US" sz="3600" b="0">
                <a:latin typeface="Wingdings" panose="05000000000000000000" charset="0"/>
                <a:cs typeface="Times New Roman" panose="02020603050405020304" pitchFamily="18" charset="0"/>
              </a:rPr>
              <a:t>Ø </a:t>
            </a:r>
            <a:r>
              <a:rPr lang="en-US" sz="3600" b="0">
                <a:latin typeface="Times New Roman" panose="02020603050405020304" pitchFamily="18" charset="0"/>
              </a:rPr>
              <a:t>ограниченность и разобщенность производства;</a:t>
            </a:r>
            <a:r>
              <a:rPr lang="en-US" sz="3600" b="0">
                <a:latin typeface="Wingdings" panose="05000000000000000000" charset="0"/>
                <a:cs typeface="Times New Roman" panose="02020603050405020304" pitchFamily="18" charset="0"/>
              </a:rPr>
              <a:t>Ø </a:t>
            </a:r>
            <a:r>
              <a:rPr lang="en-US" sz="3600" b="0">
                <a:latin typeface="Times New Roman" panose="02020603050405020304" pitchFamily="18" charset="0"/>
              </a:rPr>
              <a:t>традиционность;</a:t>
            </a:r>
            <a:r>
              <a:rPr lang="en-US" sz="3600" b="0">
                <a:latin typeface="Wingdings" panose="05000000000000000000" charset="0"/>
                <a:cs typeface="Times New Roman" panose="02020603050405020304" pitchFamily="18" charset="0"/>
              </a:rPr>
              <a:t>Ø </a:t>
            </a:r>
            <a:r>
              <a:rPr lang="en-US" sz="3600" b="0">
                <a:latin typeface="Times New Roman" panose="02020603050405020304" pitchFamily="18" charset="0"/>
              </a:rPr>
              <a:t>медленные темпы развития.</a:t>
            </a:r>
            <a:endParaRPr lang="en-US" altLang="en-US" sz="36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1291590"/>
          </a:xfrm>
        </p:spPr>
        <p:txBody>
          <a:bodyPr/>
          <a:p>
            <a:pPr algn="ctr"/>
            <a:r>
              <a:rPr lang="ru-RU" altLang="en-US" b="1">
                <a:solidFill>
                  <a:srgbClr val="00B050"/>
                </a:solidFill>
              </a:rPr>
              <a:t>товарному производству присущи следующие основные черты:</a:t>
            </a:r>
            <a:endParaRPr lang="ru-RU" altLang="en-US" b="1">
              <a:solidFill>
                <a:srgbClr val="00B050"/>
              </a:solidFill>
            </a:endParaRPr>
          </a:p>
        </p:txBody>
      </p:sp>
      <p:sp>
        <p:nvSpPr>
          <p:cNvPr id="100" name="Текстовое поле 99"/>
          <p:cNvSpPr txBox="1"/>
          <p:nvPr/>
        </p:nvSpPr>
        <p:spPr>
          <a:xfrm>
            <a:off x="1017905" y="1564005"/>
            <a:ext cx="9164955" cy="49282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2800" b="0">
                <a:latin typeface="Wingdings" panose="05000000000000000000" charset="0"/>
                <a:cs typeface="Times New Roman" panose="02020603050405020304" pitchFamily="18" charset="0"/>
              </a:rPr>
              <a:t>Ø </a:t>
            </a:r>
            <a:r>
              <a:rPr lang="en-US" sz="2800" b="0">
                <a:latin typeface="Times New Roman" panose="02020603050405020304" pitchFamily="18" charset="0"/>
              </a:rPr>
              <a:t>Это хозяйство является открытой системой организационно-экономических отношений. </a:t>
            </a:r>
            <a:r>
              <a:rPr lang="en-US" sz="2800" b="0">
                <a:latin typeface="Wingdings" panose="05000000000000000000" charset="0"/>
                <a:cs typeface="Times New Roman" panose="02020603050405020304" pitchFamily="18" charset="0"/>
              </a:rPr>
              <a:t>Ø </a:t>
            </a:r>
            <a:r>
              <a:rPr lang="en-US" sz="2800" b="0">
                <a:latin typeface="Times New Roman" panose="02020603050405020304" pitchFamily="18" charset="0"/>
              </a:rPr>
              <a:t> Производство товаров основано на разделении труда. Его развитие зависит от того, насколько углубляется специализация работников, предприятий на выпуске отдельных видов продуктов или частей сложных изделий.</a:t>
            </a:r>
            <a:r>
              <a:rPr lang="en-US" sz="2800" b="0">
                <a:latin typeface="Wingdings" panose="05000000000000000000" charset="0"/>
                <a:cs typeface="Times New Roman" panose="02020603050405020304" pitchFamily="18" charset="0"/>
              </a:rPr>
              <a:t>Ø </a:t>
            </a:r>
            <a:r>
              <a:rPr lang="en-US" sz="2800" b="0">
                <a:latin typeface="Times New Roman" panose="02020603050405020304" pitchFamily="18" charset="0"/>
              </a:rPr>
              <a:t> Товарному хозяйству присущи косвенные, опосредованные связи между производством и потреблением. Они развиваются по формуле «производство-обмен-потребление».</a:t>
            </a:r>
            <a:endParaRPr lang="en-US" altLang="en-US" sz="28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100" name="Текстовое поле 99"/>
          <p:cNvSpPr txBox="1"/>
          <p:nvPr/>
        </p:nvSpPr>
        <p:spPr>
          <a:xfrm>
            <a:off x="758825" y="773430"/>
            <a:ext cx="9912985" cy="52520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49580"/>
            <a:r>
              <a:rPr lang="en-US" sz="3200" b="0">
                <a:latin typeface="Times New Roman" panose="02020603050405020304" pitchFamily="18" charset="0"/>
              </a:rPr>
              <a:t>К </a:t>
            </a:r>
            <a:r>
              <a:rPr lang="en-US" sz="3200" b="0">
                <a:solidFill>
                  <a:srgbClr val="FF0000"/>
                </a:solidFill>
                <a:latin typeface="Times New Roman" panose="02020603050405020304" pitchFamily="18" charset="0"/>
              </a:rPr>
              <a:t>преимуществам</a:t>
            </a:r>
            <a:r>
              <a:rPr lang="en-US" sz="3200" b="0">
                <a:latin typeface="Times New Roman" panose="02020603050405020304" pitchFamily="18" charset="0"/>
              </a:rPr>
              <a:t> </a:t>
            </a:r>
            <a:r>
              <a:rPr lang="en-US" sz="3200" b="1">
                <a:solidFill>
                  <a:srgbClr val="00B050"/>
                </a:solidFill>
                <a:latin typeface="Times New Roman" panose="02020603050405020304" pitchFamily="18" charset="0"/>
              </a:rPr>
              <a:t>товарного производства</a:t>
            </a:r>
            <a:r>
              <a:rPr lang="en-US" sz="3200" b="0">
                <a:latin typeface="Times New Roman" panose="02020603050405020304" pitchFamily="18" charset="0"/>
              </a:rPr>
              <a:t> перед </a:t>
            </a:r>
            <a:r>
              <a:rPr lang="en-US" sz="3200" b="0">
                <a:solidFill>
                  <a:srgbClr val="00B050"/>
                </a:solidFill>
                <a:latin typeface="Times New Roman" panose="02020603050405020304" pitchFamily="18" charset="0"/>
              </a:rPr>
              <a:t>натуральным</a:t>
            </a:r>
            <a:r>
              <a:rPr lang="en-US" sz="3200" b="0">
                <a:latin typeface="Times New Roman" panose="02020603050405020304" pitchFamily="18" charset="0"/>
              </a:rPr>
              <a:t> относится следующее:1) Специализация производителей на изготовление одного вида продукции ведет к росту производительности труда;2) Обмен исключает необходимость производить все продукты, ограничивает сферу деятельности производителей.</a:t>
            </a:r>
            <a:endParaRPr lang="en-US" altLang="en-US" sz="3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Rectangle 2"/>
          <p:cNvSpPr>
            <a:spLocks noGrp="1"/>
          </p:cNvSpPr>
          <p:nvPr>
            <p:ph type="title"/>
          </p:nvPr>
        </p:nvSpPr>
        <p:spPr>
          <a:xfrm>
            <a:off x="2306962" y="339876"/>
            <a:ext cx="7269883" cy="504053"/>
          </a:xfrm>
        </p:spPr>
        <p:txBody>
          <a:bodyPr vert="horz" wrap="square" lIns="82952" tIns="41476" rIns="82952" bIns="41476" anchor="ctr" anchorCtr="0"/>
          <a:p>
            <a:pPr algn="r" eaLnBrk="1" hangingPunct="1"/>
            <a:r>
              <a:rPr lang="ru-RU" altLang="ru-RU" sz="281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Натуральное и товарное производство</a:t>
            </a:r>
            <a:endParaRPr lang="ru-RU" altLang="ru-RU" sz="2810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7172" name="Таблица 7171"/>
          <p:cNvGraphicFramePr/>
          <p:nvPr/>
        </p:nvGraphicFramePr>
        <p:xfrm>
          <a:off x="1879238" y="1012427"/>
          <a:ext cx="8462010" cy="5472430"/>
        </p:xfrm>
        <a:graphic>
          <a:graphicData uri="http://schemas.openxmlformats.org/drawingml/2006/table">
            <a:tbl>
              <a:tblPr/>
              <a:tblGrid>
                <a:gridCol w="4231005"/>
                <a:gridCol w="4231005"/>
              </a:tblGrid>
              <a:tr h="12922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Натуральное </a:t>
                      </a:r>
                      <a:endParaRPr sz="245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0" indent="111125" algn="ctr" eaLnBrk="1" hangingPunct="1"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производство</a:t>
                      </a:r>
                      <a:endParaRPr lang="ru-RU" altLang="en-US" sz="2450" b="1" i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7623" marR="47623" marT="47625" marB="47625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Товарное </a:t>
                      </a:r>
                      <a:endParaRPr lang="en-US" altLang="x-none" sz="2450" b="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lvl="0" indent="111125" algn="ctr" eaLnBrk="1" hangingPunct="1"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производство</a:t>
                      </a:r>
                      <a:endParaRPr lang="ru-RU" altLang="en-US" sz="2450" b="1" i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47623" marR="47623" marT="47625" marB="47625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B183"/>
                    </a:solidFill>
                  </a:tcPr>
                </a:tc>
              </a:tr>
              <a:tr h="103378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Замкнутое хозяйство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Открытое хозяйство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</a:tr>
              <a:tr h="115760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Универсальный труд работников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Общественное разделение труда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</a:tr>
              <a:tr h="19888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Прямые связи между производством и потреблением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chemeClr val="tx1"/>
                          </a:solidFill>
                          <a:latin typeface="Calibri" panose="020F0502020204030204" charset="0"/>
                          <a:ea typeface="+mn-ea"/>
                          <a:cs typeface="+mn-cs"/>
                        </a:defRPr>
                      </a:lvl5pPr>
                    </a:lstStyle>
                    <a:p>
                      <a:pPr lvl="0" indent="111125" algn="ctr" eaLnBrk="1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sz="2450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Производство связано с потреблением через рынок</a:t>
                      </a:r>
                      <a:endParaRPr lang="ru-RU" altLang="en-US" sz="2450" b="1" dirty="0"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25399" marR="25399" marT="25400" marB="25400" anchor="ctr" anchorCtr="0">
                    <a:lnL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4472C4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383291" y="214583"/>
            <a:ext cx="7382215" cy="701354"/>
          </a:xfrm>
        </p:spPr>
        <p:txBody>
          <a:bodyPr vert="horz" wrap="square" lIns="82952" tIns="41476" rIns="82952" bIns="41476" numCol="1" anchor="ctr" anchorCtr="0" compatLnSpc="1">
            <a:noAutofit/>
          </a:bodyPr>
          <a:p>
            <a:pPr algn="ctr" eaLnBrk="1" hangingPunct="1">
              <a:buNone/>
            </a:pPr>
            <a:r>
              <a:rPr sz="272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Причины перехода к</a:t>
            </a:r>
            <a:r>
              <a:rPr lang="en-US" altLang="x-none" sz="272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72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товарному хозяйству</a:t>
            </a:r>
            <a:endParaRPr sz="2720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849916" y="1141975"/>
          <a:ext cx="8448801" cy="5168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2764458" y="1392988"/>
            <a:ext cx="1440160" cy="922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5400" b="0" i="0" u="none" strike="noStrike" kern="1200" cap="none" spc="331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charset="0"/>
                <a:ea typeface="+mn-ea"/>
                <a:cs typeface="+mn-cs"/>
              </a:rPr>
              <a:t>1</a:t>
            </a:r>
            <a:endParaRPr kumimoji="0" lang="ru-RU" sz="5400" b="0" i="0" u="none" strike="noStrike" kern="1200" cap="none" spc="331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charset="0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25749" y="3356991"/>
            <a:ext cx="898548" cy="922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5400" b="0" i="0" u="none" strike="noStrike" kern="1200" cap="none" spc="331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charset="0"/>
                <a:ea typeface="+mn-ea"/>
                <a:cs typeface="+mn-cs"/>
              </a:rPr>
              <a:t>2</a:t>
            </a:r>
            <a:endParaRPr kumimoji="0" lang="ru-RU" sz="5400" b="0" i="0" u="none" strike="noStrike" kern="1200" cap="none" spc="331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charset="0"/>
              <a:ea typeface="+mn-ea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3156404" y="5127433"/>
            <a:ext cx="898548" cy="9220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sz="5400" b="0" i="0" u="none" strike="noStrike" kern="1200" cap="none" spc="331" normalizeH="0" baseline="0" noProof="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 charset="0"/>
                <a:ea typeface="+mn-ea"/>
                <a:cs typeface="+mn-cs"/>
              </a:rPr>
              <a:t>3</a:t>
            </a:r>
            <a:endParaRPr kumimoji="0" lang="ru-RU" sz="5400" b="0" i="0" u="none" strike="noStrike" kern="1200" cap="none" spc="331" normalizeH="0" baseline="0" noProof="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solidFill>
                <a:srgbClr val="C00000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984250"/>
          </a:xfrm>
        </p:spPr>
        <p:txBody>
          <a:bodyPr/>
          <a:p>
            <a:pPr algn="ctr"/>
            <a:r>
              <a:rPr lang="ru-RU" altLang="en-US" b="1" i="1">
                <a:sym typeface="+mn-ea"/>
              </a:rPr>
              <a:t>Выделяют</a:t>
            </a:r>
            <a:r>
              <a:rPr lang="ru-RU" altLang="en-US" b="1">
                <a:sym typeface="+mn-ea"/>
              </a:rPr>
              <a:t> </a:t>
            </a:r>
            <a:r>
              <a:rPr lang="ru-RU" altLang="en-US" b="1" i="1" u="sng">
                <a:sym typeface="+mn-ea"/>
              </a:rPr>
              <a:t>два этапа развития товарного производства</a:t>
            </a:r>
            <a:r>
              <a:rPr lang="ru-RU" altLang="en-US" b="1">
                <a:sym typeface="+mn-ea"/>
              </a:rPr>
              <a:t>: </a:t>
            </a:r>
            <a:endParaRPr lang="ru-RU" altLang="en-US" b="1">
              <a:sym typeface="+mn-ea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Пятиугольник 3"/>
          <p:cNvSpPr/>
          <p:nvPr/>
        </p:nvSpPr>
        <p:spPr>
          <a:xfrm>
            <a:off x="1875155" y="2178050"/>
            <a:ext cx="8185785" cy="168846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 sz="3600">
                <a:sym typeface="+mn-ea"/>
              </a:rPr>
              <a:t>простое товарное</a:t>
            </a:r>
            <a:endParaRPr kumimoji="0" lang="ru-RU" altLang="en-US" sz="36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</p:txBody>
      </p:sp>
      <p:sp>
        <p:nvSpPr>
          <p:cNvPr id="5" name="Пятиугольник 4"/>
          <p:cNvSpPr/>
          <p:nvPr/>
        </p:nvSpPr>
        <p:spPr>
          <a:xfrm>
            <a:off x="1875155" y="4439285"/>
            <a:ext cx="8185785" cy="1688465"/>
          </a:xfrm>
          <a:prstGeom prst="homePlate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 sz="3200">
                <a:sym typeface="+mn-ea"/>
              </a:rPr>
              <a:t>капиталистическое</a:t>
            </a:r>
            <a:endParaRPr kumimoji="0" lang="ru-RU" altLang="en-US" sz="320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Текстовое поле 3"/>
          <p:cNvSpPr txBox="1"/>
          <p:nvPr/>
        </p:nvSpPr>
        <p:spPr>
          <a:xfrm>
            <a:off x="961390" y="300355"/>
            <a:ext cx="4490085" cy="5946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>
                <a:lumMod val="75000"/>
              </a:schemeClr>
            </a:solidFill>
          </a:ln>
        </p:spPr>
        <p:txBody>
          <a:bodyPr wrap="square" rtlCol="0" anchor="t">
            <a:noAutofit/>
          </a:bodyPr>
          <a:p>
            <a:pPr algn="just"/>
            <a:r>
              <a:rPr lang="ru-RU" altLang="en-US" sz="2400">
                <a:sym typeface="+mn-ea"/>
              </a:rPr>
              <a:t>Исторически первым было </a:t>
            </a:r>
            <a:r>
              <a:rPr lang="ru-RU" altLang="en-US" sz="2400" i="1">
                <a:solidFill>
                  <a:srgbClr val="FF0000"/>
                </a:solidFill>
                <a:sym typeface="+mn-ea"/>
              </a:rPr>
              <a:t>простое товарное хозяйство</a:t>
            </a:r>
            <a:r>
              <a:rPr lang="ru-RU" altLang="en-US" sz="2400">
                <a:solidFill>
                  <a:srgbClr val="FF0000"/>
                </a:solidFill>
                <a:sym typeface="+mn-ea"/>
              </a:rPr>
              <a:t> крестьян и ремесленников</a:t>
            </a:r>
            <a:r>
              <a:rPr lang="ru-RU" altLang="en-US" sz="2400">
                <a:sym typeface="+mn-ea"/>
              </a:rPr>
              <a:t>, где применялся </a:t>
            </a:r>
            <a:r>
              <a:rPr lang="ru-RU" altLang="en-US" sz="2400" u="sng">
                <a:sym typeface="+mn-ea"/>
              </a:rPr>
              <a:t>ручной труд</a:t>
            </a:r>
            <a:r>
              <a:rPr lang="ru-RU" altLang="en-US" sz="2400">
                <a:sym typeface="+mn-ea"/>
              </a:rPr>
              <a:t>. </a:t>
            </a:r>
            <a:endParaRPr lang="ru-RU" altLang="en-US" sz="2400">
              <a:sym typeface="+mn-ea"/>
            </a:endParaRPr>
          </a:p>
          <a:p>
            <a:pPr algn="just"/>
            <a:endParaRPr lang="ru-RU" altLang="en-US" sz="2400">
              <a:sym typeface="+mn-ea"/>
            </a:endParaRPr>
          </a:p>
          <a:p>
            <a:pPr algn="just"/>
            <a:r>
              <a:rPr lang="ru-RU" altLang="en-US" sz="2400">
                <a:sym typeface="+mn-ea"/>
              </a:rPr>
              <a:t>В этом случае производство базируется на частной собственности и на личном труде товароизготовителя. Из-за низкой выработки товарное производство соседствует с господствующим натуральным производством. </a:t>
            </a:r>
            <a:endParaRPr lang="ru-RU" altLang="en-US" sz="2400">
              <a:sym typeface="+mn-ea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412865" y="300355"/>
            <a:ext cx="4575810" cy="58318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wrap="square" rtlCol="0" anchor="t">
            <a:noAutofit/>
          </a:bodyPr>
          <a:p>
            <a:r>
              <a:rPr lang="ru-RU" altLang="en-US" sz="2800">
                <a:sym typeface="+mn-ea"/>
              </a:rPr>
              <a:t>При </a:t>
            </a:r>
            <a:r>
              <a:rPr lang="ru-RU" altLang="en-US" sz="2800" i="1">
                <a:solidFill>
                  <a:srgbClr val="FF0000"/>
                </a:solidFill>
                <a:sym typeface="+mn-ea"/>
              </a:rPr>
              <a:t>капиталистическом товарном производстве</a:t>
            </a:r>
            <a:r>
              <a:rPr lang="ru-RU" altLang="en-US" sz="2800">
                <a:sym typeface="+mn-ea"/>
              </a:rPr>
              <a:t> господствует </a:t>
            </a:r>
            <a:r>
              <a:rPr lang="ru-RU" altLang="en-US" sz="2800" u="sng">
                <a:sym typeface="+mn-ea"/>
              </a:rPr>
              <a:t>машинный труд </a:t>
            </a:r>
            <a:r>
              <a:rPr lang="ru-RU" altLang="en-US" sz="2800">
                <a:sym typeface="+mn-ea"/>
              </a:rPr>
              <a:t>и товарами становятся не только все продукты труда, но и факторы производства, в том числе и рабочая сила.</a:t>
            </a:r>
            <a:endParaRPr lang="ru-RU" altLang="en-US" sz="2800"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ru-RU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2.</a:t>
            </a:r>
            <a:r>
              <a:rPr lang="ru-RU" altLang="ru-RU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Товар и его свойства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/>
              <a:t>Для того, чтобы </a:t>
            </a:r>
            <a:r>
              <a:rPr lang="ru-RU" altLang="en-US" u="sng">
                <a:solidFill>
                  <a:srgbClr val="FF0000"/>
                </a:solidFill>
              </a:rPr>
              <a:t>предмет стал благом</a:t>
            </a:r>
            <a:r>
              <a:rPr lang="ru-RU" altLang="en-US"/>
              <a:t>, требуется выполнение следующих условий:</a:t>
            </a:r>
            <a:endParaRPr lang="ru-RU" altLang="en-US"/>
          </a:p>
          <a:p>
            <a:endParaRPr lang="ru-RU" altLang="en-US"/>
          </a:p>
          <a:p>
            <a:r>
              <a:rPr lang="ru-RU" altLang="en-US"/>
              <a:t> Наличие человеческой потребности;</a:t>
            </a:r>
            <a:endParaRPr lang="ru-RU" altLang="en-US"/>
          </a:p>
          <a:p>
            <a:r>
              <a:rPr lang="ru-RU" altLang="en-US"/>
              <a:t> Наличие свойств предмета, делающих его годным для удовлетворения этой потребности;</a:t>
            </a:r>
            <a:endParaRPr lang="ru-RU" altLang="en-US"/>
          </a:p>
          <a:p>
            <a:r>
              <a:rPr lang="ru-RU" altLang="en-US"/>
              <a:t> Познание человеком связи между потребностью и свойствами предмета;</a:t>
            </a:r>
            <a:endParaRPr lang="ru-RU" altLang="en-US"/>
          </a:p>
          <a:p>
            <a:r>
              <a:rPr lang="ru-RU" altLang="en-US"/>
              <a:t> Возможность распоряжаться данным предметом.</a:t>
            </a:r>
            <a:endParaRPr lang="ru-RU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ru-RU" altLang="en-US"/>
              <a:t>Особое место среди благ, которые необходимы человеку и роль которых возрастает с развитием производства, занимают </a:t>
            </a:r>
            <a:r>
              <a:rPr lang="ru-RU" altLang="en-US" b="1"/>
              <a:t>услуги</a:t>
            </a:r>
            <a:r>
              <a:rPr lang="ru-RU" altLang="en-US"/>
              <a:t>. </a:t>
            </a:r>
            <a:endParaRPr lang="ru-RU" altLang="en-US"/>
          </a:p>
          <a:p>
            <a:endParaRPr lang="ru-RU" altLang="en-US" b="1"/>
          </a:p>
          <a:p>
            <a:endParaRPr lang="ru-RU" altLang="en-US" b="1"/>
          </a:p>
          <a:p>
            <a:pPr algn="ctr"/>
            <a:r>
              <a:rPr lang="ru-RU" altLang="en-US" b="1">
                <a:highlight>
                  <a:srgbClr val="FFFF00"/>
                </a:highlight>
              </a:rPr>
              <a:t>Услуга</a:t>
            </a:r>
            <a:r>
              <a:rPr lang="ru-RU" altLang="en-US"/>
              <a:t> – это целесообразная деятельность человека, результат которой имеет полезный эффект, удовлетворяющий какие-либо потребности человека. </a:t>
            </a:r>
            <a:endParaRPr lang="ru-RU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891540"/>
          </a:xfrm>
        </p:spPr>
        <p:txBody>
          <a:bodyPr/>
          <a:p>
            <a:pPr algn="ctr"/>
            <a:r>
              <a:rPr lang="ru-RU" altLang="en-US" sz="2800" b="1">
                <a:sym typeface="+mn-ea"/>
              </a:rPr>
              <a:t>Специфика услуг как товара выражается в следующем:</a:t>
            </a:r>
            <a:br>
              <a:rPr lang="ru-RU" altLang="en-US" sz="2800" b="1"/>
            </a:br>
            <a:endParaRPr lang="ru-RU" altLang="en-US" sz="2800" b="1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</a:t>
            </a:r>
            <a:endParaRPr lang="ru-RU" altLang="en-US"/>
          </a:p>
        </p:txBody>
      </p:sp>
      <p:sp>
        <p:nvSpPr>
          <p:cNvPr id="4" name="Угол 3"/>
          <p:cNvSpPr/>
          <p:nvPr/>
        </p:nvSpPr>
        <p:spPr>
          <a:xfrm>
            <a:off x="882650" y="1082040"/>
            <a:ext cx="9538970" cy="1482725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>
                <a:sym typeface="+mn-ea"/>
              </a:rPr>
              <a:t>Потребительная стоимость услуги не имеет вещественной формы.</a:t>
            </a:r>
            <a:endParaRPr lang="ru-RU" alt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Угол 4"/>
          <p:cNvSpPr/>
          <p:nvPr/>
        </p:nvSpPr>
        <p:spPr>
          <a:xfrm>
            <a:off x="882650" y="2910205"/>
            <a:ext cx="9538970" cy="1482725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>
                <a:sym typeface="+mn-ea"/>
              </a:rPr>
              <a:t>Потребительная стоимость услуги – это полезный эффект деятельности,</a:t>
            </a:r>
            <a:endParaRPr lang="ru-RU" altLang="en-US"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>
                <a:sym typeface="+mn-ea"/>
              </a:rPr>
              <a:t> живого труда.</a:t>
            </a:r>
            <a:endParaRPr lang="ru-RU" alt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Угол 5"/>
          <p:cNvSpPr/>
          <p:nvPr/>
        </p:nvSpPr>
        <p:spPr>
          <a:xfrm>
            <a:off x="882650" y="4738370"/>
            <a:ext cx="9538970" cy="1482725"/>
          </a:xfrm>
          <a:prstGeom prst="chevron">
            <a:avLst/>
          </a:prstGeom>
          <a:solidFill>
            <a:schemeClr val="accent5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ru-RU" altLang="en-US">
                <a:sym typeface="+mn-ea"/>
              </a:rPr>
              <a:t>Услугу нельзя накопить, она может быть потреблена в момент создания. </a:t>
            </a:r>
            <a:endParaRPr lang="ru-RU" alt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ru-RU" altLang="en-US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ru-RU" altLang="en-US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ChangeArrowheads="1"/>
          </p:cNvSpPr>
          <p:nvPr/>
        </p:nvSpPr>
        <p:spPr bwMode="auto">
          <a:xfrm>
            <a:off x="4167188" y="319088"/>
            <a:ext cx="5673725" cy="588962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anchor="ctr"/>
          <a:lstStyle/>
          <a:p>
            <a:pPr algn="r">
              <a:defRPr/>
            </a:pP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Arial Black" panose="020B0A04020102020204" pitchFamily="34" charset="0"/>
              </a:rPr>
              <a:t>Товар</a:t>
            </a:r>
            <a:endParaRPr lang="ru-RU" dirty="0">
              <a:solidFill>
                <a:schemeClr val="tx1">
                  <a:lumMod val="65000"/>
                  <a:lumOff val="3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98659" name="AutoShape 3"/>
          <p:cNvSpPr>
            <a:spLocks noChangeArrowheads="1"/>
          </p:cNvSpPr>
          <p:nvPr/>
        </p:nvSpPr>
        <p:spPr bwMode="auto">
          <a:xfrm>
            <a:off x="1550670" y="1315720"/>
            <a:ext cx="8722360" cy="1325879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0" algn="ctr">
            <a:noFill/>
            <a:round/>
            <a:headEnd type="none" w="sm" len="sm"/>
            <a:tailEnd type="none" w="sm" len="sm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wrap="square" lIns="96425" tIns="48214" rIns="96425" bIns="48214" anchor="ctr">
            <a:spAutoFit/>
          </a:bodyPr>
          <a:lstStyle/>
          <a:p>
            <a:pPr algn="just">
              <a:defRPr/>
            </a:pPr>
            <a:r>
              <a:rPr lang="ru-RU" sz="2000" dirty="0"/>
              <a:t>    </a:t>
            </a:r>
            <a:r>
              <a:rPr lang="ru-RU" sz="2000" b="1" dirty="0"/>
              <a:t>Товар</a:t>
            </a:r>
            <a:r>
              <a:rPr lang="ru-RU" sz="2000" dirty="0"/>
              <a:t> – это продукт труда, созданный не для собственного потребления, а для обмена или продажи.  Рассматривая сущность товара, необходимо различать его основные свойства: потребительную стоимость и меновую стоимость. </a:t>
            </a:r>
            <a:endParaRPr lang="ru-RU" sz="2000" dirty="0"/>
          </a:p>
        </p:txBody>
      </p:sp>
      <p:sp>
        <p:nvSpPr>
          <p:cNvPr id="198661" name="AutoShape 5"/>
          <p:cNvSpPr>
            <a:spLocks noChangeArrowheads="1"/>
          </p:cNvSpPr>
          <p:nvPr/>
        </p:nvSpPr>
        <p:spPr bwMode="auto">
          <a:xfrm>
            <a:off x="2208213" y="3796824"/>
            <a:ext cx="8064500" cy="710564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 w="31750" algn="ctr">
            <a:noFill/>
            <a:round/>
            <a:headEnd type="none" w="sm" len="sm"/>
            <a:tailEnd type="none" w="sm" len="sm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lIns="96425" tIns="48214" rIns="96425" bIns="48214" anchor="ctr">
            <a:spAutoFit/>
          </a:bodyPr>
          <a:lstStyle/>
          <a:p>
            <a:pPr indent="361950" algn="just" defTabSz="965200">
              <a:buSzPct val="135000"/>
              <a:buFont typeface="Wingdings" panose="05000000000000000000" pitchFamily="2" charset="2"/>
              <a:buChar char="§"/>
              <a:defRPr/>
            </a:pPr>
            <a:r>
              <a:rPr lang="ru-RU" sz="2000" dirty="0"/>
              <a:t>ПОТРЕБИТЕЛЬНАЯ СТОИМОСТЬ -  способность удовлетворять какую-либо человеческую потребность</a:t>
            </a:r>
            <a:endParaRPr lang="ru-RU" sz="20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98663" name="Rectangle 7"/>
          <p:cNvSpPr>
            <a:spLocks noChangeArrowheads="1"/>
          </p:cNvSpPr>
          <p:nvPr/>
        </p:nvSpPr>
        <p:spPr bwMode="auto">
          <a:xfrm>
            <a:off x="2208213" y="4941411"/>
            <a:ext cx="8064500" cy="7105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1750" algn="ctr">
            <a:noFill/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tx1">
                <a:alpha val="50000"/>
              </a:schemeClr>
            </a:outerShdw>
          </a:effectLst>
        </p:spPr>
        <p:txBody>
          <a:bodyPr lIns="96425" tIns="48214" rIns="96425" bIns="48214" anchor="ctr">
            <a:spAutoFit/>
          </a:bodyPr>
          <a:lstStyle/>
          <a:p>
            <a:pPr indent="361950" algn="just" defTabSz="965200">
              <a:buSzPct val="135000"/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Arial" panose="020B0604020202020204" pitchFamily="34" charset="0"/>
              </a:rPr>
              <a:t> </a:t>
            </a:r>
            <a:r>
              <a:rPr lang="ru-RU" sz="2000" dirty="0"/>
              <a:t>МЕНОВАЯ СТОИМОСТЬ  -  способность товара обмениваться на другие товары в определенной количественной пропорции.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3372359" y="3001017"/>
            <a:ext cx="5982335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just" eaLnBrk="0" hangingPunct="0">
              <a:defRPr/>
            </a:pPr>
            <a:r>
              <a:rPr lang="ru-RU" sz="2400" cap="all" dirty="0">
                <a:ln w="0"/>
                <a:solidFill>
                  <a:schemeClr val="accent6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Любой товар имеет два свойства</a:t>
            </a:r>
            <a:r>
              <a:rPr lang="ru-RU" sz="2400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4800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75"/>
                                        <p:tgtEl>
                                          <p:spTgt spid="198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8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75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8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75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58" grpId="0" autoUpdateAnimBg="0"/>
      <p:bldP spid="198659" grpId="0" bldLvl="0" animBg="1" autoUpdateAnimBg="0"/>
      <p:bldP spid="198661" grpId="0" bldLvl="0" animBg="1" autoUpdateAnimBg="0"/>
      <p:bldP spid="198663" grpId="0" bldLvl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764930" y="423404"/>
            <a:ext cx="6345306" cy="532856"/>
          </a:xfrm>
        </p:spPr>
        <p:txBody>
          <a:bodyPr vert="horz" wrap="square" lIns="82952" tIns="41476" rIns="82952" bIns="41476" numCol="1" rtlCol="0" anchor="ctr" anchorCtr="0" compatLnSpc="1">
            <a:noAutofit/>
          </a:bodyPr>
          <a:p>
            <a:pPr algn="ctr">
              <a:buNone/>
            </a:pPr>
            <a:r>
              <a:rPr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Свойства товара</a:t>
            </a:r>
            <a:endParaRPr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6" name="Схема 5"/>
          <p:cNvGraphicFramePr/>
          <p:nvPr/>
        </p:nvGraphicFramePr>
        <p:xfrm>
          <a:off x="1980565" y="1142365"/>
          <a:ext cx="8318500" cy="4861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8" name="Схема 7"/>
          <p:cNvGraphicFramePr/>
          <p:nvPr/>
        </p:nvGraphicFramePr>
        <p:xfrm>
          <a:off x="2188210" y="4010660"/>
          <a:ext cx="4271645" cy="25507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3090404" y="336995"/>
            <a:ext cx="6346747" cy="532856"/>
          </a:xfrm>
        </p:spPr>
        <p:txBody>
          <a:bodyPr vert="horz" wrap="square" lIns="82952" tIns="41476" rIns="82952" bIns="41476" numCol="1" rtlCol="0" anchor="ctr" anchorCtr="0" compatLnSpc="1">
            <a:noAutofit/>
          </a:bodyPr>
          <a:p>
            <a:pPr algn="ctr">
              <a:buNone/>
            </a:pPr>
            <a:r>
              <a:rPr sz="2995" b="1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Подходы к определению меновой стоимости</a:t>
            </a:r>
            <a:endParaRPr sz="2995" b="1" dirty="0">
              <a:solidFill>
                <a:srgbClr val="C00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2" name="Схема 1"/>
          <p:cNvGraphicFramePr/>
          <p:nvPr/>
        </p:nvGraphicFramePr>
        <p:xfrm>
          <a:off x="2024022" y="1237900"/>
          <a:ext cx="4699149" cy="4085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12292" name="Picture 2" descr="Картинки по запросу адам смит картинки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4311" y="1238530"/>
            <a:ext cx="1005226" cy="102250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TextBox 6"/>
          <p:cNvSpPr txBox="1">
            <a:spLocks noChangeArrowheads="1"/>
          </p:cNvSpPr>
          <p:nvPr/>
        </p:nvSpPr>
        <p:spPr bwMode="auto">
          <a:xfrm>
            <a:off x="6817516" y="2217833"/>
            <a:ext cx="936098" cy="575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Адам Смит</a:t>
            </a:r>
            <a:b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</a:b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1723-1790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294" name="Picture 2" descr="http://www.chaskor.ru/posts_images_201203/392_300_27192_marks_.jpg"/>
          <p:cNvPicPr>
            <a:picLocks noChangeAspect="1"/>
          </p:cNvPicPr>
          <p:nvPr/>
        </p:nvPicPr>
        <p:blipFill>
          <a:blip r:embed="rId7"/>
          <a:srcRect l="40181" t="2164" r="8192" b="32106"/>
          <a:stretch>
            <a:fillRect/>
          </a:stretch>
        </p:blipFill>
        <p:spPr>
          <a:xfrm>
            <a:off x="9121758" y="1250051"/>
            <a:ext cx="959141" cy="101098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6" name="TextBox 7"/>
          <p:cNvSpPr txBox="1">
            <a:spLocks noChangeArrowheads="1"/>
          </p:cNvSpPr>
          <p:nvPr/>
        </p:nvSpPr>
        <p:spPr bwMode="auto">
          <a:xfrm>
            <a:off x="9146241" y="2180389"/>
            <a:ext cx="936098" cy="5759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Карл Маркс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1818-1883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296" name="Picture 4" descr="Картинки по запросу давид рикардо"/>
          <p:cNvPicPr>
            <a:picLocks noChangeAspect="1"/>
          </p:cNvPicPr>
          <p:nvPr/>
        </p:nvPicPr>
        <p:blipFill>
          <a:blip r:embed="rId8"/>
          <a:srcRect l="9303" t="6940" r="31000" b="17291"/>
          <a:stretch>
            <a:fillRect/>
          </a:stretch>
        </p:blipFill>
        <p:spPr>
          <a:xfrm>
            <a:off x="7894749" y="1238530"/>
            <a:ext cx="1058512" cy="102394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8" name="TextBox 9"/>
          <p:cNvSpPr txBox="1">
            <a:spLocks noChangeArrowheads="1"/>
          </p:cNvSpPr>
          <p:nvPr/>
        </p:nvSpPr>
        <p:spPr bwMode="auto">
          <a:xfrm>
            <a:off x="7791058" y="2258157"/>
            <a:ext cx="1294696" cy="4140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Давид </a:t>
            </a:r>
            <a:r>
              <a:rPr kumimoji="0" lang="ru-RU" alt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Рикардо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1772-1823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298" name="Picture 6" descr="Картинки по запросу"/>
          <p:cNvPicPr>
            <a:picLocks noChangeAspect="1"/>
          </p:cNvPicPr>
          <p:nvPr/>
        </p:nvPicPr>
        <p:blipFill>
          <a:blip r:embed="rId9"/>
          <a:srcRect l="8731" t="-862" r="13431" b="40668"/>
          <a:stretch>
            <a:fillRect/>
          </a:stretch>
        </p:blipFill>
        <p:spPr>
          <a:xfrm>
            <a:off x="6768551" y="2786693"/>
            <a:ext cx="1009546" cy="9937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0" name="TextBox 11"/>
          <p:cNvSpPr txBox="1">
            <a:spLocks noChangeArrowheads="1"/>
          </p:cNvSpPr>
          <p:nvPr/>
        </p:nvSpPr>
        <p:spPr bwMode="auto">
          <a:xfrm>
            <a:off x="6702304" y="3734313"/>
            <a:ext cx="1139160" cy="4140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Карл </a:t>
            </a:r>
            <a:r>
              <a:rPr kumimoji="0" lang="ru-RU" altLang="ru-RU" sz="105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Менгер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1840-1921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300" name="Picture 8" descr="Картинки по запросу карл менгер"/>
          <p:cNvPicPr>
            <a:picLocks noChangeAspect="1"/>
          </p:cNvPicPr>
          <p:nvPr/>
        </p:nvPicPr>
        <p:blipFill>
          <a:blip r:embed="rId10"/>
          <a:srcRect t="2" b="32660"/>
          <a:stretch>
            <a:fillRect/>
          </a:stretch>
        </p:blipFill>
        <p:spPr>
          <a:xfrm>
            <a:off x="7923552" y="2726207"/>
            <a:ext cx="1093075" cy="9749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2" name="TextBox 14"/>
          <p:cNvSpPr txBox="1">
            <a:spLocks noChangeArrowheads="1"/>
          </p:cNvSpPr>
          <p:nvPr/>
        </p:nvSpPr>
        <p:spPr bwMode="auto">
          <a:xfrm>
            <a:off x="7802579" y="3705509"/>
            <a:ext cx="1431510" cy="3911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Ойген</a:t>
            </a: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фон </a:t>
            </a:r>
            <a:r>
              <a:rPr kumimoji="0" lang="ru-RU" alt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Бём-Баверк</a:t>
            </a: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 </a:t>
            </a: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1851-1914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302" name="Picture 10" descr="Картинки по запросу Людвиг фон Мизес"/>
          <p:cNvPicPr>
            <a:picLocks noChangeAspect="1"/>
          </p:cNvPicPr>
          <p:nvPr/>
        </p:nvPicPr>
        <p:blipFill>
          <a:blip r:embed="rId11"/>
          <a:srcRect l="10999" t="7368" r="15919" b="39980"/>
          <a:stretch>
            <a:fillRect/>
          </a:stretch>
        </p:blipFill>
        <p:spPr>
          <a:xfrm>
            <a:off x="9163523" y="2711805"/>
            <a:ext cx="992264" cy="9908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4" name="TextBox 16"/>
          <p:cNvSpPr txBox="1">
            <a:spLocks noChangeArrowheads="1"/>
          </p:cNvSpPr>
          <p:nvPr/>
        </p:nvSpPr>
        <p:spPr bwMode="auto">
          <a:xfrm>
            <a:off x="9078553" y="3639263"/>
            <a:ext cx="1196766" cy="5295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Людвиг фон </a:t>
            </a:r>
            <a:r>
              <a:rPr kumimoji="0" lang="ru-RU" alt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Мизес</a:t>
            </a:r>
            <a:endParaRPr kumimoji="0" lang="ru-RU" altLang="ru-RU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1881-1973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304" name="Picture 16" descr="Картинки по запросу альфред маршалл"/>
          <p:cNvPicPr>
            <a:picLocks noChangeAspect="1"/>
          </p:cNvPicPr>
          <p:nvPr/>
        </p:nvPicPr>
        <p:blipFill>
          <a:blip r:embed="rId12"/>
          <a:srcRect l="4340" b="13913"/>
          <a:stretch>
            <a:fillRect/>
          </a:stretch>
        </p:blipFill>
        <p:spPr>
          <a:xfrm>
            <a:off x="6886643" y="4173558"/>
            <a:ext cx="966342" cy="970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6" name="TextBox 20"/>
          <p:cNvSpPr txBox="1">
            <a:spLocks noChangeArrowheads="1"/>
          </p:cNvSpPr>
          <p:nvPr/>
        </p:nvSpPr>
        <p:spPr bwMode="auto">
          <a:xfrm>
            <a:off x="6702304" y="5211908"/>
            <a:ext cx="1313418" cy="5295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Альфред Маршалл</a:t>
            </a:r>
            <a:endParaRPr kumimoji="0" lang="ru-RU" altLang="ru-RU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1842 - 1924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306" name="Picture 24" descr="Картинки по запросу ирвинг фишер"/>
          <p:cNvPicPr>
            <a:picLocks noChangeAspect="1"/>
          </p:cNvPicPr>
          <p:nvPr/>
        </p:nvPicPr>
        <p:blipFill>
          <a:blip r:embed="rId13"/>
          <a:srcRect l="17387" t="3432" r="12283" b="41260"/>
          <a:stretch>
            <a:fillRect/>
          </a:stretch>
        </p:blipFill>
        <p:spPr>
          <a:xfrm>
            <a:off x="8037324" y="4160597"/>
            <a:ext cx="987944" cy="9965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48" name="TextBox 25"/>
          <p:cNvSpPr txBox="1">
            <a:spLocks noChangeArrowheads="1"/>
          </p:cNvSpPr>
          <p:nvPr/>
        </p:nvSpPr>
        <p:spPr bwMode="auto">
          <a:xfrm>
            <a:off x="8037324" y="5193185"/>
            <a:ext cx="1108916" cy="3911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Ирвинг</a:t>
            </a: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Фишер </a:t>
            </a:r>
            <a:endParaRPr kumimoji="0" lang="ru-RU" altLang="ru-RU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1867 - 1947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12308" name="Picture 26" descr="Картинки по запросу артур пигу"/>
          <p:cNvPicPr>
            <a:picLocks noChangeAspect="1"/>
          </p:cNvPicPr>
          <p:nvPr/>
        </p:nvPicPr>
        <p:blipFill>
          <a:blip r:embed="rId14"/>
          <a:srcRect t="2843" r="2393" b="33778"/>
          <a:stretch>
            <a:fillRect/>
          </a:stretch>
        </p:blipFill>
        <p:spPr>
          <a:xfrm>
            <a:off x="9209607" y="4151956"/>
            <a:ext cx="915936" cy="9980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50" name="TextBox 27"/>
          <p:cNvSpPr txBox="1">
            <a:spLocks noChangeArrowheads="1"/>
          </p:cNvSpPr>
          <p:nvPr/>
        </p:nvSpPr>
        <p:spPr bwMode="auto">
          <a:xfrm>
            <a:off x="9190885" y="5211908"/>
            <a:ext cx="1198206" cy="3911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Артур </a:t>
            </a:r>
            <a:r>
              <a:rPr kumimoji="0" lang="ru-RU" altLang="ru-RU" sz="9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Пигу</a:t>
            </a:r>
            <a:endParaRPr kumimoji="0" lang="ru-RU" altLang="ru-RU" sz="9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ru-RU" altLang="ru-RU" sz="10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1877 - 1959</a:t>
            </a:r>
            <a:endParaRPr kumimoji="0" lang="ru-RU" altLang="ru-RU" sz="10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2844139" y="169938"/>
            <a:ext cx="6345306" cy="532856"/>
          </a:xfrm>
        </p:spPr>
        <p:txBody>
          <a:bodyPr vert="horz" wrap="square" lIns="82952" tIns="41476" rIns="82952" bIns="41476" numCol="1" rtlCol="0" anchor="ctr" anchorCtr="0" compatLnSpc="1">
            <a:noAutofit/>
          </a:bodyPr>
          <a:p>
            <a:pPr algn="ctr">
              <a:buNone/>
            </a:pPr>
            <a:r>
              <a:rPr sz="2995" b="1" dirty="0">
                <a:solidFill>
                  <a:srgbClr val="C000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Трудовая теория стоимости</a:t>
            </a:r>
            <a:endParaRPr sz="2995" b="1" dirty="0">
              <a:solidFill>
                <a:srgbClr val="C000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786765" y="702945"/>
          <a:ext cx="7749540" cy="5889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Текстовое поле 99"/>
          <p:cNvSpPr txBox="1"/>
          <p:nvPr/>
        </p:nvSpPr>
        <p:spPr>
          <a:xfrm>
            <a:off x="745490" y="613410"/>
            <a:ext cx="10017760" cy="5697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449580" algn="ctr"/>
            <a:r>
              <a:rPr lang="ru-RU" altLang="en-US" sz="2800" b="0" u="sng">
                <a:solidFill>
                  <a:schemeClr val="tx1"/>
                </a:solidFill>
                <a:latin typeface="Times New Roman" panose="02020603050405020304" pitchFamily="18" charset="0"/>
              </a:rPr>
              <a:t>Т</a:t>
            </a:r>
            <a:r>
              <a:rPr lang="en-US" sz="2800" b="0" u="sng">
                <a:solidFill>
                  <a:schemeClr val="tx1"/>
                </a:solidFill>
                <a:latin typeface="Times New Roman" panose="02020603050405020304" pitchFamily="18" charset="0"/>
              </a:rPr>
              <a:t>рудовой теории стоимости присущи определенные </a:t>
            </a:r>
            <a:r>
              <a:rPr lang="en-US" sz="2800" b="0" u="sng">
                <a:solidFill>
                  <a:srgbClr val="FF0000"/>
                </a:solidFill>
                <a:latin typeface="Times New Roman" panose="02020603050405020304" pitchFamily="18" charset="0"/>
              </a:rPr>
              <a:t>недостатки</a:t>
            </a:r>
            <a:r>
              <a:rPr lang="en-US" sz="2800" b="0" u="sng">
                <a:solidFill>
                  <a:schemeClr val="tx1"/>
                </a:solidFill>
                <a:latin typeface="Times New Roman" panose="02020603050405020304" pitchFamily="18" charset="0"/>
              </a:rPr>
              <a:t>:</a:t>
            </a:r>
            <a:endParaRPr lang="en-US" sz="2800" b="0" u="sng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indent="449580" algn="just"/>
            <a:r>
              <a:rPr lang="en-US" sz="2800" b="0">
                <a:solidFill>
                  <a:srgbClr val="000000"/>
                </a:solidFill>
                <a:latin typeface="Wingdings" panose="05000000000000000000" charset="0"/>
                <a:cs typeface="Times New Roman" panose="02020603050405020304" pitchFamily="18" charset="0"/>
              </a:rPr>
              <a:t>ü 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Эта концепция имеет исторически </a:t>
            </a:r>
            <a:r>
              <a:rPr lang="en-US" sz="2800" b="0" u="sng">
                <a:solidFill>
                  <a:srgbClr val="000000"/>
                </a:solidFill>
                <a:latin typeface="Times New Roman" panose="02020603050405020304" pitchFamily="18" charset="0"/>
              </a:rPr>
              <a:t>ограниченные пределы применения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. Наиболее полно она соответствует простому товарному производству (хозяйству крестьян и ремесленников), ибо измерять производственные затраты ручным трудом, рабочим временем было единственно возможно и необходимо на доиндустриальной стадии экономики.</a:t>
            </a:r>
            <a:r>
              <a:rPr lang="en-US" sz="2800" b="0">
                <a:solidFill>
                  <a:srgbClr val="000000"/>
                </a:solidFill>
                <a:latin typeface="Wingdings" panose="05000000000000000000" charset="0"/>
                <a:cs typeface="Times New Roman" panose="02020603050405020304" pitchFamily="18" charset="0"/>
              </a:rPr>
              <a:t>ü 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В эпоху индустриального развития, когда труд рабочих вытеснялся машинной техникой, </a:t>
            </a:r>
            <a:r>
              <a:rPr lang="en-US" sz="2800" b="0" u="sng">
                <a:solidFill>
                  <a:srgbClr val="000000"/>
                </a:solidFill>
                <a:latin typeface="Times New Roman" panose="02020603050405020304" pitchFamily="18" charset="0"/>
              </a:rPr>
              <a:t>измерять затраты производства только в рабочих часах было неправильно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: следовало учитывать все дорожающие расходы на технические средства труда. </a:t>
            </a:r>
            <a:endParaRPr lang="en-US" altLang="en-US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Прямоугольник 4"/>
          <p:cNvSpPr/>
          <p:nvPr/>
        </p:nvSpPr>
        <p:spPr>
          <a:xfrm>
            <a:off x="2764930" y="97930"/>
            <a:ext cx="6333785" cy="8718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buClr>
                <a:srgbClr val="C00000"/>
              </a:buClr>
            </a:pPr>
            <a:r>
              <a:rPr lang="ru-RU" altLang="ru-RU" sz="254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ru-RU" altLang="ru-RU" sz="254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54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Трудовая теория стоимости и теории предельной полезности.</a:t>
            </a:r>
            <a:endParaRPr lang="ru-RU" altLang="ru-RU" sz="2540" b="1" dirty="0">
              <a:solidFill>
                <a:srgbClr val="000099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8" name="Схема 7"/>
          <p:cNvGraphicFramePr/>
          <p:nvPr/>
        </p:nvGraphicFramePr>
        <p:xfrm>
          <a:off x="1109345" y="1207770"/>
          <a:ext cx="9036685" cy="2557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9" name="Схема 8"/>
          <p:cNvGraphicFramePr/>
          <p:nvPr/>
        </p:nvGraphicFramePr>
        <p:xfrm>
          <a:off x="2110579" y="3764690"/>
          <a:ext cx="5316022" cy="141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915241" y="5518659"/>
            <a:ext cx="8753239" cy="5372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ru-RU" altLang="ru-RU" sz="14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Маржинальный</a:t>
            </a:r>
            <a:r>
              <a:rPr lang="ru-RU" altLang="ru-RU" sz="145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(от лат. </a:t>
            </a:r>
            <a:r>
              <a:rPr lang="en-US" altLang="ru-RU" sz="145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margo</a:t>
            </a:r>
            <a:r>
              <a:rPr lang="en-US" altLang="ru-RU" sz="145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ru-RU" sz="1450" dirty="0">
                <a:solidFill>
                  <a:srgbClr val="000099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—</a:t>
            </a:r>
            <a:r>
              <a:rPr lang="en-US" altLang="ru-RU" sz="145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145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край), предельный – крайний, дополнительный, наименее значимый, полезный.</a:t>
            </a:r>
            <a:endParaRPr lang="ru-RU" altLang="ru-RU" sz="1450" dirty="0">
              <a:solidFill>
                <a:srgbClr val="000099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22300" y="1289685"/>
            <a:ext cx="10960100" cy="4838065"/>
          </a:xfrm>
        </p:spPr>
        <p:txBody>
          <a:bodyPr/>
          <a:p>
            <a:r>
              <a:rPr lang="ru-RU" altLang="en-US" sz="2400"/>
              <a:t>1. Австрийские ученые полагали, что полезность нельзя отождествлять с объективными свойствами товаров. Полезность, по их мнению, - это субъективная оценка, которую дает каждый покупатель роли определенного блага в удовлетворении его личных потребностей.</a:t>
            </a:r>
            <a:endParaRPr lang="ru-RU" altLang="en-US" sz="2400"/>
          </a:p>
          <a:p>
            <a:endParaRPr lang="ru-RU" altLang="en-US" sz="2400"/>
          </a:p>
          <a:p>
            <a:r>
              <a:rPr lang="ru-RU" altLang="en-US" sz="2400"/>
              <a:t>2. Полезные блага подразделяются на два вида:</a:t>
            </a:r>
            <a:endParaRPr lang="ru-RU" altLang="en-US" sz="2400"/>
          </a:p>
          <a:p>
            <a:r>
              <a:rPr lang="ru-RU" altLang="en-US" sz="2400"/>
              <a:t>Имеющиеся в безграничном количестве (вода, воздух и т.п.). Эти вещи люди не считают ценными для себя, ибо они имеются в таком избытке, который не нужен для удовлетворения человеческих потребностей;</a:t>
            </a:r>
            <a:endParaRPr lang="ru-RU" altLang="en-US" sz="2400"/>
          </a:p>
          <a:p>
            <a:r>
              <a:rPr lang="ru-RU" altLang="en-US" sz="2400"/>
              <a:t>Являющиеся относительно редкими и недостаточными для насыщения сложившихся потребностей в них. Именно эти блага обладают ценностью.</a:t>
            </a:r>
            <a:endParaRPr lang="ru-RU" altLang="en-US" sz="2400"/>
          </a:p>
        </p:txBody>
      </p:sp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2099580" y="208822"/>
            <a:ext cx="7889148" cy="743118"/>
          </a:xfrm>
        </p:spPr>
        <p:txBody>
          <a:bodyPr vert="horz" wrap="square" lIns="82952" tIns="41476" rIns="82952" bIns="41476" anchor="ctr" anchorCtr="0"/>
          <a:p>
            <a:pPr algn="ctr"/>
            <a: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«Маржинализм»</a:t>
            </a:r>
            <a:b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 предельной полезности</a:t>
            </a:r>
            <a:endParaRPr lang="ru-RU" altLang="ru-RU" sz="2905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Заголовок 1"/>
          <p:cNvSpPr>
            <a:spLocks noGrp="1"/>
          </p:cNvSpPr>
          <p:nvPr>
            <p:ph type="title"/>
          </p:nvPr>
        </p:nvSpPr>
        <p:spPr>
          <a:xfrm>
            <a:off x="2099580" y="208822"/>
            <a:ext cx="7889148" cy="743118"/>
          </a:xfrm>
        </p:spPr>
        <p:txBody>
          <a:bodyPr vert="horz" wrap="square" lIns="82952" tIns="41476" rIns="82952" bIns="41476" anchor="ctr" anchorCtr="0"/>
          <a:p>
            <a:pPr algn="ctr"/>
            <a: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«Маржинализм»</a:t>
            </a:r>
            <a:b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2905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Теория предельной полезности</a:t>
            </a:r>
            <a:endParaRPr lang="ru-RU" altLang="ru-RU" sz="2905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51" name="Схема 50"/>
          <p:cNvGraphicFramePr/>
          <p:nvPr/>
        </p:nvGraphicFramePr>
        <p:xfrm>
          <a:off x="5818748" y="1621408"/>
          <a:ext cx="4572705" cy="1030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cxnSp>
        <p:nvCxnSpPr>
          <p:cNvPr id="38" name="Прямая со стрелкой 37"/>
          <p:cNvCxnSpPr/>
          <p:nvPr/>
        </p:nvCxnSpPr>
        <p:spPr>
          <a:xfrm flipH="1" flipV="1">
            <a:off x="2129824" y="1438711"/>
            <a:ext cx="11521" cy="34750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/>
          <p:nvPr/>
        </p:nvCxnSpPr>
        <p:spPr>
          <a:xfrm>
            <a:off x="2129824" y="4913796"/>
            <a:ext cx="332963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275114" y="5007406"/>
            <a:ext cx="482450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05790" y="5046290"/>
            <a:ext cx="313953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0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5601" y="3534131"/>
            <a:ext cx="269308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D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47" name="Прямая соединительная линия 46"/>
          <p:cNvCxnSpPr/>
          <p:nvPr/>
        </p:nvCxnSpPr>
        <p:spPr>
          <a:xfrm>
            <a:off x="2129824" y="2952310"/>
            <a:ext cx="92313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26582" y="1621610"/>
            <a:ext cx="381640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r>
              <a:rPr lang="en-US" altLang="ru-RU" sz="1090" dirty="0">
                <a:latin typeface="Century Gothic" panose="020B0502020202020204" pitchFamily="34" charset="0"/>
              </a:rPr>
              <a:t>1</a:t>
            </a:r>
            <a:endParaRPr lang="ru-RU" altLang="ru-RU" sz="1090" dirty="0">
              <a:latin typeface="Century Gothic" panose="020B0502020202020204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12180" y="2785252"/>
            <a:ext cx="381640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r>
              <a:rPr lang="en-US" altLang="ru-RU" sz="1090" dirty="0">
                <a:latin typeface="Century Gothic" panose="020B0502020202020204" pitchFamily="34" charset="0"/>
              </a:rPr>
              <a:t>2</a:t>
            </a:r>
            <a:endParaRPr lang="ru-RU" altLang="ru-RU" sz="1090" dirty="0">
              <a:latin typeface="Century Gothic" panose="020B0502020202020204" pitchFamily="34" charset="0"/>
            </a:endParaRPr>
          </a:p>
        </p:txBody>
      </p:sp>
      <p:cxnSp>
        <p:nvCxnSpPr>
          <p:cNvPr id="50" name="Прямая соединительная линия 49"/>
          <p:cNvCxnSpPr/>
          <p:nvPr/>
        </p:nvCxnSpPr>
        <p:spPr>
          <a:xfrm>
            <a:off x="2141345" y="1754104"/>
            <a:ext cx="47381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 flipH="1">
            <a:off x="3126409" y="2919187"/>
            <a:ext cx="7201" cy="1941324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2381850" y="5021808"/>
            <a:ext cx="465169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r>
              <a:rPr lang="en-US" altLang="ru-RU" sz="1090" dirty="0">
                <a:latin typeface="Century Gothic" panose="020B0502020202020204" pitchFamily="34" charset="0"/>
              </a:rPr>
              <a:t>1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944950" y="5031888"/>
            <a:ext cx="466609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r>
              <a:rPr lang="en-US" altLang="ru-RU" sz="1090" dirty="0">
                <a:latin typeface="Century Gothic" panose="020B0502020202020204" pitchFamily="34" charset="0"/>
              </a:rPr>
              <a:t>2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56" name="Прямая соединительная линия 55"/>
          <p:cNvCxnSpPr/>
          <p:nvPr/>
        </p:nvCxnSpPr>
        <p:spPr>
          <a:xfrm flipH="1">
            <a:off x="2612274" y="1754104"/>
            <a:ext cx="20162" cy="3106407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411559" y="5027568"/>
            <a:ext cx="427724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r>
              <a:rPr lang="ru-RU" altLang="ru-RU" sz="1090" dirty="0">
                <a:latin typeface="Century Gothic" panose="020B0502020202020204" pitchFamily="34" charset="0"/>
              </a:rPr>
              <a:t>3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 flipV="1">
            <a:off x="3624701" y="3534131"/>
            <a:ext cx="0" cy="1379665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717941" y="3328190"/>
            <a:ext cx="381640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r>
              <a:rPr lang="ru-RU" altLang="ru-RU" sz="1090" dirty="0">
                <a:latin typeface="Century Gothic" panose="020B0502020202020204" pitchFamily="34" charset="0"/>
              </a:rPr>
              <a:t>3</a:t>
            </a:r>
            <a:endParaRPr lang="ru-RU" altLang="ru-RU" sz="1090" dirty="0">
              <a:latin typeface="Century Gothic" panose="020B0502020202020204" pitchFamily="34" charset="0"/>
            </a:endParaRPr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>
            <a:off x="2173029" y="3460684"/>
            <a:ext cx="1451672" cy="288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896889" y="5029008"/>
            <a:ext cx="429165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r>
              <a:rPr lang="ru-RU" altLang="ru-RU" sz="1090" dirty="0">
                <a:latin typeface="Century Gothic" panose="020B0502020202020204" pitchFamily="34" charset="0"/>
              </a:rPr>
              <a:t>4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62" name="Прямая соединительная линия 61"/>
          <p:cNvCxnSpPr/>
          <p:nvPr/>
        </p:nvCxnSpPr>
        <p:spPr>
          <a:xfrm flipV="1">
            <a:off x="4104271" y="3784717"/>
            <a:ext cx="7201" cy="112907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1733782" y="3636382"/>
            <a:ext cx="381641" cy="5105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r>
              <a:rPr lang="ru-RU" altLang="ru-RU" sz="1090" dirty="0">
                <a:latin typeface="Century Gothic" panose="020B0502020202020204" pitchFamily="34" charset="0"/>
              </a:rPr>
              <a:t>4</a:t>
            </a:r>
            <a:endParaRPr lang="ru-RU" altLang="ru-RU" sz="1090" dirty="0">
              <a:latin typeface="Century Gothic" panose="020B0502020202020204" pitchFamily="34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2174468" y="3776076"/>
            <a:ext cx="1970127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360618" y="5021808"/>
            <a:ext cx="590462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Q</a:t>
            </a:r>
            <a:r>
              <a:rPr lang="ru-RU" altLang="ru-RU" sz="1090" dirty="0">
                <a:latin typeface="Century Gothic" panose="020B0502020202020204" pitchFamily="34" charset="0"/>
              </a:rPr>
              <a:t>5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66" name="Прямая соединительная линия 65"/>
          <p:cNvCxnSpPr/>
          <p:nvPr/>
        </p:nvCxnSpPr>
        <p:spPr>
          <a:xfrm flipV="1">
            <a:off x="4582401" y="3974817"/>
            <a:ext cx="0" cy="88569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33782" y="3878328"/>
            <a:ext cx="384521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r>
              <a:rPr lang="ru-RU" altLang="ru-RU" sz="1090" dirty="0">
                <a:latin typeface="Century Gothic" panose="020B0502020202020204" pitchFamily="34" charset="0"/>
              </a:rPr>
              <a:t>5</a:t>
            </a:r>
            <a:endParaRPr lang="ru-RU" altLang="ru-RU" sz="1090" dirty="0">
              <a:latin typeface="Century Gothic" panose="020B0502020202020204" pitchFamily="34" charset="0"/>
            </a:endParaRPr>
          </a:p>
        </p:txBody>
      </p:sp>
      <p:cxnSp>
        <p:nvCxnSpPr>
          <p:cNvPr id="68" name="Прямая соединительная линия 67"/>
          <p:cNvCxnSpPr/>
          <p:nvPr/>
        </p:nvCxnSpPr>
        <p:spPr>
          <a:xfrm>
            <a:off x="2173029" y="3971937"/>
            <a:ext cx="2419454" cy="1728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457273" y="1404148"/>
            <a:ext cx="662470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(</a:t>
            </a:r>
            <a:r>
              <a:rPr lang="ru-RU" altLang="ru-RU" sz="1635" dirty="0">
                <a:latin typeface="Century Gothic" panose="020B0502020202020204" pitchFamily="34" charset="0"/>
              </a:rPr>
              <a:t>М</a:t>
            </a:r>
            <a:r>
              <a:rPr lang="en-US" altLang="ru-RU" sz="1635" dirty="0">
                <a:latin typeface="Century Gothic" panose="020B0502020202020204" pitchFamily="34" charset="0"/>
              </a:rPr>
              <a:t>U)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cxnSp>
        <p:nvCxnSpPr>
          <p:cNvPr id="71" name="Прямая соединительная линия 70"/>
          <p:cNvCxnSpPr/>
          <p:nvPr/>
        </p:nvCxnSpPr>
        <p:spPr>
          <a:xfrm>
            <a:off x="2141345" y="3971937"/>
            <a:ext cx="2451137" cy="17282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218043" y="3120808"/>
            <a:ext cx="1117557" cy="6756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ru-RU" altLang="ru-RU" sz="1270" b="1" dirty="0">
                <a:latin typeface="Century Gothic" panose="020B0502020202020204" pitchFamily="34" charset="0"/>
              </a:rPr>
              <a:t>Цена оптовой продажи</a:t>
            </a:r>
            <a:endParaRPr lang="ru-RU" altLang="ru-RU" sz="1270" b="1" dirty="0">
              <a:latin typeface="Century Gothic" panose="020B0502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76987" y="1201086"/>
            <a:ext cx="269309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ru-RU" sz="1635" dirty="0">
                <a:latin typeface="Century Gothic" panose="020B0502020202020204" pitchFamily="34" charset="0"/>
              </a:rPr>
              <a:t>P</a:t>
            </a:r>
            <a:endParaRPr lang="ru-RU" altLang="ru-RU" sz="1635" dirty="0">
              <a:latin typeface="Century Gothic" panose="020B0502020202020204" pitchFamily="34" charset="0"/>
            </a:endParaRPr>
          </a:p>
        </p:txBody>
      </p:sp>
      <p:sp>
        <p:nvSpPr>
          <p:cNvPr id="74" name="Дуга 73"/>
          <p:cNvSpPr/>
          <p:nvPr/>
        </p:nvSpPr>
        <p:spPr>
          <a:xfrm rot="16200000" flipH="1">
            <a:off x="2754129" y="-1437991"/>
            <a:ext cx="5400567" cy="5641073"/>
          </a:xfrm>
          <a:prstGeom prst="arc">
            <a:avLst>
              <a:gd name="adj1" fmla="val 16081349"/>
              <a:gd name="adj2" fmla="val 175137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3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0" name="Текстовое поле 99"/>
          <p:cNvSpPr txBox="1"/>
          <p:nvPr/>
        </p:nvSpPr>
        <p:spPr>
          <a:xfrm>
            <a:off x="5818505" y="2785110"/>
            <a:ext cx="5377815" cy="385064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algn="just"/>
            <a:r>
              <a:rPr lang="ru-RU" alt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3. 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В процессе личного потребления действует закон убывающей полезности.</a:t>
            </a:r>
            <a:endParaRPr lang="en-US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0" algn="just"/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Согласно этому закону, степень удовлетворения потребности одним и тем же продуктом, если мы непрерывно продолжаем им пользоваться, постепенно уменьшается, так что, наконец, наступает насыщение.</a:t>
            </a:r>
            <a:endParaRPr lang="en-US" altLang="en-US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2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  <p:bldP spid="46" grpId="0"/>
      <p:bldP spid="48" grpId="0"/>
      <p:bldP spid="49" grpId="0"/>
      <p:bldP spid="53" grpId="0"/>
      <p:bldP spid="54" grpId="0"/>
      <p:bldP spid="57" grpId="0"/>
      <p:bldP spid="59" grpId="0"/>
      <p:bldP spid="61" grpId="0"/>
      <p:bldP spid="63" grpId="0"/>
      <p:bldP spid="65" grpId="0"/>
      <p:bldP spid="67" grpId="0"/>
      <p:bldP spid="69" grpId="0"/>
      <p:bldP spid="72" grpId="0"/>
      <p:bldP spid="7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Текстовое поле 99"/>
          <p:cNvSpPr txBox="1"/>
          <p:nvPr/>
        </p:nvSpPr>
        <p:spPr>
          <a:xfrm>
            <a:off x="1506855" y="772795"/>
            <a:ext cx="8908415" cy="52990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457200"/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 4. Ценность благ определяет </a:t>
            </a:r>
            <a:r>
              <a:rPr 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предельная полезность</a:t>
            </a:r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, т.е. субъективная полезность «предельного экземпляра», удовлетворяющего наименее настоятельную потребность в продукте данного рода.		</a:t>
            </a:r>
            <a:endParaRPr lang="en-US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457200"/>
            <a:r>
              <a:rPr lang="en-US" sz="2800" b="0">
                <a:solidFill>
                  <a:srgbClr val="000000"/>
                </a:solidFill>
                <a:latin typeface="Times New Roman" panose="02020603050405020304" pitchFamily="18" charset="0"/>
              </a:rPr>
              <a:t>Если предельная полезность достигает «точки насыщения», то человек перестает ощущать пользу от потребляемой вещи. Когда же этот рубеж в потреблении преодолевается, то обычный продукт воспринимается как антиблаго, а полезность превращается во вредность.</a:t>
            </a:r>
            <a:endParaRPr lang="en-US" altLang="en-US" sz="28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Текстовое поле 99"/>
          <p:cNvSpPr txBox="1"/>
          <p:nvPr/>
        </p:nvSpPr>
        <p:spPr>
          <a:xfrm>
            <a:off x="500380" y="300355"/>
            <a:ext cx="10841355" cy="622998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 algn="ctr"/>
            <a:r>
              <a:rPr lang="ru-RU" alt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Т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еория предельной полезности не вполне соответствует хозяйственной практике и содержит </a:t>
            </a:r>
            <a:r>
              <a:rPr lang="en-US" sz="2400" b="0" u="sng">
                <a:solidFill>
                  <a:srgbClr val="FF0000"/>
                </a:solidFill>
                <a:latin typeface="Times New Roman" panose="02020603050405020304" pitchFamily="18" charset="0"/>
              </a:rPr>
              <a:t>внутренние противоречия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. Вот несколько подтверждений этого:</a:t>
            </a:r>
            <a:endParaRPr lang="en-US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indent="0" algn="just" defTabSz="914400">
              <a:tabLst>
                <a:tab pos="805815" algn="l"/>
              </a:tabLst>
            </a:pPr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		1) Массовые рыночные сделки нуждаются в каком-то объективном соизмерении всех товаров. Между тем субъективная полезность не имеет и не может иметь какого-либо количественного выражения, так как отсутствуют объективные единицы для ее измерения. Поэтому субъективно-психологическая теория предельной полезности не смогла решить проблему отыскания единого соизмерителя ценности для всего многообразия благ и для всех людей.		2) </a:t>
            </a:r>
            <a:r>
              <a:rPr lang="en-US" sz="2400" b="0" u="sng">
                <a:solidFill>
                  <a:srgbClr val="000000"/>
                </a:solidFill>
                <a:latin typeface="Times New Roman" panose="02020603050405020304" pitchFamily="18" charset="0"/>
              </a:rPr>
              <a:t>Закон убывающей полезности не является универсальным</a:t>
            </a:r>
            <a:r>
              <a:rPr lang="en-US" sz="2400" b="0">
                <a:solidFill>
                  <a:srgbClr val="000000"/>
                </a:solidFill>
                <a:latin typeface="Times New Roman" panose="02020603050405020304" pitchFamily="18" charset="0"/>
              </a:rPr>
              <a:t>. Он проявляет свое действие в отношении ограниченного круга предметов первой необходимости (например, хлеб, вода, жилище). Такие вещи имеют для отдельного человека и для каждого момента границу насыщения. Однако данный закон неприменим к подавляющей массе товаров – многочисленным непродовольственным продуктам, средствам производства, а тем более нематериальным благам и услугам.</a:t>
            </a:r>
            <a:endParaRPr lang="en-US" altLang="en-US" sz="2400" b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Текстовое поле 99"/>
          <p:cNvSpPr txBox="1"/>
          <p:nvPr/>
        </p:nvSpPr>
        <p:spPr>
          <a:xfrm>
            <a:off x="1325880" y="1325245"/>
            <a:ext cx="8933815" cy="483870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3200" b="1">
                <a:latin typeface="Times New Roman" panose="02020603050405020304" pitchFamily="18" charset="0"/>
              </a:rPr>
              <a:t>Неоклассическая теория стоимости</a:t>
            </a:r>
            <a:r>
              <a:rPr lang="en-US" sz="3200" b="0">
                <a:latin typeface="Times New Roman" panose="02020603050405020304" pitchFamily="18" charset="0"/>
              </a:rPr>
              <a:t> соединяет теорию предельной полезности с теорией издержек производства. </a:t>
            </a:r>
            <a:endParaRPr lang="en-US" sz="3200" b="0">
              <a:latin typeface="Times New Roman" panose="02020603050405020304" pitchFamily="18" charset="0"/>
            </a:endParaRPr>
          </a:p>
          <a:p>
            <a:pPr indent="0"/>
            <a:endParaRPr lang="en-US" sz="3200" b="0">
              <a:latin typeface="Times New Roman" panose="02020603050405020304" pitchFamily="18" charset="0"/>
            </a:endParaRPr>
          </a:p>
          <a:p>
            <a:pPr indent="0"/>
            <a:r>
              <a:rPr lang="en-US" sz="3200" b="1">
                <a:solidFill>
                  <a:srgbClr val="00B050"/>
                </a:solidFill>
                <a:latin typeface="Times New Roman" panose="02020603050405020304" pitchFamily="18" charset="0"/>
              </a:rPr>
              <a:t>Стоимость</a:t>
            </a:r>
            <a:r>
              <a:rPr lang="en-US" sz="3200" b="0">
                <a:latin typeface="Times New Roman" panose="02020603050405020304" pitchFamily="18" charset="0"/>
              </a:rPr>
              <a:t> определяется взаимодействием рыночных сил, лежащих на стороне как спроса (предельная полезность), так и предложения (издержки производства, затраты факторов производства).</a:t>
            </a:r>
            <a:endParaRPr lang="en-US" altLang="en-US" sz="3200" b="0">
              <a:latin typeface="Times New Roman" panose="02020603050405020304" pitchFamily="18" charset="0"/>
            </a:endParaRPr>
          </a:p>
        </p:txBody>
      </p:sp>
      <p:sp>
        <p:nvSpPr>
          <p:cNvPr id="18434" name="Заголовок 1"/>
          <p:cNvSpPr>
            <a:spLocks noGrp="1"/>
          </p:cNvSpPr>
          <p:nvPr/>
        </p:nvSpPr>
        <p:spPr>
          <a:xfrm>
            <a:off x="2099310" y="208915"/>
            <a:ext cx="7889240" cy="111633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82952" tIns="41476" rIns="82952" bIns="41476" anchor="ctr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pPr algn="ctr"/>
            <a:r>
              <a:rPr lang="ru-RU" altLang="ru-RU" sz="2905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2905" b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Неоклассическая теория стоимости</a:t>
            </a:r>
            <a:endParaRPr lang="en-US" sz="2905" b="1">
              <a:solidFill>
                <a:srgbClr val="FF0000"/>
              </a:solidFill>
              <a:latin typeface="Times New Roman" panose="02020603050405020304" pitchFamily="18" charset="0"/>
              <a:sym typeface="+mn-ea"/>
            </a:endParaRPr>
          </a:p>
          <a:p>
            <a:pPr algn="ctr"/>
            <a:r>
              <a:rPr lang="ru-RU" altLang="en-US" sz="2905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  <a:sym typeface="+mn-ea"/>
              </a:rPr>
              <a:t>(</a:t>
            </a:r>
            <a:r>
              <a:rPr lang="en-US" altLang="ru-RU" sz="2905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  <a:sym typeface="+mn-ea"/>
              </a:rPr>
              <a:t>А.Маршалл</a:t>
            </a:r>
            <a:r>
              <a:rPr lang="ru-RU" altLang="en-US" sz="2905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  <a:sym typeface="+mn-ea"/>
              </a:rPr>
              <a:t>)</a:t>
            </a:r>
            <a:endParaRPr lang="ru-RU" altLang="en-US" sz="2905" b="1" dirty="0">
              <a:solidFill>
                <a:srgbClr val="FF0000"/>
              </a:solidFill>
              <a:latin typeface="Times New Roman" panose="02020603050405020304" pitchFamily="18" charset="0"/>
              <a:ea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Rectangle 7"/>
          <p:cNvSpPr>
            <a:spLocks noGrp="1" noChangeArrowheads="1"/>
          </p:cNvSpPr>
          <p:nvPr>
            <p:ph type="body" sz="half" idx="3"/>
          </p:nvPr>
        </p:nvSpPr>
        <p:spPr>
          <a:xfrm>
            <a:off x="5862696" y="1199646"/>
            <a:ext cx="4644488" cy="5688597"/>
          </a:xfrm>
        </p:spPr>
        <p:txBody>
          <a:bodyPr vert="horz" wrap="square" lIns="82952" tIns="41476" rIns="82952" bIns="41476" numCol="1" anchor="t" anchorCtr="0" compatLnSpc="1"/>
          <a:p>
            <a:pPr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</a:pPr>
            <a:r>
              <a:rPr lang="ru-RU" altLang="ru-RU" sz="172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Деньги</a:t>
            </a:r>
            <a:r>
              <a:rPr lang="ru-RU" altLang="ru-RU" sz="1725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1725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особый товар, который является единственным всеобщим эквивалентом. Надо заметить, что деньги появились как результат экономических отношений в хозяйственной жизни людей. Деньги являются товаром, а товар предназначен для обмена.</a:t>
            </a:r>
            <a:endParaRPr lang="ru-RU" altLang="ru-RU" sz="1725" i="1" dirty="0">
              <a:solidFill>
                <a:srgbClr val="00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buClrTx/>
              <a:buSzTx/>
              <a:buFont typeface="Arial" panose="020B0604020202020204" pitchFamily="34" charset="0"/>
            </a:pPr>
            <a:r>
              <a:rPr lang="ru-RU" altLang="ru-RU" sz="1725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Слово «деньги»</a:t>
            </a:r>
            <a:r>
              <a:rPr lang="ru-RU" altLang="ru-RU" sz="1725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1725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возникло потому, что древние римляне использовали </a:t>
            </a:r>
            <a:r>
              <a:rPr lang="ru-RU" altLang="ru-RU" sz="1725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Храм богини Джуно Монета </a:t>
            </a:r>
            <a:r>
              <a:rPr lang="ru-RU" altLang="ru-RU" sz="1725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качестве мастерской для чеканки монет. Со временем все места, где изготавливались монеты, стали называть «монета». </a:t>
            </a:r>
            <a:r>
              <a:rPr lang="ru-RU" altLang="ru-RU" sz="1725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Французский вариант этого слова - «моне»; от этого слова и произошло английское слово «мани»- деньги. </a:t>
            </a:r>
            <a:r>
              <a:rPr lang="ru-RU" altLang="ru-RU" sz="1725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Монеты, как таковые, существуют повсюду приблизительно уже в течение 2500 лет, но, как известно, им предшествовали разные предметы, используемые в качестве денег.</a:t>
            </a:r>
            <a:endParaRPr lang="ru-RU" altLang="ru-RU" sz="1725" dirty="0">
              <a:solidFill>
                <a:srgbClr val="000099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2531" name="Picture 8" descr="e8fbae08ac3a"/>
          <p:cNvPicPr>
            <a:picLocks noGrp="1" noChangeAspect="1"/>
          </p:cNvPicPr>
          <p:nvPr>
            <p:ph sz="quarter"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591577" y="1195325"/>
            <a:ext cx="2160227" cy="1994610"/>
          </a:xfrm>
        </p:spPr>
      </p:pic>
      <p:pic>
        <p:nvPicPr>
          <p:cNvPr id="22532" name="Picture 9" descr="0_1d833_3eb5492c_XL"/>
          <p:cNvPicPr>
            <a:picLocks noGrp="1" noChangeAspect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598408" y="3332510"/>
            <a:ext cx="4176438" cy="2860140"/>
          </a:xfrm>
        </p:spPr>
      </p:pic>
      <p:pic>
        <p:nvPicPr>
          <p:cNvPr id="22533" name="Picture 10" descr="ind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941" y="1195325"/>
            <a:ext cx="1785787" cy="20896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Прямоугольник 7"/>
          <p:cNvSpPr/>
          <p:nvPr/>
        </p:nvSpPr>
        <p:spPr>
          <a:xfrm>
            <a:off x="1975727" y="226104"/>
            <a:ext cx="7773936" cy="4813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rgbClr val="C00000"/>
              </a:buClr>
            </a:pPr>
            <a:r>
              <a:rPr lang="ru-RU" altLang="ru-RU" sz="254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</a:t>
            </a:r>
            <a:r>
              <a:rPr lang="ru-RU" altLang="ru-RU" sz="2540" b="1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altLang="ru-RU" sz="2540" dirty="0">
                <a:latin typeface="Calibri" panose="020F0502020204030204" charset="0"/>
              </a:rPr>
              <a:t>Происхождение, сущность и функции денег.</a:t>
            </a:r>
            <a:endParaRPr lang="ru-RU" altLang="ru-RU" sz="2540" b="1" dirty="0">
              <a:solidFill>
                <a:srgbClr val="000099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Заголовок 1"/>
          <p:cNvSpPr>
            <a:spLocks noGrp="1"/>
          </p:cNvSpPr>
          <p:nvPr>
            <p:ph type="title"/>
          </p:nvPr>
        </p:nvSpPr>
        <p:spPr>
          <a:xfrm>
            <a:off x="3005436" y="358598"/>
            <a:ext cx="6271859" cy="522775"/>
          </a:xfrm>
        </p:spPr>
        <p:txBody>
          <a:bodyPr vert="horz" wrap="square" lIns="82952" tIns="41476" rIns="82952" bIns="41476" numCol="1" anchor="ctr" anchorCtr="0" compatLnSpc="1"/>
          <a:p>
            <a:pPr>
              <a:buNone/>
            </a:pPr>
            <a:r>
              <a:rPr lang="ru-RU" altLang="ru-RU" sz="2995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Эволюция форм и видов денег</a:t>
            </a:r>
            <a:br>
              <a:rPr lang="ru-RU" altLang="ru-RU" sz="2995" b="1" dirty="0">
                <a:solidFill>
                  <a:srgbClr val="000099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altLang="ru-RU" sz="2995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3555" name="Рисунок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188" y="816566"/>
            <a:ext cx="8712915" cy="594926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Замещающее содержимое 9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2590" y="801370"/>
            <a:ext cx="10637520" cy="55860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98141" y="97930"/>
            <a:ext cx="7920832" cy="626745"/>
          </a:xfrm>
        </p:spPr>
        <p:txBody>
          <a:bodyPr vert="horz" wrap="square" lIns="82952" tIns="41476" rIns="82952" bIns="41476" numCol="1" anchor="t" anchorCtr="0" compatLnSpc="1">
            <a:spAutoFit/>
          </a:bodyPr>
          <a:p>
            <a:pPr algn="ctr" eaLnBrk="1" hangingPunct="1">
              <a:buNone/>
            </a:pPr>
            <a:r>
              <a:rPr sz="354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Деньги и их функции</a:t>
            </a:r>
            <a:endParaRPr sz="3540" b="1" dirty="0">
              <a:solidFill>
                <a:srgbClr val="C0000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66095" y="946180"/>
            <a:ext cx="8784922" cy="1068705"/>
          </a:xfrm>
          <a:prstGeom prst="rect">
            <a:avLst/>
          </a:prstGeom>
          <a:solidFill>
            <a:srgbClr val="FFD653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+mn-ea"/>
                <a:cs typeface="+mn-cs"/>
              </a:defRPr>
            </a:lvl5pPr>
          </a:lstStyle>
          <a:p>
            <a:pPr lvl="0" algn="just">
              <a:buNone/>
            </a:pPr>
            <a:r>
              <a:rPr sz="2175" b="1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sz="2175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Деньги</a:t>
            </a:r>
            <a:r>
              <a:rPr sz="2175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85" b="1" dirty="0">
                <a:latin typeface="Arial" panose="020B0604020202020204" pitchFamily="34" charset="0"/>
                <a:cs typeface="Arial" panose="020B0604020202020204" pitchFamily="34" charset="0"/>
              </a:rPr>
              <a:t>- особый товар, выполняющий роль всеобщего эквивалента при обмене товаров, результат развития обмена и формы стоимости. Они выполняют следующие функции:</a:t>
            </a:r>
            <a:endParaRPr sz="2085" b="1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10" name="Схема 9"/>
          <p:cNvGraphicFramePr/>
          <p:nvPr/>
        </p:nvGraphicFramePr>
        <p:xfrm>
          <a:off x="1761815" y="1350362"/>
          <a:ext cx="8710578" cy="516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pic>
        <p:nvPicPr>
          <p:cNvPr id="24581" name="Рисунок 7" descr="MilliyIF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9845" y="31683"/>
            <a:ext cx="718635" cy="6682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" name="Замещающее содержимое 10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5375" y="399415"/>
            <a:ext cx="9391015" cy="6359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 altLang="en-US" b="1"/>
              <a:t>Мировые деньги.</a:t>
            </a:r>
            <a:r>
              <a:rPr lang="ru-RU" altLang="en-US"/>
              <a:t> На мировом рынке роль денег выполняет золото, а также некоторые престижные виды валют. </a:t>
            </a:r>
            <a:r>
              <a:rPr lang="ru-RU" altLang="en-US" u="sng"/>
              <a:t>Особенности мировых денег:</a:t>
            </a:r>
            <a:endParaRPr lang="ru-RU" altLang="en-US" u="sng"/>
          </a:p>
          <a:p>
            <a:r>
              <a:rPr lang="ru-RU" altLang="en-US"/>
              <a:t>функционируют в качестве всеобщей меры стоимости;</a:t>
            </a:r>
            <a:endParaRPr lang="ru-RU" altLang="en-US"/>
          </a:p>
          <a:p>
            <a:r>
              <a:rPr lang="ru-RU" altLang="en-US"/>
              <a:t>выступают как всеобщее средство платежа;</a:t>
            </a:r>
            <a:endParaRPr lang="ru-RU" altLang="en-US"/>
          </a:p>
          <a:p>
            <a:r>
              <a:rPr lang="ru-RU" altLang="en-US"/>
              <a:t>служат всеобщим воплощением общественного богатства, например, перемещения золота из одной страны в другую.</a:t>
            </a:r>
            <a:endParaRPr lang="ru-RU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5" name="Текстовое поле 104"/>
          <p:cNvSpPr txBox="1"/>
          <p:nvPr/>
        </p:nvSpPr>
        <p:spPr>
          <a:xfrm>
            <a:off x="745490" y="356870"/>
            <a:ext cx="9179560" cy="600456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449580" algn="ctr"/>
            <a:r>
              <a:rPr lang="en-US" sz="3600" b="0">
                <a:latin typeface="Times New Roman" panose="02020603050405020304" pitchFamily="18" charset="0"/>
              </a:rPr>
              <a:t>Любые деньги характеризуются (в большей или меньшей степени) следующими </a:t>
            </a:r>
            <a:r>
              <a:rPr lang="en-US" sz="3600" b="1">
                <a:solidFill>
                  <a:srgbClr val="00B050"/>
                </a:solidFill>
                <a:latin typeface="Times New Roman" panose="02020603050405020304" pitchFamily="18" charset="0"/>
              </a:rPr>
              <a:t>свойствами</a:t>
            </a:r>
            <a:r>
              <a:rPr lang="en-US" sz="3600" b="0">
                <a:latin typeface="Times New Roman" panose="02020603050405020304" pitchFamily="18" charset="0"/>
              </a:rPr>
              <a:t>:</a:t>
            </a:r>
            <a:endParaRPr lang="en-US" sz="3600" b="0">
              <a:latin typeface="Times New Roman" panose="02020603050405020304" pitchFamily="18" charset="0"/>
            </a:endParaRPr>
          </a:p>
          <a:p>
            <a:pPr indent="449580"/>
            <a:r>
              <a:rPr lang="en-US" sz="3600" b="0">
                <a:latin typeface="Symbol" panose="05050102010706020507" charset="0"/>
                <a:cs typeface="Times New Roman" panose="02020603050405020304" pitchFamily="18" charset="0"/>
              </a:rPr>
              <a:t>· </a:t>
            </a:r>
            <a:r>
              <a:rPr lang="en-US" sz="3600" b="0">
                <a:latin typeface="Times New Roman" panose="02020603050405020304" pitchFamily="18" charset="0"/>
              </a:rPr>
              <a:t> Качественная однородность;</a:t>
            </a:r>
            <a:r>
              <a:rPr lang="en-US" sz="3600" b="0">
                <a:latin typeface="Symbol" panose="05050102010706020507" charset="0"/>
                <a:cs typeface="Times New Roman" panose="02020603050405020304" pitchFamily="18" charset="0"/>
              </a:rPr>
              <a:t>· </a:t>
            </a:r>
            <a:r>
              <a:rPr lang="en-US" sz="3600" b="0">
                <a:latin typeface="Times New Roman" panose="02020603050405020304" pitchFamily="18" charset="0"/>
              </a:rPr>
              <a:t> Делимость;</a:t>
            </a:r>
            <a:r>
              <a:rPr lang="en-US" sz="3600" b="0">
                <a:latin typeface="Symbol" panose="05050102010706020507" charset="0"/>
                <a:cs typeface="Times New Roman" panose="02020603050405020304" pitchFamily="18" charset="0"/>
              </a:rPr>
              <a:t>· </a:t>
            </a:r>
            <a:r>
              <a:rPr lang="en-US" sz="3600" b="0">
                <a:latin typeface="Times New Roman" panose="02020603050405020304" pitchFamily="18" charset="0"/>
              </a:rPr>
              <a:t> Сохраняемость;</a:t>
            </a:r>
            <a:r>
              <a:rPr lang="en-US" sz="3600" b="0">
                <a:latin typeface="Symbol" panose="05050102010706020507" charset="0"/>
                <a:cs typeface="Times New Roman" panose="02020603050405020304" pitchFamily="18" charset="0"/>
              </a:rPr>
              <a:t>· </a:t>
            </a:r>
            <a:r>
              <a:rPr lang="en-US" sz="3600" b="0">
                <a:latin typeface="Times New Roman" panose="02020603050405020304" pitchFamily="18" charset="0"/>
              </a:rPr>
              <a:t> Портативность;</a:t>
            </a:r>
            <a:r>
              <a:rPr lang="en-US" sz="3600" b="0">
                <a:latin typeface="Symbol" panose="05050102010706020507" charset="0"/>
                <a:cs typeface="Times New Roman" panose="02020603050405020304" pitchFamily="18" charset="0"/>
              </a:rPr>
              <a:t>· </a:t>
            </a:r>
            <a:r>
              <a:rPr lang="en-US" sz="3600" b="0">
                <a:latin typeface="Times New Roman" panose="02020603050405020304" pitchFamily="18" charset="0"/>
              </a:rPr>
              <a:t> Высокая ценность, заключенная в небольшом объеме.</a:t>
            </a:r>
            <a:endParaRPr lang="en-US" altLang="en-US" sz="36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Прямоугольник 2"/>
          <p:cNvSpPr/>
          <p:nvPr/>
        </p:nvSpPr>
        <p:spPr>
          <a:xfrm>
            <a:off x="2046295" y="293791"/>
            <a:ext cx="7228119" cy="4199890"/>
          </a:xfrm>
          <a:prstGeom prst="rect">
            <a:avLst/>
          </a:prstGeom>
        </p:spPr>
        <p:txBody>
          <a:bodyPr wrap="square">
            <a:spAutoFit/>
          </a:bodyPr>
          <a:p>
            <a:pPr algn="ctr" eaLnBrk="1" hangingPunct="1">
              <a:lnSpc>
                <a:spcPct val="80000"/>
              </a:lnSpc>
              <a:buNone/>
            </a:pPr>
            <a:r>
              <a:rPr sz="2175" b="1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Вопросы для повторения:</a:t>
            </a:r>
            <a:endParaRPr sz="2175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endParaRPr sz="2175" b="1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1. Дайте характеристику определению натуральное хозяйство?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2. Каковы причины перехода от натурального хозяйства к товарному производству?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 Что такое товар и в чем заключается его свойства?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4. В чем заключается сущность трудовой теории стоимости и теории предельной полезности?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5. Что такое деньги?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r>
              <a:rPr sz="2175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6. Каковы функции денег?</a:t>
            </a:r>
            <a:endParaRPr sz="2175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endParaRPr sz="2175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  <a:buNone/>
            </a:pPr>
            <a:endParaRPr sz="363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  <a:buNone/>
            </a:pPr>
            <a:endParaRPr sz="3630" b="1" dirty="0">
              <a:solidFill>
                <a:srgbClr val="000099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104" name="Замещающее содержимое 10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0505" y="1021715"/>
            <a:ext cx="8999220" cy="52120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47650"/>
            <a:ext cx="10972800" cy="849630"/>
          </a:xfrm>
        </p:spPr>
        <p:txBody>
          <a:bodyPr/>
          <a:p>
            <a:pPr algn="ctr"/>
            <a:r>
              <a:rPr lang="ru-RU" altLang="en-US" sz="2400" b="1">
                <a:sym typeface="+mn-ea"/>
              </a:rPr>
              <a:t>1 июля 1994 года является датой введения в обращение национальной валюты – сум.</a:t>
            </a:r>
            <a:br>
              <a:rPr lang="ru-RU" altLang="en-US" sz="2400" b="1"/>
            </a:br>
            <a:endParaRPr lang="ru-RU" altLang="en-US" sz="2400" b="1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007110"/>
            <a:ext cx="10972800" cy="5416550"/>
          </a:xfrm>
        </p:spPr>
        <p:txBody>
          <a:bodyPr/>
          <a:p>
            <a:endParaRPr lang="ru-RU" altLang="en-US" sz="1800"/>
          </a:p>
          <a:p>
            <a:r>
              <a:rPr lang="ru-RU" altLang="en-US" sz="1800"/>
              <a:t>Национальная валютная система прошла ряд этапов. В течение 1991-1993 годов Центральным банком проводилось множество исследований по введению национальной валюты в обращение, изучен опыт зарубежных стран.</a:t>
            </a:r>
            <a:endParaRPr lang="ru-RU" altLang="en-US" sz="1800"/>
          </a:p>
          <a:p>
            <a:endParaRPr lang="ru-RU" altLang="en-US" sz="1800"/>
          </a:p>
          <a:p>
            <a:r>
              <a:rPr lang="ru-RU" altLang="en-US" sz="1800"/>
              <a:t>с 15 ноября 1993 года в качестве средства платежа в обращение были введены «сум-купоны». Для получения определенного опыта в осуществлении денежной реформы, «сум-купоны» выполняли функцию переходной валюты.</a:t>
            </a:r>
            <a:endParaRPr lang="ru-RU" altLang="en-US" sz="1800"/>
          </a:p>
          <a:p>
            <a:endParaRPr lang="ru-RU" altLang="en-US" sz="1800"/>
          </a:p>
          <a:p>
            <a:r>
              <a:rPr lang="ru-RU" altLang="en-US" sz="1800"/>
              <a:t>Национальная валюта Республики Узбекистан «сум» введена в обращение с 1 июля 1994 года после накопления достаточного опыта в этом направлении.</a:t>
            </a:r>
            <a:endParaRPr lang="ru-RU" altLang="en-US" sz="1800"/>
          </a:p>
          <a:p>
            <a:endParaRPr lang="ru-RU" altLang="en-US" sz="1800"/>
          </a:p>
          <a:p>
            <a:r>
              <a:rPr lang="ru-RU" altLang="en-US" sz="1800"/>
              <a:t>Банкноты и монеты, выпущенные для первоначального обращения, готовились в зарубежных странах. В 1995-1996 годах для внедрения полного цикла изготовления банкнот и монет при Центральном банке было создано предприятие «Государственный знак», также в его составе Бумажная фабрика, Печатная фабрика и Монетный двор и внедрено «денежное производство». В настоящее время это предприятие действует, как ГУП «Давлат белгиси».</a:t>
            </a:r>
            <a:endParaRPr lang="ru-RU" altLang="en-US" sz="1800"/>
          </a:p>
          <a:p>
            <a:endParaRPr lang="ru-RU" altLang="en-US" sz="1800"/>
          </a:p>
          <a:p>
            <a:endParaRPr lang="ru-RU" altLang="en-US"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3251200" y="2997200"/>
            <a:ext cx="7416800" cy="606425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anchor="b"/>
          <a:lstStyle/>
          <a:p>
            <a:pPr algn="ctr"/>
            <a:r>
              <a:rPr lang="ru-RU" sz="2400" b="1">
                <a:solidFill>
                  <a:schemeClr val="tx1"/>
                </a:solidFill>
              </a:rPr>
              <a:t>Благодарю  за внимание!</a:t>
            </a:r>
            <a:endParaRPr lang="ru-RU" sz="2400" b="1">
              <a:solidFill>
                <a:schemeClr val="tx1"/>
              </a:solidFill>
            </a:endParaRPr>
          </a:p>
        </p:txBody>
      </p:sp>
      <p:pic>
        <p:nvPicPr>
          <p:cNvPr id="130051" name="Picture 3" descr="Uzbekistán-pahýl_(2)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616950" y="206375"/>
            <a:ext cx="1701800" cy="99853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bldLvl="0" animBg="1"/>
      <p:bldP spid="130050" grpId="1"/>
    </p:bldLst>
  </p:timing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12464</Words>
  <Application>WPS Presentation</Application>
  <PresentationFormat>Широкоэкранный</PresentationFormat>
  <Paragraphs>306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2" baseType="lpstr">
      <vt:lpstr>Arial</vt:lpstr>
      <vt:lpstr>SimSun</vt:lpstr>
      <vt:lpstr>Wingdings</vt:lpstr>
      <vt:lpstr>Tahoma</vt:lpstr>
      <vt:lpstr>Arial Black</vt:lpstr>
      <vt:lpstr>Times New Roman</vt:lpstr>
      <vt:lpstr>Microsoft YaHei</vt:lpstr>
      <vt:lpstr>Arial Unicode MS</vt:lpstr>
      <vt:lpstr>Calibri</vt:lpstr>
      <vt:lpstr>Verdana</vt:lpstr>
      <vt:lpstr>Calibri Light</vt:lpstr>
      <vt:lpstr>Century Gothic</vt:lpstr>
      <vt:lpstr>Wingdings</vt:lpstr>
      <vt:lpstr>Symbol</vt:lpstr>
      <vt:lpstr>Blue Waves</vt:lpstr>
      <vt:lpstr>Лекция №3 Социально-экономические системы и отношения собственности </vt:lpstr>
      <vt:lpstr>План</vt:lpstr>
      <vt:lpstr>1. Натуральная и товарная форма организации общественного производства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Натуральное и товарное производство</vt:lpstr>
      <vt:lpstr>Причины перехода к товарному хозяйству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Свойства товара</vt:lpstr>
      <vt:lpstr>Подходы к определению меновой стоимости</vt:lpstr>
      <vt:lpstr>Трудовая теория стоимости</vt:lpstr>
      <vt:lpstr>PowerPoint 演示文稿</vt:lpstr>
      <vt:lpstr>PowerPoint 演示文稿</vt:lpstr>
      <vt:lpstr>   «Маржинализм» Теория предельной полезности</vt:lpstr>
      <vt:lpstr>   «Маржинализм» Теория предельной полезности</vt:lpstr>
      <vt:lpstr>PowerPoint 演示文稿</vt:lpstr>
      <vt:lpstr>PowerPoint 演示文稿</vt:lpstr>
      <vt:lpstr>   «Маржинализм» Теория предельной полезности</vt:lpstr>
      <vt:lpstr>PowerPoint 演示文稿</vt:lpstr>
      <vt:lpstr>Эволюция форм и видов денег </vt:lpstr>
      <vt:lpstr>PowerPoint 演示文稿</vt:lpstr>
      <vt:lpstr>Деньги и их функции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TDT PC</dc:creator>
  <cp:lastModifiedBy>Dilnoza</cp:lastModifiedBy>
  <cp:revision>42</cp:revision>
  <cp:lastPrinted>2021-02-22T08:59:00Z</cp:lastPrinted>
  <dcterms:created xsi:type="dcterms:W3CDTF">2021-02-22T05:42:00Z</dcterms:created>
  <dcterms:modified xsi:type="dcterms:W3CDTF">2023-09-24T18:28:21Z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0718B801969D41D4AB43D3B13038C1A8_12</vt:lpwstr>
  </property>
  <property fmtid="{D5CDD505-2E9C-101B-9397-08002B2CF9AE}" pid="3" name="KSOProductBuildVer">
    <vt:lpwstr>1049-12.2.0.13215</vt:lpwstr>
  </property>
</Properties>
</file>